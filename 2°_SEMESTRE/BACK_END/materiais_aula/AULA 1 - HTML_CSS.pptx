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iindsTQEIBz6sw/l7dLCGrx8W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c6084c8e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05" name="Google Shape;105;g36c6084c8e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c6084c8e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W3C significa </a:t>
            </a:r>
            <a:r>
              <a:rPr b="1" lang="en-US">
                <a:solidFill>
                  <a:schemeClr val="dk1"/>
                </a:solidFill>
              </a:rPr>
              <a:t>World Wide Web Consortium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É uma organização internacional sem fins lucrativos.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Criada para evitar que cada empresa inventasse seus próprios padrões, o que causaria confusão e incompatibilidade.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Trabalha com empresas como Google, Microsoft, Apple, etc., para criar e manter os padrões da web.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Ex: Padrões como HTML5, CSS3, regras de acessibilidade (WCAG), segurança e interoperabilidade.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0" name="Google Shape;120;g36c6084c8e6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c6084c8e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6c6084c8e6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c6084c8e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Desenvolvimento Backend: </a:t>
            </a:r>
            <a:r>
              <a:rPr lang="en-US"/>
              <a:t>responsável por gerenciar os dados e executar as regras de negócio do software. Ele é geralmente desenvolvido utilizando linguagens de programação.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Desenvolvimento Frontend:</a:t>
            </a:r>
            <a:r>
              <a:rPr lang="en-US"/>
              <a:t> responsável por fornecer a interface do usuário para o software, permitindo que os usuários interajam com ele.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Desenvolvimento Mobile: </a:t>
            </a:r>
            <a:r>
              <a:rPr lang="en-US"/>
              <a:t>envolve a criação de aplicativos para dispositivos móveis, como smartphones e tablets. Esses aplicativos podem ser desenvolvidos para diversos sistemas operacionais, como Android e 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6c6084c8e6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c6084c8e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6c6084c8e6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c6084c8e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Domínio = endereço da casa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Hospedagem = a casa onde o site mora (os arquivos vivem aqui)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Sites como GitHub Pages, Vercel e Netlify permitem </a:t>
            </a:r>
            <a:r>
              <a:rPr b="1" lang="en-US">
                <a:solidFill>
                  <a:schemeClr val="dk1"/>
                </a:solidFill>
              </a:rPr>
              <a:t>hospedagem gratuita</a:t>
            </a:r>
            <a:r>
              <a:rPr lang="en-US">
                <a:solidFill>
                  <a:schemeClr val="dk1"/>
                </a:solidFill>
              </a:rPr>
              <a:t> para sites simples, especialmente os feitos só com HTML, CSS e JavaScript.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Hospedagens pagas geralmente oferecem</a:t>
            </a:r>
            <a:r>
              <a:rPr b="1" lang="en-US">
                <a:solidFill>
                  <a:schemeClr val="dk1"/>
                </a:solidFill>
              </a:rPr>
              <a:t> e-mail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banco de dados</a:t>
            </a:r>
            <a:r>
              <a:rPr lang="en-US">
                <a:solidFill>
                  <a:schemeClr val="dk1"/>
                </a:solidFill>
              </a:rPr>
              <a:t> e </a:t>
            </a:r>
            <a:r>
              <a:rPr b="1" lang="en-US">
                <a:solidFill>
                  <a:schemeClr val="dk1"/>
                </a:solidFill>
              </a:rPr>
              <a:t>suporte técnico.</a:t>
            </a:r>
            <a:endParaRPr/>
          </a:p>
        </p:txBody>
      </p:sp>
      <p:sp>
        <p:nvSpPr>
          <p:cNvPr id="177" name="Google Shape;177;g36c6084c8e6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c6084c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Linguagem de programação: </a:t>
            </a:r>
            <a:r>
              <a:rPr lang="en-US"/>
              <a:t>é um conjunto de regras sintáticas e semânticas utilizadas para definir programas de computadores. É a linguagem que os programadores usam para escrever códigos que são traduzidos em instruções que o computador pode entender e executar.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Linguagem de marcação: </a:t>
            </a:r>
            <a:r>
              <a:rPr lang="en-US"/>
              <a:t>são linguagens usadas para definir a estrutura e o conteúdo de um documento.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Linguagem de script: </a:t>
            </a:r>
            <a:r>
              <a:rPr lang="en-US"/>
              <a:t>são linguagens que são usadas para automatizar tarefas em um sistema ou ambiente específico. Ao contrário das linguagens de programação tradicionais, elas são interpretadas em tempo de execução.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Linguagem de estilização:</a:t>
            </a:r>
            <a:r>
              <a:rPr lang="en-US"/>
              <a:t> são linguagens de marcação que são usadas para definir a 	aparência visual de um documento. Elas são usadas para adicionar cor, fontes, layout 	e outros elementos visuais a um documento, como uma página web.</a:t>
            </a:r>
            <a:endParaRPr/>
          </a:p>
        </p:txBody>
      </p:sp>
      <p:sp>
        <p:nvSpPr>
          <p:cNvPr id="191" name="Google Shape;191;g36c6084c8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c6084c8e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Todas essas linguagens são de marcação</a:t>
            </a:r>
            <a:r>
              <a:rPr lang="en-US">
                <a:solidFill>
                  <a:schemeClr val="dk1"/>
                </a:solidFill>
              </a:rPr>
              <a:t>, ou seja, servem para </a:t>
            </a:r>
            <a:r>
              <a:rPr b="1" lang="en-US">
                <a:solidFill>
                  <a:schemeClr val="dk1"/>
                </a:solidFill>
              </a:rPr>
              <a:t>estruturar conteúdo</a:t>
            </a:r>
            <a:r>
              <a:rPr lang="en-US">
                <a:solidFill>
                  <a:schemeClr val="dk1"/>
                </a:solidFill>
              </a:rPr>
              <a:t>, mas cada uma tem um </a:t>
            </a:r>
            <a:r>
              <a:rPr b="1" lang="en-US">
                <a:solidFill>
                  <a:schemeClr val="dk1"/>
                </a:solidFill>
              </a:rPr>
              <a:t>uso específico</a:t>
            </a:r>
            <a:r>
              <a:rPr lang="en-US">
                <a:solidFill>
                  <a:schemeClr val="dk1"/>
                </a:solidFill>
              </a:rPr>
              <a:t>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HTML</a:t>
            </a:r>
            <a:r>
              <a:rPr lang="en-US">
                <a:solidFill>
                  <a:schemeClr val="dk1"/>
                </a:solidFill>
              </a:rPr>
              <a:t> é o mais visual, usado em </a:t>
            </a:r>
            <a:r>
              <a:rPr b="1" lang="en-US">
                <a:solidFill>
                  <a:schemeClr val="dk1"/>
                </a:solidFill>
              </a:rPr>
              <a:t>páginas web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XML</a:t>
            </a:r>
            <a:r>
              <a:rPr lang="en-US">
                <a:solidFill>
                  <a:schemeClr val="dk1"/>
                </a:solidFill>
              </a:rPr>
              <a:t> é usado em </a:t>
            </a:r>
            <a:r>
              <a:rPr b="1" lang="en-US">
                <a:solidFill>
                  <a:schemeClr val="dk1"/>
                </a:solidFill>
              </a:rPr>
              <a:t>troca de dados entre sistemas</a:t>
            </a:r>
            <a:r>
              <a:rPr lang="en-US">
                <a:solidFill>
                  <a:schemeClr val="dk1"/>
                </a:solidFill>
              </a:rPr>
              <a:t> (por exemplo, notas fiscais eletrônicas).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Markdown</a:t>
            </a:r>
            <a:r>
              <a:rPr lang="en-US">
                <a:solidFill>
                  <a:schemeClr val="dk1"/>
                </a:solidFill>
              </a:rPr>
              <a:t> é muito comum em </a:t>
            </a:r>
            <a:r>
              <a:rPr b="1" lang="en-US">
                <a:solidFill>
                  <a:schemeClr val="dk1"/>
                </a:solidFill>
              </a:rPr>
              <a:t>projetos de programação</a:t>
            </a:r>
            <a:r>
              <a:rPr lang="en-US">
                <a:solidFill>
                  <a:schemeClr val="dk1"/>
                </a:solidFill>
              </a:rPr>
              <a:t>, pois permite formatar textos rapidamente (itálico, negrito, listas).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LaTeX</a:t>
            </a:r>
            <a:r>
              <a:rPr lang="en-US">
                <a:solidFill>
                  <a:schemeClr val="dk1"/>
                </a:solidFill>
              </a:rPr>
              <a:t> é mais </a:t>
            </a:r>
            <a:r>
              <a:rPr b="1" lang="en-US">
                <a:solidFill>
                  <a:schemeClr val="dk1"/>
                </a:solidFill>
              </a:rPr>
              <a:t>complexo</a:t>
            </a:r>
            <a:r>
              <a:rPr lang="en-US">
                <a:solidFill>
                  <a:schemeClr val="dk1"/>
                </a:solidFill>
              </a:rPr>
              <a:t>, mas essencial em trabalhos acadêmicos que exigem </a:t>
            </a:r>
            <a:r>
              <a:rPr b="1" lang="en-US">
                <a:solidFill>
                  <a:schemeClr val="dk1"/>
                </a:solidFill>
              </a:rPr>
              <a:t>precisão matemática</a:t>
            </a:r>
            <a:r>
              <a:rPr lang="en-US">
                <a:solidFill>
                  <a:schemeClr val="dk1"/>
                </a:solidFill>
              </a:rPr>
              <a:t> (como em cursos de exatas).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05" name="Google Shape;205;g36c6084c8e6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c6084c8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HTML: </a:t>
            </a:r>
            <a:r>
              <a:rPr lang="en-US"/>
              <a:t>HTML (HyperText Markup Language - Linguagem de Marcação de Hipertexto) é uma linguagem de marcação usada para criar páginas da web. Ele é usado para estruturar o conteúdo de uma página da web e definir como esse conteúdo é exibido em um navegador.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CSS:</a:t>
            </a:r>
            <a:r>
              <a:rPr lang="en-US"/>
              <a:t> CSS (Cascading Style Sheets - Folhas de Estilo em Cascata) é uma linguagem de estilo usada para definir a aparência e a formatação de páginas da web que foram criadas usando HTML ou XHTML (uma versão mais rigorosa e padronizada da linguagem HTML que segue as regras e sintaxe do XML)</a:t>
            </a:r>
            <a:endParaRPr/>
          </a:p>
        </p:txBody>
      </p:sp>
      <p:sp>
        <p:nvSpPr>
          <p:cNvPr id="219" name="Google Shape;219;g36c6084c8e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c6084c8e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6c6084c8e6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c6084c8e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6c6084c8e6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hyperlink" Target="https://www.w3.org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hyperlink" Target="https://web.archive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hyperlink" Target="https://www.namecheap.com/domains/registration/" TargetMode="External"/><Relationship Id="rId10" Type="http://schemas.openxmlformats.org/officeDocument/2006/relationships/hyperlink" Target="https://registro.br/tecnologia/ferramentas/whois" TargetMode="External"/><Relationship Id="rId9" Type="http://schemas.openxmlformats.org/officeDocument/2006/relationships/hyperlink" Target="https://dominios.uol.com.br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registro.br" TargetMode="External"/><Relationship Id="rId7" Type="http://schemas.openxmlformats.org/officeDocument/2006/relationships/hyperlink" Target="https://www.godaddy.com" TargetMode="External"/><Relationship Id="rId8" Type="http://schemas.openxmlformats.org/officeDocument/2006/relationships/hyperlink" Target="https://www.hostgator.com.b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hyperlink" Target="http://next.js" TargetMode="External"/><Relationship Id="rId10" Type="http://schemas.openxmlformats.org/officeDocument/2006/relationships/hyperlink" Target="https://vercel.com/" TargetMode="External"/><Relationship Id="rId12" Type="http://schemas.openxmlformats.org/officeDocument/2006/relationships/hyperlink" Target="https://netlify.app" TargetMode="External"/><Relationship Id="rId9" Type="http://schemas.openxmlformats.org/officeDocument/2006/relationships/hyperlink" Target="https://pages.github.com/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www.hostinger.com.br" TargetMode="External"/><Relationship Id="rId7" Type="http://schemas.openxmlformats.org/officeDocument/2006/relationships/hyperlink" Target="https://www.hostinger.com.br" TargetMode="External"/><Relationship Id="rId8" Type="http://schemas.openxmlformats.org/officeDocument/2006/relationships/hyperlink" Target="https://www.hostgator.com.b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registro.br" TargetMode="External"/><Relationship Id="rId10" Type="http://schemas.openxmlformats.org/officeDocument/2006/relationships/hyperlink" Target="https://developer.mozilla.org/pt-BR/docs/Web/CSS" TargetMode="External"/><Relationship Id="rId13" Type="http://schemas.openxmlformats.org/officeDocument/2006/relationships/hyperlink" Target="https://www.hostgator.com.br" TargetMode="External"/><Relationship Id="rId12" Type="http://schemas.openxmlformats.org/officeDocument/2006/relationships/hyperlink" Target="https://registro.br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hyperlink" Target="https://developer.mozilla.org/pt-BR/docs/Web/CSS" TargetMode="External"/><Relationship Id="rId15" Type="http://schemas.openxmlformats.org/officeDocument/2006/relationships/hyperlink" Target="https://pages.github.com" TargetMode="External"/><Relationship Id="rId14" Type="http://schemas.openxmlformats.org/officeDocument/2006/relationships/hyperlink" Target="https://www.hostgator.com.br" TargetMode="External"/><Relationship Id="rId17" Type="http://schemas.openxmlformats.org/officeDocument/2006/relationships/image" Target="../media/image1.png"/><Relationship Id="rId16" Type="http://schemas.openxmlformats.org/officeDocument/2006/relationships/hyperlink" Target="https://pages.github.com" TargetMode="External"/><Relationship Id="rId5" Type="http://schemas.openxmlformats.org/officeDocument/2006/relationships/hyperlink" Target="https://www.w3.org/Consortium/" TargetMode="External"/><Relationship Id="rId6" Type="http://schemas.openxmlformats.org/officeDocument/2006/relationships/hyperlink" Target="https://www.w3.org/Consortium/" TargetMode="External"/><Relationship Id="rId7" Type="http://schemas.openxmlformats.org/officeDocument/2006/relationships/hyperlink" Target="https://developer.mozilla.org/pt-BR/docs/Web/HTML" TargetMode="External"/><Relationship Id="rId8" Type="http://schemas.openxmlformats.org/officeDocument/2006/relationships/hyperlink" Target="https://developer.mozilla.org/pt-BR/docs/Web/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75550" y="3599550"/>
            <a:ext cx="141369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Conceitos Essenciais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World Wide Web (WWW)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296998" y="16306"/>
            <a:ext cx="16565" cy="2135589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55538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Introdução a conceitos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</p:txBody>
      </p:sp>
      <p:sp>
        <p:nvSpPr>
          <p:cNvPr id="100" name="Google Shape;100;p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814700" y="3430275"/>
            <a:ext cx="155538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 a World Wide Web (WWW)?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Evolução da Web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Segmentos na programação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 de Domínio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 Hospedagem?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Tipos de Linguagens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mais…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6084c8e6_0_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6c6084c8e6_0_7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6c6084c8e6_0_7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6c6084c8e6_0_7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11" name="Google Shape;111;g36c6084c8e6_0_7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6c6084c8e6_0_7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6c6084c8e6_0_70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a World Wide Web (WWW)?</a:t>
            </a:r>
            <a:endParaRPr sz="5200"/>
          </a:p>
        </p:txBody>
      </p:sp>
      <p:sp>
        <p:nvSpPr>
          <p:cNvPr id="114" name="Google Shape;114;g36c6084c8e6_0_70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15" name="Google Shape;115;g36c6084c8e6_0_70"/>
          <p:cNvSpPr txBox="1"/>
          <p:nvPr/>
        </p:nvSpPr>
        <p:spPr>
          <a:xfrm>
            <a:off x="1814700" y="3430275"/>
            <a:ext cx="15553800" cy="2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Criada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1989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 Berners-Lee,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WWW surgiu como uma forma de compartilhar documentos científicos.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Ela conecta páginas usando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funciona com linguagens como HTML, CSS e HTTP.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Hoje, é a base de quase tudo o que acessamos na internet.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6c6084c8e6_0_7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36c6084c8e6_0_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2650" y="5744375"/>
            <a:ext cx="4542701" cy="454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c6084c8e6_0_1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6c6084c8e6_0_13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6c6084c8e6_0_135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5" name="Google Shape;125;g36c6084c8e6_0_13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26" name="Google Shape;126;g36c6084c8e6_0_13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6c6084c8e6_0_13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g36c6084c8e6_0_135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W3C - World Wide Web Consortium.</a:t>
            </a:r>
            <a:endParaRPr sz="5200"/>
          </a:p>
        </p:txBody>
      </p:sp>
      <p:sp>
        <p:nvSpPr>
          <p:cNvPr id="129" name="Google Shape;129;g36c6084c8e6_0_135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30" name="Google Shape;130;g36c6084c8e6_0_135"/>
          <p:cNvSpPr txBox="1"/>
          <p:nvPr/>
        </p:nvSpPr>
        <p:spPr>
          <a:xfrm>
            <a:off x="1814700" y="3430275"/>
            <a:ext cx="155538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a organização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 padrões para a Web.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Fundado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1994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 Berners-Lee,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garante que os sites funcionem corretamente em todos os navegadores e dispositivos.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regras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HTML, 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acessibilidade, segurança e muito mais.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ACESSO:  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https://www.w3.org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g36c6084c8e6_0_13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6c6084c8e6_0_1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62750" y="6217913"/>
            <a:ext cx="476250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c6084c8e6_0_9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6c6084c8e6_0_9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g36c6084c8e6_0_9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" name="Google Shape;140;g36c6084c8e6_0_9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41" name="Google Shape;141;g36c6084c8e6_0_9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6c6084c8e6_0_9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g36c6084c8e6_0_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6c6084c8e6_0_96"/>
          <p:cNvSpPr txBox="1"/>
          <p:nvPr/>
        </p:nvSpPr>
        <p:spPr>
          <a:xfrm>
            <a:off x="2043300" y="1189050"/>
            <a:ext cx="1605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Evolução da Web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g36c6084c8e6_0_9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46" name="Google Shape;146;g36c6084c8e6_0_96"/>
          <p:cNvSpPr txBox="1"/>
          <p:nvPr/>
        </p:nvSpPr>
        <p:spPr>
          <a:xfrm>
            <a:off x="1814700" y="3430275"/>
            <a:ext cx="155538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🧾 </a:t>
            </a: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Web 1.0: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 Estática (1990s)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Sites apenas para leitura, com layout simples e pouca interação.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💬 </a:t>
            </a: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Web 2.0: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Web Interativa (2000s)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Conteúdo gerado pelo usuário, redes sociais, colaboração online.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🧠</a:t>
            </a: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Web 3.0: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 Inteligente (Atual)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 semântica, descentralizada, com IA e blockchain.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 sites como eram antigamente: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https://web.archive.org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c6084c8e6_0_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6c6084c8e6_0_8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6c6084c8e6_0_8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g36c6084c8e6_0_8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55" name="Google Shape;155;g36c6084c8e6_0_8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g36c6084c8e6_0_8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6c6084c8e6_0_8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6c6084c8e6_0_83"/>
          <p:cNvSpPr txBox="1"/>
          <p:nvPr/>
        </p:nvSpPr>
        <p:spPr>
          <a:xfrm>
            <a:off x="2043300" y="1189050"/>
            <a:ext cx="1605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Segmentos na programação</a:t>
            </a:r>
            <a:endParaRPr sz="6000"/>
          </a:p>
        </p:txBody>
      </p:sp>
      <p:sp>
        <p:nvSpPr>
          <p:cNvPr id="159" name="Google Shape;159;g36c6084c8e6_0_83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60" name="Google Shape;160;g36c6084c8e6_0_83"/>
          <p:cNvSpPr txBox="1"/>
          <p:nvPr/>
        </p:nvSpPr>
        <p:spPr>
          <a:xfrm>
            <a:off x="1814700" y="3430275"/>
            <a:ext cx="15553800" cy="53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universo da programação existem algumas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segmentações na área de desenvolvimento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Vale ressaltarmos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(três) delas que são as principais: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Desenvolvimento Backend: </a:t>
            </a:r>
            <a:endParaRPr b="1" sz="2400">
              <a:solidFill>
                <a:srgbClr val="E210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Node.js (JavaScript), Python (Django, Flask), Java (Spring Boot), PHP (Laravel), Ruby (Ruby on Rails), C# (ASP.NET)</a:t>
            </a:r>
            <a:endParaRPr b="1" sz="2200">
              <a:solidFill>
                <a:srgbClr val="E210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E210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Desenvolvimento Frontend:</a:t>
            </a:r>
            <a:endParaRPr b="1" sz="2400">
              <a:solidFill>
                <a:srgbClr val="E210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HTML, CSS, JavaScript, TypeScript, React, Vue.js, Angular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Desenvolvimento Mobile:</a:t>
            </a:r>
            <a:endParaRPr b="1" sz="2400">
              <a:solidFill>
                <a:srgbClr val="E210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Dart(Flutter), Java(Android nativo), Kotlin(Android nativo), Swift(iOS nativo), ReactNative(JavaScript), Xamarin (C#)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c6084c8e6_0_10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6c6084c8e6_0_10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6c6084c8e6_0_10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g36c6084c8e6_0_109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69" name="Google Shape;169;g36c6084c8e6_0_10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6c6084c8e6_0_10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g36c6084c8e6_0_10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6c6084c8e6_0_109"/>
          <p:cNvSpPr txBox="1"/>
          <p:nvPr/>
        </p:nvSpPr>
        <p:spPr>
          <a:xfrm>
            <a:off x="2043300" y="1189050"/>
            <a:ext cx="1605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Registro de Domínio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6c6084c8e6_0_109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74" name="Google Shape;174;g36c6084c8e6_0_109"/>
          <p:cNvSpPr txBox="1"/>
          <p:nvPr/>
        </p:nvSpPr>
        <p:spPr>
          <a:xfrm>
            <a:off x="1814700" y="3430275"/>
            <a:ext cx="155538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Domínio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 </a:t>
            </a:r>
            <a:r>
              <a:rPr b="1" lang="en-US" sz="24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 do site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internet,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google.com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meusite.com.br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 endereço digital que as pessoas digitam no navegador para acessar seu site.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Precisa ser registrado em sites especializados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Exemplos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registradores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https://registro.br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domínios ".br" (Brasil)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https://www.godaddy.com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domínios internacionais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https://www.hostgator.com.br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9"/>
              </a:rPr>
              <a:t>https://dominios.uol.com.br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Alguns sites permitem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simular a compra de domínio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https://registro.br/tecnologia/ferramentas/whois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 se o domínio já existe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1"/>
              </a:rPr>
              <a:t>https://www.namecheap.com/domains/registration/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simula domínio internacional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c6084c8e6_0_1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6c6084c8e6_0_12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6c6084c8e6_0_12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" name="Google Shape;182;g36c6084c8e6_0_12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83" name="Google Shape;183;g36c6084c8e6_0_12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36c6084c8e6_0_12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36c6084c8e6_0_12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6c6084c8e6_0_122"/>
          <p:cNvSpPr txBox="1"/>
          <p:nvPr/>
        </p:nvSpPr>
        <p:spPr>
          <a:xfrm>
            <a:off x="2043300" y="1189050"/>
            <a:ext cx="1605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Hospedagem?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g36c6084c8e6_0_122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188" name="Google Shape;188;g36c6084c8e6_0_122"/>
          <p:cNvSpPr txBox="1"/>
          <p:nvPr/>
        </p:nvSpPr>
        <p:spPr>
          <a:xfrm>
            <a:off x="1814700" y="3430275"/>
            <a:ext cx="155538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Hospedagem é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espaço em um servidor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onde ficam 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arquivos do site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(como textos, imagens e códigos). Sem hospedagem, o domínio não mostra nada.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alguém acessa seu site,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servidor envia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conteúdo armazenado para o navegador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Exemplos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serviços de hospedagem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https://www.hostinger.com.b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Pago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https://www.hostgator.com.br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Pago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9"/>
              </a:rPr>
              <a:t>https://pages.github.com/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Grátis para sites estáticos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https://vercel.com/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Grátis para sites em React ou 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Next.js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2"/>
              </a:rPr>
              <a:t>https://netlify.app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Grátis para projetos front-end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c6084c8e6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6c6084c8e6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g36c6084c8e6_0_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6" name="Google Shape;196;g36c6084c8e6_0_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97" name="Google Shape;197;g36c6084c8e6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g36c6084c8e6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g36c6084c8e6_0_0"/>
          <p:cNvSpPr txBox="1"/>
          <p:nvPr/>
        </p:nvSpPr>
        <p:spPr>
          <a:xfrm>
            <a:off x="2043302" y="1189050"/>
            <a:ext cx="1079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Tipos de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Linguagens </a:t>
            </a:r>
            <a:endParaRPr/>
          </a:p>
        </p:txBody>
      </p:sp>
      <p:sp>
        <p:nvSpPr>
          <p:cNvPr id="200" name="Google Shape;200;g36c6084c8e6_0_0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201" name="Google Shape;201;g36c6084c8e6_0_0"/>
          <p:cNvSpPr txBox="1"/>
          <p:nvPr/>
        </p:nvSpPr>
        <p:spPr>
          <a:xfrm>
            <a:off x="1814696" y="3277870"/>
            <a:ext cx="14443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 entender os conceitos anteriores vem a questão. Onde se encaixa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entender, vamos destacar as diferenças entre linguagens: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Linguagem de programação: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usada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programas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o computador executa.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Lin</a:t>
            </a: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uagem de marcação: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conteúdo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documentos.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Linguagem de script:</a:t>
            </a:r>
            <a:r>
              <a:rPr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automatiza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tarefas e é executada em tempo real.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Linguagem de estilização: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aparência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visual (cores, fontes, layout).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g36c6084c8e6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c6084c8e6_0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6c6084c8e6_0_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g36c6084c8e6_0_4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0" name="Google Shape;210;g36c6084c8e6_0_4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11" name="Google Shape;211;g36c6084c8e6_0_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6c6084c8e6_0_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g36c6084c8e6_0_43"/>
          <p:cNvSpPr txBox="1"/>
          <p:nvPr/>
        </p:nvSpPr>
        <p:spPr>
          <a:xfrm>
            <a:off x="2043300" y="1189050"/>
            <a:ext cx="1364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Outras linguagens de marcação</a:t>
            </a:r>
            <a:endParaRPr/>
          </a:p>
        </p:txBody>
      </p:sp>
      <p:sp>
        <p:nvSpPr>
          <p:cNvPr id="214" name="Google Shape;214;g36c6084c8e6_0_43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215" name="Google Shape;215;g36c6084c8e6_0_43"/>
          <p:cNvSpPr txBox="1"/>
          <p:nvPr/>
        </p:nvSpPr>
        <p:spPr>
          <a:xfrm>
            <a:off x="1814696" y="3277870"/>
            <a:ext cx="14443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HTML: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em sites.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XML: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mais técnico, estrutura dados.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Markdown: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leve, muito usado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README.md, NOTION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fóruns.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LaTeX: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em artigos científicos.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36c6084c8e6_0_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c6084c8e6_0_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6c6084c8e6_0_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g36c6084c8e6_0_1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g36c6084c8e6_0_1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25" name="Google Shape;225;g36c6084c8e6_0_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6c6084c8e6_0_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6c6084c8e6_0_16"/>
          <p:cNvSpPr txBox="1"/>
          <p:nvPr/>
        </p:nvSpPr>
        <p:spPr>
          <a:xfrm>
            <a:off x="2043302" y="1189050"/>
            <a:ext cx="1079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228" name="Google Shape;228;g36c6084c8e6_0_1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/>
          </a:p>
        </p:txBody>
      </p:sp>
      <p:sp>
        <p:nvSpPr>
          <p:cNvPr id="229" name="Google Shape;229;g36c6084c8e6_0_16"/>
          <p:cNvSpPr txBox="1"/>
          <p:nvPr/>
        </p:nvSpPr>
        <p:spPr>
          <a:xfrm>
            <a:off x="1814696" y="3277870"/>
            <a:ext cx="14443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Entendido as diferenças entre linguagens, vamos falar um pouco mais sobre as linguagens para essa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unidade curricular de linguagem de marcação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2101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HTML: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 (HyperText Markup Language - Linguagem de Marcação de Hipertexto)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linguagem de marcação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Definir o conteúdo de uma página web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Estruturar como é exibido esse conteúdo.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solidFill>
                  <a:srgbClr val="E21013"/>
                </a:solidFill>
                <a:latin typeface="Poppins"/>
                <a:ea typeface="Poppins"/>
                <a:cs typeface="Poppins"/>
                <a:sym typeface="Poppins"/>
              </a:rPr>
              <a:t>CSS: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(Cascading Style Sheets - Folhas de Estilo em Cascata)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linguagem de estilo/estilização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Definir a aparência (cor, tamanhos, fontes, etc)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Formatação de páginas da web(criadas usando HTML)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g36c6084c8e6_0_1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c6084c8e6_0_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6c6084c8e6_0_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6c6084c8e6_0_2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g36c6084c8e6_0_29"/>
          <p:cNvSpPr txBox="1"/>
          <p:nvPr/>
        </p:nvSpPr>
        <p:spPr>
          <a:xfrm>
            <a:off x="2043300" y="1189050"/>
            <a:ext cx="1508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HTML E CSS -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Modelo visual</a:t>
            </a:r>
            <a:endParaRPr/>
          </a:p>
        </p:txBody>
      </p:sp>
      <p:sp>
        <p:nvSpPr>
          <p:cNvPr id="239" name="Google Shape;239;g36c6084c8e6_0_29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6c6084c8e6_0_2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6c6084c8e6_0_29"/>
          <p:cNvPicPr preferRelativeResize="0"/>
          <p:nvPr/>
        </p:nvPicPr>
        <p:blipFill rotWithShape="1">
          <a:blip r:embed="rId6">
            <a:alphaModFix/>
          </a:blip>
          <a:srcRect b="0" l="0" r="41931" t="0"/>
          <a:stretch/>
        </p:blipFill>
        <p:spPr>
          <a:xfrm>
            <a:off x="4989213" y="2300675"/>
            <a:ext cx="8309574" cy="78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0" y="0"/>
            <a:ext cx="18288000" cy="7760970"/>
          </a:xfrm>
          <a:custGeom>
            <a:rect b="b" l="l" r="r" t="t"/>
            <a:pathLst>
              <a:path extrusionOk="0" h="7760970" w="18288000">
                <a:moveTo>
                  <a:pt x="0" y="0"/>
                </a:moveTo>
                <a:lnTo>
                  <a:pt x="18288000" y="0"/>
                </a:lnTo>
                <a:lnTo>
                  <a:pt x="18288000" y="7760970"/>
                </a:lnTo>
                <a:lnTo>
                  <a:pt x="0" y="776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2407" r="-1240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7"/>
          <p:cNvCxnSpPr/>
          <p:nvPr/>
        </p:nvCxnSpPr>
        <p:spPr>
          <a:xfrm rot="10800000">
            <a:off x="1330129" y="16307"/>
            <a:ext cx="0" cy="2119023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9" name="Google Shape;249;p7"/>
          <p:cNvGrpSpPr/>
          <p:nvPr/>
        </p:nvGrpSpPr>
        <p:grpSpPr>
          <a:xfrm>
            <a:off x="1396400" y="3241268"/>
            <a:ext cx="16211658" cy="7045726"/>
            <a:chOff x="0" y="-38100"/>
            <a:chExt cx="4269709" cy="717042"/>
          </a:xfrm>
        </p:grpSpPr>
        <p:sp>
          <p:nvSpPr>
            <p:cNvPr id="250" name="Google Shape;250;p7"/>
            <p:cNvSpPr/>
            <p:nvPr/>
          </p:nvSpPr>
          <p:spPr>
            <a:xfrm>
              <a:off x="0" y="0"/>
              <a:ext cx="4269709" cy="678942"/>
            </a:xfrm>
            <a:custGeom>
              <a:rect b="b" l="l" r="r" t="t"/>
              <a:pathLst>
                <a:path extrusionOk="0" h="678942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669391"/>
                  </a:lnTo>
                  <a:cubicBezTo>
                    <a:pt x="4269709" y="671924"/>
                    <a:pt x="4268703" y="674354"/>
                    <a:pt x="4266911" y="676145"/>
                  </a:cubicBezTo>
                  <a:cubicBezTo>
                    <a:pt x="4265120" y="677936"/>
                    <a:pt x="4262691" y="678942"/>
                    <a:pt x="4260158" y="678942"/>
                  </a:cubicBezTo>
                  <a:lnTo>
                    <a:pt x="9551" y="678942"/>
                  </a:lnTo>
                  <a:cubicBezTo>
                    <a:pt x="7018" y="678942"/>
                    <a:pt x="4589" y="677936"/>
                    <a:pt x="2797" y="676145"/>
                  </a:cubicBezTo>
                  <a:cubicBezTo>
                    <a:pt x="1006" y="674354"/>
                    <a:pt x="0" y="671924"/>
                    <a:pt x="0" y="669391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0" y="-38100"/>
              <a:ext cx="4269709" cy="7170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2043300" y="1189050"/>
            <a:ext cx="149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HELLO WORLD - HTML (MODO RAIZ) 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2043300" y="3836803"/>
            <a:ext cx="14443800" cy="54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Bloco de Notas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Digite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código da imagem ao lado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Salve o arquivo assim: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Vá em Arquivo, Salvar como, Escolha uma pasta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campo Nome do arquivo, digite: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hello.html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Tipo, selecione: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Todos os arquivos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Clique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Salvar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Clique duas vezes no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hello.html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navegador abrirá e mostrará: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Hello World em tamanho grande (&lt;h1&gt;)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" name="Google Shape;256;p7"/>
          <p:cNvPicPr preferRelativeResize="0"/>
          <p:nvPr/>
        </p:nvPicPr>
        <p:blipFill rotWithShape="1">
          <a:blip r:embed="rId6">
            <a:alphaModFix/>
          </a:blip>
          <a:srcRect b="0" l="0" r="0" t="2458"/>
          <a:stretch/>
        </p:blipFill>
        <p:spPr>
          <a:xfrm>
            <a:off x="11280875" y="4679300"/>
            <a:ext cx="5729764" cy="38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c6084c8e6_0_178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6c6084c8e6_0_178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g36c6084c8e6_0_178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g36c6084c8e6_0_178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Hospedagem e domínio</a:t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g36c6084c8e6_0_178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66" name="Google Shape;266;g36c6084c8e6_0_17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g36c6084c8e6_0_178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68" name="Google Shape;268;g36c6084c8e6_0_17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g36c6084c8e6_0_17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6c6084c8e6_0_178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Hospedagem de site: </a:t>
            </a:r>
            <a:endParaRPr/>
          </a:p>
        </p:txBody>
      </p:sp>
      <p:sp>
        <p:nvSpPr>
          <p:cNvPr id="271" name="Google Shape;271;g36c6084c8e6_0_178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72" name="Google Shape;272;g36c6084c8e6_0_178"/>
          <p:cNvSpPr txBox="1"/>
          <p:nvPr/>
        </p:nvSpPr>
        <p:spPr>
          <a:xfrm>
            <a:off x="3611453" y="3072900"/>
            <a:ext cx="14109000" cy="6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5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Pesquise 2 serviços de hospedagem </a:t>
            </a:r>
            <a:endParaRPr sz="25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5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pesquisar?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 do serviço (ex: Hostinger, GitHub Pages)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Preço do plano básico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Tipos de site suportados (HTML simples, WordPress, React, etc.)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Espaço de armazenamento e recursos (e-mail, banco de dados, etc.)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oferece plano gratuito ou teste grátis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Entregável: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tabela comparativa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dos dois serviços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hospedagem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bloco de notas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respondendo a seguinte questão: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serviço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hospedagem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grupo escolheria e por quê?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5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g36c6084c8e6_0_178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6c6084c8e6_0_178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6c6084c8e6_0_178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9"/>
          <p:cNvSpPr/>
          <p:nvPr/>
        </p:nvSpPr>
        <p:spPr>
          <a:xfrm rot="5370826">
            <a:off x="-3623236" y="3674915"/>
            <a:ext cx="10291672" cy="2957970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9"/>
          <p:cNvCxnSpPr/>
          <p:nvPr/>
        </p:nvCxnSpPr>
        <p:spPr>
          <a:xfrm rot="10800000">
            <a:off x="3130185" y="16307"/>
            <a:ext cx="49695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9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Hospedagem e domínio</a:t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3611441" y="962025"/>
            <a:ext cx="2865559" cy="341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" name="Google Shape;286;p9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87" name="Google Shape;287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9"/>
          <p:cNvSpPr txBox="1"/>
          <p:nvPr/>
        </p:nvSpPr>
        <p:spPr>
          <a:xfrm>
            <a:off x="3611441" y="2646967"/>
            <a:ext cx="410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Registro de Domínio: 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3611453" y="3072900"/>
            <a:ext cx="14109000" cy="6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5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Pesquise 2 serviços de Registro de domínio</a:t>
            </a:r>
            <a:endParaRPr sz="25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5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pesquisar?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 do serviço (ex: Registro.br, GoDaddy)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Preço de um domínio .com e .com.br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Extensões de domínio disponíveis (.com, .net, .edu, .dev, etc.)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 de renovação e custo anual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Suporte e facilidade de uso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Entregável: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tabela comparativa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dos dois serviços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bloco de notas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respondendo a seguinte questão: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serviço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domínio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grupo escolheria e por quê?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5"/>
          <p:cNvCxnSpPr/>
          <p:nvPr/>
        </p:nvCxnSpPr>
        <p:spPr>
          <a:xfrm rot="10800000">
            <a:off x="1330128" y="16307"/>
            <a:ext cx="0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2" name="Google Shape;302;p15"/>
          <p:cNvGrpSpPr/>
          <p:nvPr/>
        </p:nvGrpSpPr>
        <p:grpSpPr>
          <a:xfrm>
            <a:off x="1396388" y="2987159"/>
            <a:ext cx="16211550" cy="7595338"/>
            <a:chOff x="0" y="-38100"/>
            <a:chExt cx="4269709" cy="2000418"/>
          </a:xfrm>
        </p:grpSpPr>
        <p:sp>
          <p:nvSpPr>
            <p:cNvPr id="303" name="Google Shape;303;p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5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5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2043296" y="962025"/>
            <a:ext cx="458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1814696" y="3277870"/>
            <a:ext cx="14443800" cy="57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BRASIL. Comitê Gestor da Internet no Brasil – CGI.br.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Cartilha de Segurança para Internet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12. ed. São Paulo: CGI.br, 2023. Disponível em: https://cartilha.cert.br. Acesso em: 02 jul. 2025.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– WORLD WIDE WEB CONSORTIUM.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Sobre o W3C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lang="en-US" sz="23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https://www.w3.org/Consortium/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 HyperText Markup Language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lang="en-US" sz="23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https://developer.mozilla.org/pt-BR/docs/Web/HTML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 Cascading Style Sheets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lang="en-US" sz="23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https://developer.mozilla.org/pt-BR/docs/Web/CSS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REGISTRO.BR.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 de domínios .br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lang="en-US" sz="23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2"/>
              </a:rPr>
              <a:t>https://registro.br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HOSTGATOR.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Planos de hospedagem de sites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lang="en-US" sz="23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4"/>
              </a:rPr>
              <a:t>https://www.hostgator.com.br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GITHUB.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Pages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lang="en-US" sz="23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6"/>
              </a:rPr>
              <a:t>https://pages.github.com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1" sz="36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