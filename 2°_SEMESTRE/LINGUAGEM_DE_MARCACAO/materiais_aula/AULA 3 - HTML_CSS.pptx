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10287000" cx="18288000"/>
  <p:notesSz cx="6858000" cy="9144000"/>
  <p:embeddedFontLst>
    <p:embeddedFont>
      <p:font typeface="Poppins"/>
      <p:regular r:id="rId25"/>
      <p:bold r:id="rId26"/>
      <p:italic r:id="rId27"/>
      <p:boldItalic r:id="rId28"/>
    </p:embeddedFont>
    <p:embeddedFont>
      <p:font typeface="Roboto Mon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3" roundtripDataSignature="AMtx7mjgCNV/9y0vBP/SHX3vcmSNIVfn5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-bold.fntdata"/><Relationship Id="rId25" Type="http://schemas.openxmlformats.org/officeDocument/2006/relationships/font" Target="fonts/Poppins-regular.fntdata"/><Relationship Id="rId28" Type="http://schemas.openxmlformats.org/officeDocument/2006/relationships/font" Target="fonts/Poppins-boldItalic.fntdata"/><Relationship Id="rId27" Type="http://schemas.openxmlformats.org/officeDocument/2006/relationships/font" Target="fonts/Poppi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italic.fntdata"/><Relationship Id="rId30" Type="http://schemas.openxmlformats.org/officeDocument/2006/relationships/font" Target="fonts/RobotoMono-bold.fntdata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font" Target="fonts/RobotoMon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>
                <a:solidFill>
                  <a:schemeClr val="dk1"/>
                </a:solidFill>
              </a:rPr>
              <a:t>Hipertexto:</a:t>
            </a:r>
            <a:r>
              <a:rPr lang="en-US">
                <a:solidFill>
                  <a:schemeClr val="dk1"/>
                </a:solidFill>
              </a:rPr>
              <a:t> </a:t>
            </a:r>
            <a:r>
              <a:rPr i="1" lang="en-US">
                <a:solidFill>
                  <a:schemeClr val="dk1"/>
                </a:solidFill>
              </a:rPr>
              <a:t>"hipertexto" se refere a textos que contêm links (hyperlinks), permitindo que você pule de uma página para outra. Foi uma revolução na forma como consumimos informação.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>
                <a:solidFill>
                  <a:schemeClr val="dk1"/>
                </a:solidFill>
              </a:rPr>
              <a:t>Linguagem de Marcação vs. Programação:</a:t>
            </a:r>
            <a:r>
              <a:rPr lang="en-US">
                <a:solidFill>
                  <a:schemeClr val="dk1"/>
                </a:solidFill>
              </a:rPr>
              <a:t> </a:t>
            </a:r>
            <a:r>
              <a:rPr i="1" lang="en-US">
                <a:solidFill>
                  <a:schemeClr val="dk1"/>
                </a:solidFill>
              </a:rPr>
              <a:t>Use uma analogia. Uma linguagem de marcação é como dar instruções a um editor de texto: "isso é um título", "isso é um parágrafo". Uma linguagem de programação dá instruções lógicas a um computador: "se o usuário clicar aqui, faça aquilo". HTML apenas descreve, não "faz".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>
                <a:solidFill>
                  <a:schemeClr val="dk1"/>
                </a:solidFill>
              </a:rPr>
              <a:t>Analogia do Esqueleto:</a:t>
            </a:r>
            <a:r>
              <a:rPr lang="en-US">
                <a:solidFill>
                  <a:schemeClr val="dk1"/>
                </a:solidFill>
              </a:rPr>
              <a:t> </a:t>
            </a:r>
            <a:r>
              <a:rPr i="1" lang="en-US">
                <a:solidFill>
                  <a:schemeClr val="dk1"/>
                </a:solidFill>
              </a:rPr>
              <a:t>Reforce a analogia: HTML é o esqueleto, CSS (que verão depois) é a roupa e a aparência, e JavaScript são os músculos e o cérebro que dão movimento e interatividade.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717af378f7_0_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US">
                <a:solidFill>
                  <a:schemeClr val="dk1"/>
                </a:solidFill>
              </a:rPr>
              <a:t>Mostre o site do validador oficial: </a:t>
            </a:r>
            <a:r>
              <a:rPr b="1" i="1" lang="en-US">
                <a:solidFill>
                  <a:schemeClr val="dk1"/>
                </a:solidFill>
              </a:rPr>
              <a:t>validator.w3.org</a:t>
            </a:r>
            <a:r>
              <a:rPr i="1" lang="en-US">
                <a:solidFill>
                  <a:schemeClr val="dk1"/>
                </a:solidFill>
              </a:rPr>
              <a:t>.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US">
                <a:solidFill>
                  <a:schemeClr val="dk1"/>
                </a:solidFill>
              </a:rPr>
              <a:t>Explique que os navegadores modernos tentam corrigir códigos HTML errados. No entanto, cada navegador pode "corrigir" de um jeito diferente, causando inconsistências na exibição da página. A validação garante que você está entregando um código previsível e profissional.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US">
                <a:solidFill>
                  <a:schemeClr val="dk1"/>
                </a:solidFill>
              </a:rPr>
              <a:t>Compare com a gramática. Você pode escrever "a gente vamos" e as pessoas podem entender, mas o correto é "nós vamos". O validador é o "professor de gramática" do seu código.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05" name="Google Shape;105;g3717af378f7_0_3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6c6084c8e6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>
                <a:solidFill>
                  <a:schemeClr val="dk1"/>
                </a:solidFill>
              </a:rPr>
              <a:t>Use a </a:t>
            </a:r>
            <a:r>
              <a:rPr b="1" i="1" lang="en-US">
                <a:solidFill>
                  <a:schemeClr val="dk1"/>
                </a:solidFill>
              </a:rPr>
              <a:t>analogia da construção de uma casa</a:t>
            </a:r>
            <a:r>
              <a:rPr i="1" lang="en-US">
                <a:solidFill>
                  <a:schemeClr val="dk1"/>
                </a:solidFill>
              </a:rPr>
              <a:t>: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>
                <a:solidFill>
                  <a:schemeClr val="dk1"/>
                </a:solidFill>
              </a:rPr>
              <a:t>O </a:t>
            </a:r>
            <a:r>
              <a:rPr b="1" i="1" lang="en-US">
                <a:solidFill>
                  <a:schemeClr val="dk1"/>
                </a:solidFill>
              </a:rPr>
              <a:t>HTML</a:t>
            </a:r>
            <a:r>
              <a:rPr i="1" lang="en-US">
                <a:solidFill>
                  <a:schemeClr val="dk1"/>
                </a:solidFill>
              </a:rPr>
              <a:t> é a </a:t>
            </a:r>
            <a:r>
              <a:rPr b="1" i="1" lang="en-US">
                <a:solidFill>
                  <a:schemeClr val="dk1"/>
                </a:solidFill>
              </a:rPr>
              <a:t>planta da casa e os tijolos</a:t>
            </a:r>
            <a:r>
              <a:rPr i="1" lang="en-US">
                <a:solidFill>
                  <a:schemeClr val="dk1"/>
                </a:solidFill>
              </a:rPr>
              <a:t>. Ele define a estrutura: aqui é a sala, aqui é a cozinha, aqui tem uma parede, aqui tem uma porta.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>
                <a:solidFill>
                  <a:schemeClr val="dk1"/>
                </a:solidFill>
              </a:rPr>
              <a:t>O </a:t>
            </a:r>
            <a:r>
              <a:rPr b="1" i="1" lang="en-US">
                <a:solidFill>
                  <a:schemeClr val="dk1"/>
                </a:solidFill>
              </a:rPr>
              <a:t>CSS</a:t>
            </a:r>
            <a:r>
              <a:rPr i="1" lang="en-US">
                <a:solidFill>
                  <a:schemeClr val="dk1"/>
                </a:solidFill>
              </a:rPr>
              <a:t> é a </a:t>
            </a:r>
            <a:r>
              <a:rPr b="1" i="1" lang="en-US">
                <a:solidFill>
                  <a:schemeClr val="dk1"/>
                </a:solidFill>
              </a:rPr>
              <a:t>decoração</a:t>
            </a:r>
            <a:r>
              <a:rPr i="1" lang="en-US">
                <a:solidFill>
                  <a:schemeClr val="dk1"/>
                </a:solidFill>
              </a:rPr>
              <a:t>. Ele define a aparência: a cor da parede da sala será azul, o piso da cozinha será de porcelanato, a porta será de madeira escura.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>
                <a:solidFill>
                  <a:schemeClr val="dk1"/>
                </a:solidFill>
              </a:rPr>
              <a:t>Usar uma tag obsoleta como </a:t>
            </a:r>
            <a:r>
              <a:rPr i="1"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&lt;font color="blue"&gt;</a:t>
            </a:r>
            <a:r>
              <a:rPr i="1" lang="en-US">
                <a:solidFill>
                  <a:schemeClr val="dk1"/>
                </a:solidFill>
              </a:rPr>
              <a:t> é como tentar misturar a tinta azul direto no cimento do tijolo. É uma bagunça, não é eficiente e se você quiser mudar a cor depois, terá que quebrar a parede! Com CSS, você só precisa de uma lata de tinta nova.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>
                <a:solidFill>
                  <a:schemeClr val="dk1"/>
                </a:solidFill>
              </a:rPr>
              <a:t>Explique o </a:t>
            </a:r>
            <a:r>
              <a:rPr b="1" i="1" lang="en-US">
                <a:solidFill>
                  <a:schemeClr val="dk1"/>
                </a:solidFill>
              </a:rPr>
              <a:t>motivo prático</a:t>
            </a:r>
            <a:r>
              <a:rPr i="1" lang="en-US">
                <a:solidFill>
                  <a:schemeClr val="dk1"/>
                </a:solidFill>
              </a:rPr>
              <a:t>: "Imagine que você usou a tag </a:t>
            </a:r>
            <a:r>
              <a:rPr i="1"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&lt;font&gt;</a:t>
            </a:r>
            <a:r>
              <a:rPr i="1" lang="en-US">
                <a:solidFill>
                  <a:schemeClr val="dk1"/>
                </a:solidFill>
              </a:rPr>
              <a:t> para deixar 50 títulos em vermelho no seu site. Se o cliente pedir para mudar tudo para azul, você terá que caçar e editar 50 lugares diferentes no seu HTML. Com CSS, você mudaria UMA única linha de código."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1"/>
              </a:solidFill>
            </a:endParaRPr>
          </a:p>
        </p:txBody>
      </p:sp>
      <p:sp>
        <p:nvSpPr>
          <p:cNvPr id="119" name="Google Shape;119;g36c6084c8e6_0_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62cea470f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>
                <a:solidFill>
                  <a:schemeClr val="dk1"/>
                </a:solidFill>
              </a:rPr>
              <a:t>Enfatize a sintaxe:</a:t>
            </a:r>
            <a:r>
              <a:rPr i="1" lang="en-US">
                <a:solidFill>
                  <a:schemeClr val="dk1"/>
                </a:solidFill>
              </a:rPr>
              <a:t> o uso dos sinais de menor </a:t>
            </a:r>
            <a:r>
              <a:rPr i="1"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i="1" lang="en-US">
                <a:solidFill>
                  <a:schemeClr val="dk1"/>
                </a:solidFill>
              </a:rPr>
              <a:t> e maior </a:t>
            </a:r>
            <a:r>
              <a:rPr i="1"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i="1" lang="en-US">
                <a:solidFill>
                  <a:schemeClr val="dk1"/>
                </a:solidFill>
              </a:rPr>
              <a:t> e a barra </a:t>
            </a:r>
            <a:r>
              <a:rPr i="1"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</a:t>
            </a:r>
            <a:r>
              <a:rPr i="1" lang="en-US">
                <a:solidFill>
                  <a:schemeClr val="dk1"/>
                </a:solidFill>
              </a:rPr>
              <a:t> na tag de fechamento. Erros de sintaxe, como esquecer de fechar uma tag, são muito comuns para iniciantes.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>
                <a:solidFill>
                  <a:schemeClr val="dk1"/>
                </a:solidFill>
              </a:rPr>
              <a:t>Mencione que existem elementos "vazios" ou "autofecháveis", que não precisam de tag de fechamento pois não possuem conteúdo interno. Dê exemplos como a tag de imagem </a:t>
            </a:r>
            <a:r>
              <a:rPr i="1"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&lt;img&gt;</a:t>
            </a:r>
            <a:r>
              <a:rPr i="1" lang="en-US">
                <a:solidFill>
                  <a:schemeClr val="dk1"/>
                </a:solidFill>
              </a:rPr>
              <a:t> ou a de quebra de linha </a:t>
            </a:r>
            <a:r>
              <a:rPr i="1"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&lt;br&gt;</a:t>
            </a:r>
            <a:r>
              <a:rPr i="1" lang="en-US">
                <a:solidFill>
                  <a:schemeClr val="dk1"/>
                </a:solidFill>
              </a:rPr>
              <a:t>. Eles serão vistos mais adiante.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>
                <a:solidFill>
                  <a:schemeClr val="dk1"/>
                </a:solidFill>
              </a:rPr>
              <a:t>Use a analogia de caixas ou blocos de montar (Lego). Cada elemento é um bloco que se encaixa dentro de outro para construir a estrutura final.</a:t>
            </a:r>
            <a:endParaRPr i="1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3" name="Google Shape;133;g362cea470f6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62cea470f6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>
                <a:solidFill>
                  <a:schemeClr val="dk1"/>
                </a:solidFill>
              </a:rPr>
              <a:t>Explique o </a:t>
            </a:r>
            <a:r>
              <a:rPr i="1"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&lt;!DOCTYPE html&gt;</a:t>
            </a:r>
            <a:r>
              <a:rPr i="1" lang="en-US">
                <a:solidFill>
                  <a:schemeClr val="dk1"/>
                </a:solidFill>
              </a:rPr>
              <a:t>. Diga que essa é a primeira linha de QUALQUER arquivo HTML moderno. É uma instrução obrigatória que informa ao navegador: "Este documento é um HTML5". Sem isso, o navegador pode entrar em um "modo de compatibilidade" antigo e renderizar as coisas de forma estranha.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>
                <a:solidFill>
                  <a:schemeClr val="dk1"/>
                </a:solidFill>
              </a:rPr>
              <a:t>Fale sobre a importância do atributo </a:t>
            </a:r>
            <a:r>
              <a:rPr i="1"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lang="pt-br"</a:t>
            </a:r>
            <a:r>
              <a:rPr i="1" lang="en-US">
                <a:solidFill>
                  <a:schemeClr val="dk1"/>
                </a:solidFill>
              </a:rPr>
              <a:t>. Ele é fundamental para a acessibilidade (leitores de tela saberão pronunciar o texto corretamente) e para o SEO (mecanismos de busca saberão classificar sua página para o público de língua portuguesa).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47" name="Google Shape;147;g362cea470f6_0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62cea470f6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>
                <a:solidFill>
                  <a:schemeClr val="dk1"/>
                </a:solidFill>
              </a:rPr>
              <a:t>A única coisa dentro do </a:t>
            </a:r>
            <a:r>
              <a:rPr i="1"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&lt;head&gt;</a:t>
            </a:r>
            <a:r>
              <a:rPr i="1" lang="en-US">
                <a:solidFill>
                  <a:schemeClr val="dk1"/>
                </a:solidFill>
              </a:rPr>
              <a:t> que o usuário "vê" é o </a:t>
            </a:r>
            <a:r>
              <a:rPr i="1"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&lt;title&gt;</a:t>
            </a:r>
            <a:r>
              <a:rPr i="1" lang="en-US">
                <a:solidFill>
                  <a:schemeClr val="dk1"/>
                </a:solidFill>
              </a:rPr>
              <a:t>, que aparece na aba do navegador.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>
                <a:solidFill>
                  <a:schemeClr val="dk1"/>
                </a:solidFill>
              </a:rPr>
              <a:t>Faça uma analogia: o </a:t>
            </a:r>
            <a:r>
              <a:rPr i="1"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&lt;head&gt;</a:t>
            </a:r>
            <a:r>
              <a:rPr i="1" lang="en-US">
                <a:solidFill>
                  <a:schemeClr val="dk1"/>
                </a:solidFill>
              </a:rPr>
              <a:t> é como a capa de um livro. Não é a história em si, mas informa o título, o autor, a editora... informações importantes sobre a obra.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>
                <a:solidFill>
                  <a:schemeClr val="dk1"/>
                </a:solidFill>
              </a:rPr>
              <a:t>É a "sala de controle" da sua página, onde você configura aspectos técnicos importantes.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2" name="Google Shape;162;g362cea470f6_0_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62cea470f6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>
                <a:solidFill>
                  <a:schemeClr val="dk1"/>
                </a:solidFill>
              </a:rPr>
              <a:t>É um dos fatores mais importantes que o Google usa para entender o assunto da sua página. Mostre uma imagem de um resultado de busca do Google e aponte para o título principal em azul para ilustrar onde o conteúdo da tag </a:t>
            </a:r>
            <a:r>
              <a:rPr i="1"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&lt;title&gt;</a:t>
            </a:r>
            <a:r>
              <a:rPr i="1" lang="en-US">
                <a:solidFill>
                  <a:schemeClr val="dk1"/>
                </a:solidFill>
              </a:rPr>
              <a:t> aparece.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>
                <a:solidFill>
                  <a:schemeClr val="dk1"/>
                </a:solidFill>
              </a:rPr>
              <a:t>Dê dicas para um bom título: seja breve (geralmente até 60 caracteres), coloque a palavra-chave principal no início e seja honesto sobre o conteúdo da página.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6" name="Google Shape;176;g362cea470f6_0_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62cea470f6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US">
                <a:solidFill>
                  <a:schemeClr val="dk1"/>
                </a:solidFill>
              </a:rPr>
              <a:t>Reitere que tudo que o usuário vê e com o que interage na tela do navegador está contido dentro da tag </a:t>
            </a:r>
            <a:r>
              <a:rPr i="1"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&lt;body&gt;</a:t>
            </a:r>
            <a:r>
              <a:rPr i="1" lang="en-US">
                <a:solidFill>
                  <a:schemeClr val="dk1"/>
                </a:solidFill>
              </a:rPr>
              <a:t>.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US">
                <a:solidFill>
                  <a:schemeClr val="dk1"/>
                </a:solidFill>
              </a:rPr>
              <a:t>Explique o que significa "obsoleto": no passado, era comum usar atributos como </a:t>
            </a:r>
            <a:r>
              <a:rPr i="1"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&lt;body bgcolor="blue"&gt;</a:t>
            </a:r>
            <a:r>
              <a:rPr i="1" lang="en-US">
                <a:solidFill>
                  <a:schemeClr val="dk1"/>
                </a:solidFill>
              </a:rPr>
              <a:t> para mudar a cor de fundo. Hoje, isso é considerado uma má prática. O HTML deve cuidar da </a:t>
            </a:r>
            <a:r>
              <a:rPr b="1" i="1" lang="en-US">
                <a:solidFill>
                  <a:schemeClr val="dk1"/>
                </a:solidFill>
              </a:rPr>
              <a:t>estrutura</a:t>
            </a:r>
            <a:r>
              <a:rPr i="1" lang="en-US">
                <a:solidFill>
                  <a:schemeClr val="dk1"/>
                </a:solidFill>
              </a:rPr>
              <a:t>, e o CSS da </a:t>
            </a:r>
            <a:r>
              <a:rPr b="1" i="1" lang="en-US">
                <a:solidFill>
                  <a:schemeClr val="dk1"/>
                </a:solidFill>
              </a:rPr>
              <a:t>aparência</a:t>
            </a:r>
            <a:r>
              <a:rPr i="1" lang="en-US">
                <a:solidFill>
                  <a:schemeClr val="dk1"/>
                </a:solidFill>
              </a:rPr>
              <a:t>. Manter essa separação torna o código mais limpo, flexível e fácil de manter.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US">
                <a:solidFill>
                  <a:schemeClr val="dk1"/>
                </a:solidFill>
              </a:rPr>
              <a:t>Mostre a estrutura completa até agora: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&lt;html&gt;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  &lt;head&gt;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    &lt;title&gt;Título&lt;/title&gt;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  &lt;/head&gt;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  &lt;body&gt;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    &gt;   &lt;/body&gt;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&lt;/html&gt;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0" name="Google Shape;190;g362cea470f6_0_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717af378f7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charset="UTF-8"</a:t>
            </a:r>
            <a:r>
              <a:rPr b="1" i="1" lang="en-US">
                <a:solidFill>
                  <a:schemeClr val="dk1"/>
                </a:solidFill>
              </a:rPr>
              <a:t>:</a:t>
            </a:r>
            <a:r>
              <a:rPr lang="en-US">
                <a:solidFill>
                  <a:schemeClr val="dk1"/>
                </a:solidFill>
              </a:rPr>
              <a:t> </a:t>
            </a:r>
            <a:r>
              <a:rPr i="1" lang="en-US">
                <a:solidFill>
                  <a:schemeClr val="dk1"/>
                </a:solidFill>
              </a:rPr>
              <a:t>Explique que sem isso, caracteres como </a:t>
            </a:r>
            <a:r>
              <a:rPr i="1"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café</a:t>
            </a:r>
            <a:r>
              <a:rPr i="1" lang="en-US">
                <a:solidFill>
                  <a:schemeClr val="dk1"/>
                </a:solidFill>
              </a:rPr>
              <a:t> ou </a:t>
            </a:r>
            <a:r>
              <a:rPr i="1"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ação</a:t>
            </a:r>
            <a:r>
              <a:rPr i="1" lang="en-US">
                <a:solidFill>
                  <a:schemeClr val="dk1"/>
                </a:solidFill>
              </a:rPr>
              <a:t> podem aparecer quebrados, como </a:t>
            </a:r>
            <a:r>
              <a:rPr i="1"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cafÃ©</a:t>
            </a:r>
            <a:r>
              <a:rPr i="1" lang="en-US">
                <a:solidFill>
                  <a:schemeClr val="dk1"/>
                </a:solidFill>
              </a:rPr>
              <a:t>.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viewport</a:t>
            </a:r>
            <a:r>
              <a:rPr lang="en-US">
                <a:solidFill>
                  <a:schemeClr val="dk1"/>
                </a:solidFill>
              </a:rPr>
              <a:t>: </a:t>
            </a:r>
            <a:r>
              <a:rPr i="1" lang="en-US">
                <a:solidFill>
                  <a:schemeClr val="dk1"/>
                </a:solidFill>
              </a:rPr>
              <a:t>Explique de forma simples: essa linha diz ao navegador do celular: "A largura da página deve ser igual à largura da tela do dispositivo e o zoom inicial deve ser 100%". Sem isso, o site apareceria no celular como uma versão minúscula da versão de desktop, forçando o usuário a dar zoom.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description</a:t>
            </a:r>
            <a:r>
              <a:rPr lang="en-US">
                <a:solidFill>
                  <a:schemeClr val="dk1"/>
                </a:solidFill>
              </a:rPr>
              <a:t>: </a:t>
            </a:r>
            <a:r>
              <a:rPr i="1" lang="en-US">
                <a:solidFill>
                  <a:schemeClr val="dk1"/>
                </a:solidFill>
              </a:rPr>
              <a:t>Mostre novamente um print de um resultado do Google e aponte para o texto descritivo que fica abaixo do título azul. Esse texto vem da metatag "description". É a sua chance de "vender" a sua página para o usuário.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1"/>
              </a:solidFill>
            </a:endParaRPr>
          </a:p>
        </p:txBody>
      </p:sp>
      <p:sp>
        <p:nvSpPr>
          <p:cNvPr id="204" name="Google Shape;204;g3717af378f7_0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62cea470f6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>
                <a:solidFill>
                  <a:schemeClr val="dk1"/>
                </a:solidFill>
              </a:rPr>
              <a:t>Hierarquia de Títulos:</a:t>
            </a:r>
            <a:r>
              <a:rPr lang="en-US">
                <a:solidFill>
                  <a:schemeClr val="dk1"/>
                </a:solidFill>
              </a:rPr>
              <a:t> </a:t>
            </a:r>
            <a:r>
              <a:rPr i="1" lang="en-US">
                <a:solidFill>
                  <a:schemeClr val="dk1"/>
                </a:solidFill>
              </a:rPr>
              <a:t>Enfatize que os títulos (</a:t>
            </a:r>
            <a:r>
              <a:rPr i="1"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h1</a:t>
            </a:r>
            <a:r>
              <a:rPr i="1" lang="en-US">
                <a:solidFill>
                  <a:schemeClr val="dk1"/>
                </a:solidFill>
              </a:rPr>
              <a:t>-</a:t>
            </a:r>
            <a:r>
              <a:rPr i="1"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h6</a:t>
            </a:r>
            <a:r>
              <a:rPr i="1" lang="en-US">
                <a:solidFill>
                  <a:schemeClr val="dk1"/>
                </a:solidFill>
              </a:rPr>
              <a:t>) criam a estrutura de um documento, como um índice de um livro. </a:t>
            </a:r>
            <a:r>
              <a:rPr i="1"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h1</a:t>
            </a:r>
            <a:r>
              <a:rPr i="1" lang="en-US">
                <a:solidFill>
                  <a:schemeClr val="dk1"/>
                </a:solidFill>
              </a:rPr>
              <a:t> é o título do livro, </a:t>
            </a:r>
            <a:r>
              <a:rPr i="1"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h2</a:t>
            </a:r>
            <a:r>
              <a:rPr i="1" lang="en-US">
                <a:solidFill>
                  <a:schemeClr val="dk1"/>
                </a:solidFill>
              </a:rPr>
              <a:t> são os capítulos, </a:t>
            </a:r>
            <a:r>
              <a:rPr i="1"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h3</a:t>
            </a:r>
            <a:r>
              <a:rPr i="1" lang="en-US">
                <a:solidFill>
                  <a:schemeClr val="dk1"/>
                </a:solidFill>
              </a:rPr>
              <a:t> são as seções dentro dos capítulos, e assim por diante. Aconselhe os alunos a não usarem as tags de título apenas para deixar o texto grande ou pequeno; a importância semântica é o objetivo principal.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>
                <a:solidFill>
                  <a:schemeClr val="dk1"/>
                </a:solidFill>
              </a:rPr>
              <a:t>Parágrafos (</a:t>
            </a:r>
            <a:r>
              <a:rPr b="1" i="1"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&lt;p&gt;</a:t>
            </a:r>
            <a:r>
              <a:rPr b="1" i="1" lang="en-US">
                <a:solidFill>
                  <a:schemeClr val="dk1"/>
                </a:solidFill>
              </a:rPr>
              <a:t>):</a:t>
            </a:r>
            <a:r>
              <a:rPr lang="en-US">
                <a:solidFill>
                  <a:schemeClr val="dk1"/>
                </a:solidFill>
              </a:rPr>
              <a:t> </a:t>
            </a:r>
            <a:r>
              <a:rPr i="1" lang="en-US">
                <a:solidFill>
                  <a:schemeClr val="dk1"/>
                </a:solidFill>
              </a:rPr>
              <a:t>Explique que usar a tag </a:t>
            </a:r>
            <a:r>
              <a:rPr i="1"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&lt;p&gt;</a:t>
            </a:r>
            <a:r>
              <a:rPr i="1" lang="en-US">
                <a:solidFill>
                  <a:schemeClr val="dk1"/>
                </a:solidFill>
              </a:rPr>
              <a:t> é a forma correta de separar blocos de texto. Apertar "Enter" várias vezes no código não cria parágrafos na visualização final no navegador; para isso, é preciso usar tags específicas como a </a:t>
            </a:r>
            <a:r>
              <a:rPr i="1"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&lt;p&gt;</a:t>
            </a:r>
            <a:r>
              <a:rPr i="1" lang="en-US">
                <a:solidFill>
                  <a:schemeClr val="dk1"/>
                </a:solidFill>
              </a:rPr>
              <a:t>.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18" name="Google Shape;218;g362cea470f6_0_1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717af378f7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-US">
                <a:solidFill>
                  <a:schemeClr val="dk1"/>
                </a:solidFill>
              </a:rPr>
              <a:t>Atributo </a:t>
            </a:r>
            <a:r>
              <a:rPr b="1" i="1"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title</a:t>
            </a:r>
            <a:r>
              <a:rPr b="1" i="1" lang="en-US">
                <a:solidFill>
                  <a:schemeClr val="dk1"/>
                </a:solidFill>
              </a:rPr>
              <a:t>:</a:t>
            </a:r>
            <a:r>
              <a:rPr lang="en-US">
                <a:solidFill>
                  <a:schemeClr val="dk1"/>
                </a:solidFill>
              </a:rPr>
              <a:t> </a:t>
            </a:r>
            <a:r>
              <a:rPr i="1" lang="en-US">
                <a:solidFill>
                  <a:schemeClr val="dk1"/>
                </a:solidFill>
              </a:rPr>
              <a:t>Este é o exemplo mais fácil de demonstrar. Peça aos alunos para copiarem o código, abrirem no navegador e simplesmente repousarem o cursor do mouse sobre o título e o parágrafo. A pequena caixa de texto que aparece é o conteúdo do atributo </a:t>
            </a:r>
            <a:r>
              <a:rPr i="1"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title</a:t>
            </a:r>
            <a:r>
              <a:rPr i="1" lang="en-US">
                <a:solidFill>
                  <a:schemeClr val="dk1"/>
                </a:solidFill>
              </a:rPr>
              <a:t>. É uma forma simples e visual de entender o que um atributo faz.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-US">
                <a:solidFill>
                  <a:schemeClr val="dk1"/>
                </a:solidFill>
              </a:rPr>
              <a:t>Atributo </a:t>
            </a:r>
            <a:r>
              <a:rPr b="1" i="1"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lang</a:t>
            </a:r>
            <a:r>
              <a:rPr b="1" i="1" lang="en-US">
                <a:solidFill>
                  <a:schemeClr val="dk1"/>
                </a:solidFill>
              </a:rPr>
              <a:t>:</a:t>
            </a:r>
            <a:r>
              <a:rPr lang="en-US">
                <a:solidFill>
                  <a:schemeClr val="dk1"/>
                </a:solidFill>
              </a:rPr>
              <a:t> </a:t>
            </a:r>
            <a:r>
              <a:rPr i="1" lang="en-US">
                <a:solidFill>
                  <a:schemeClr val="dk1"/>
                </a:solidFill>
              </a:rPr>
              <a:t>Explique que, embora já tenhamos definido o idioma principal da página em </a:t>
            </a:r>
            <a:r>
              <a:rPr i="1"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&lt;html lang="pt-br"&gt;</a:t>
            </a:r>
            <a:r>
              <a:rPr i="1" lang="en-US">
                <a:solidFill>
                  <a:schemeClr val="dk1"/>
                </a:solidFill>
              </a:rPr>
              <a:t>, podemos ter palavras ou frases em outros idiomas no meio do texto. 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US">
                <a:solidFill>
                  <a:schemeClr val="dk1"/>
                </a:solidFill>
              </a:rPr>
              <a:t>Reforce que os atributos são sempre colocados na tag de abertura e seguem o formato </a:t>
            </a:r>
            <a:r>
              <a:rPr i="1"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nome="valor"</a:t>
            </a:r>
            <a:r>
              <a:rPr i="1" lang="en-US">
                <a:solidFill>
                  <a:schemeClr val="dk1"/>
                </a:solidFill>
              </a:rPr>
              <a:t>.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32" name="Google Shape;232;g3717af378f7_0_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62cea470f6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>
                <a:solidFill>
                  <a:schemeClr val="dk1"/>
                </a:solidFill>
              </a:rPr>
              <a:t>Reforce que CADA linguagem (HTML, CSS, JavaScript, etc.) tem sua própria maneira de escrever comentários. É importante não confundir.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>
                <a:solidFill>
                  <a:schemeClr val="dk1"/>
                </a:solidFill>
              </a:rPr>
              <a:t>Frise que a sintaxe para comentários em HTML é `` para fechar. Tudo que estiver entre esses dois marcadores será ignorado pelo navegador ao renderizar a página.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>
                <a:solidFill>
                  <a:schemeClr val="dk1"/>
                </a:solidFill>
              </a:rPr>
              <a:t>Dê o aviso importante novamente: Embora os comentários não apareçam na página, eles </a:t>
            </a:r>
            <a:r>
              <a:rPr b="1" i="1" lang="en-US">
                <a:solidFill>
                  <a:schemeClr val="dk1"/>
                </a:solidFill>
              </a:rPr>
              <a:t>são visíveis</a:t>
            </a:r>
            <a:r>
              <a:rPr i="1" lang="en-US">
                <a:solidFill>
                  <a:schemeClr val="dk1"/>
                </a:solidFill>
              </a:rPr>
              <a:t> para qualquer um que inspecione o código-fonte da página. Portanto, </a:t>
            </a:r>
            <a:r>
              <a:rPr b="1" i="1" lang="en-US">
                <a:solidFill>
                  <a:schemeClr val="dk1"/>
                </a:solidFill>
              </a:rPr>
              <a:t>NUNCA</a:t>
            </a:r>
            <a:r>
              <a:rPr i="1" lang="en-US">
                <a:solidFill>
                  <a:schemeClr val="dk1"/>
                </a:solidFill>
              </a:rPr>
              <a:t> coloque informações sensíveis como senhas ou notas confidenciais nos comentários HTML.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>
                <a:solidFill>
                  <a:schemeClr val="dk1"/>
                </a:solidFill>
              </a:rPr>
              <a:t>Mostre um exemplo prático, comentando uma linha de código para que ela "suma" da página ao atualizar o navegador.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1"/>
              </a:solidFill>
            </a:endParaRPr>
          </a:p>
        </p:txBody>
      </p:sp>
      <p:sp>
        <p:nvSpPr>
          <p:cNvPr id="247" name="Google Shape;247;g362cea470f6_0_1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717af378f7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3" name="Google Shape;263;g3717af378f7_0_1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717af378f7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717af378f7_0_1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717af378f7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3717af378f7_0_2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717af378f7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3717af378f7_0_2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717af378f7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g3717af378f7_0_2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3" name="Google Shape;35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hyperlink" Target="http://validator.w3.org" TargetMode="External"/><Relationship Id="rId6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13.png"/><Relationship Id="rId7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1" Type="http://schemas.openxmlformats.org/officeDocument/2006/relationships/hyperlink" Target="https://registro.br" TargetMode="External"/><Relationship Id="rId10" Type="http://schemas.openxmlformats.org/officeDocument/2006/relationships/hyperlink" Target="https://developer.mozilla.org/pt-BR/docs/Web/CSS" TargetMode="External"/><Relationship Id="rId13" Type="http://schemas.openxmlformats.org/officeDocument/2006/relationships/hyperlink" Target="https://www.hostgator.com.br" TargetMode="External"/><Relationship Id="rId12" Type="http://schemas.openxmlformats.org/officeDocument/2006/relationships/hyperlink" Target="https://registro.br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9" Type="http://schemas.openxmlformats.org/officeDocument/2006/relationships/hyperlink" Target="https://developer.mozilla.org/pt-BR/docs/Web/CSS" TargetMode="External"/><Relationship Id="rId15" Type="http://schemas.openxmlformats.org/officeDocument/2006/relationships/hyperlink" Target="https://pages.github.com" TargetMode="External"/><Relationship Id="rId14" Type="http://schemas.openxmlformats.org/officeDocument/2006/relationships/hyperlink" Target="https://www.hostgator.com.br" TargetMode="External"/><Relationship Id="rId17" Type="http://schemas.openxmlformats.org/officeDocument/2006/relationships/image" Target="../media/image9.png"/><Relationship Id="rId16" Type="http://schemas.openxmlformats.org/officeDocument/2006/relationships/hyperlink" Target="https://pages.github.com" TargetMode="External"/><Relationship Id="rId5" Type="http://schemas.openxmlformats.org/officeDocument/2006/relationships/hyperlink" Target="https://www.w3.org/Consortium/" TargetMode="External"/><Relationship Id="rId6" Type="http://schemas.openxmlformats.org/officeDocument/2006/relationships/hyperlink" Target="https://www.w3.org/Consortium/" TargetMode="External"/><Relationship Id="rId7" Type="http://schemas.openxmlformats.org/officeDocument/2006/relationships/hyperlink" Target="https://developer.mozilla.org/pt-BR/docs/Web/HTML" TargetMode="External"/><Relationship Id="rId8" Type="http://schemas.openxmlformats.org/officeDocument/2006/relationships/hyperlink" Target="https://developer.mozilla.org/pt-BR/docs/Web/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7561289" y="8666140"/>
            <a:ext cx="3165421" cy="809423"/>
          </a:xfrm>
          <a:custGeom>
            <a:rect b="b" l="l" r="r" t="t"/>
            <a:pathLst>
              <a:path extrusionOk="0" h="809423" w="3165421">
                <a:moveTo>
                  <a:pt x="0" y="0"/>
                </a:moveTo>
                <a:lnTo>
                  <a:pt x="3165422" y="0"/>
                </a:lnTo>
                <a:lnTo>
                  <a:pt x="3165422" y="809423"/>
                </a:lnTo>
                <a:lnTo>
                  <a:pt x="0" y="809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2075550" y="3599550"/>
            <a:ext cx="14136900" cy="3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24"/>
              <a:buFont typeface="Arial"/>
              <a:buNone/>
            </a:pPr>
            <a:r>
              <a:rPr b="1" lang="en-US" sz="76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HTML:</a:t>
            </a:r>
            <a:endParaRPr b="1" sz="7624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24"/>
              <a:buFont typeface="Arial"/>
              <a:buNone/>
            </a:pPr>
            <a:r>
              <a:rPr b="1" lang="en-US" sz="76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Hypertext Markup Language</a:t>
            </a:r>
            <a:endParaRPr b="1" sz="7624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7422396" y="962025"/>
            <a:ext cx="333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Professores:</a:t>
            </a:r>
            <a:endParaRPr b="1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6163647" y="1420838"/>
            <a:ext cx="59607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Celso Giusti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Daniel Manoel Filho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Marlon Palata Fanger Rodrigues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6"/>
          <p:cNvCxnSpPr/>
          <p:nvPr/>
        </p:nvCxnSpPr>
        <p:spPr>
          <a:xfrm flipH="1" rot="10800000">
            <a:off x="1296998" y="16306"/>
            <a:ext cx="16565" cy="2135589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6" name="Google Shape;96;p6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97" name="Google Shape;97;p6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6"/>
            <p:cNvSpPr txBox="1"/>
            <p:nvPr/>
          </p:nvSpPr>
          <p:spPr>
            <a:xfrm>
              <a:off x="0" y="-38100"/>
              <a:ext cx="4269709" cy="20004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" name="Google Shape;99;p6"/>
          <p:cNvSpPr txBox="1"/>
          <p:nvPr/>
        </p:nvSpPr>
        <p:spPr>
          <a:xfrm>
            <a:off x="2043300" y="1189050"/>
            <a:ext cx="15553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Relembrando: O que é HTML?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6"/>
          <p:cNvSpPr txBox="1"/>
          <p:nvPr/>
        </p:nvSpPr>
        <p:spPr>
          <a:xfrm>
            <a:off x="2043295" y="962025"/>
            <a:ext cx="275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6"/>
          <p:cNvSpPr txBox="1"/>
          <p:nvPr/>
        </p:nvSpPr>
        <p:spPr>
          <a:xfrm>
            <a:off x="1814700" y="3430275"/>
            <a:ext cx="15553800" cy="3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yper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ext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arkup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anguage.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○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Linguagem de Marcação de Hipertexto.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É 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esqueleto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de uma página da web.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Não é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uma linguagem de programação. É uma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linguagem de marcação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Define 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estrutura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 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significado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do conteúdo.</a:t>
            </a:r>
            <a:endParaRPr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17af378f7_0_37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3717af378f7_0_375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9;g3717af378f7_0_375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0" name="Google Shape;110;g3717af378f7_0_375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111" name="Google Shape;111;g3717af378f7_0_375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g3717af378f7_0_375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3" name="Google Shape;113;g3717af378f7_0_375"/>
          <p:cNvSpPr txBox="1"/>
          <p:nvPr/>
        </p:nvSpPr>
        <p:spPr>
          <a:xfrm>
            <a:off x="2043300" y="1189050"/>
            <a:ext cx="15553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lang="en-US" sz="52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Validação W3C: O Selo de Qualidade</a:t>
            </a:r>
            <a:endParaRPr b="1" i="0" sz="52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4" name="Google Shape;114;g3717af378f7_0_375"/>
          <p:cNvSpPr txBox="1"/>
          <p:nvPr/>
        </p:nvSpPr>
        <p:spPr>
          <a:xfrm>
            <a:off x="2043295" y="962025"/>
            <a:ext cx="275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3717af378f7_0_375"/>
          <p:cNvSpPr txBox="1"/>
          <p:nvPr/>
        </p:nvSpPr>
        <p:spPr>
          <a:xfrm>
            <a:off x="1814700" y="3430275"/>
            <a:ext cx="15553800" cy="69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W3C (World Wide Web Consortium):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Organização que cria os padrões da web.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Validar: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É verificar se seu código HTML segue as regras oficiais.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Por que validar?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Garante que o site funcione em diferentes navegadores (compatibilidade).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Ajuda a encontrar erros escondidos no código.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Eliminar o uso de tags obsoletas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Melhora a acessibilidade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Melhora o SEO - Search Engine Optimization (Otimização para buscas).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○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conjunto de técnicas e estratégias utilizadas para melhorar o posicionamento de um site ou página da web nos resultados orgânicos (não pagos) dos motores de busca, como o Google. 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Site do validador oficial: </a:t>
            </a:r>
            <a:r>
              <a:rPr b="1" lang="en-US" sz="24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5"/>
              </a:rPr>
              <a:t>validator.w3.org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" name="Google Shape;116;g3717af378f7_0_375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c6084c8e6_0_7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36c6084c8e6_0_70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" name="Google Shape;123;g36c6084c8e6_0_70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4" name="Google Shape;124;g36c6084c8e6_0_70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125" name="Google Shape;125;g36c6084c8e6_0_70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g36c6084c8e6_0_70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7" name="Google Shape;127;g36c6084c8e6_0_70"/>
          <p:cNvSpPr txBox="1"/>
          <p:nvPr/>
        </p:nvSpPr>
        <p:spPr>
          <a:xfrm>
            <a:off x="2043300" y="1189050"/>
            <a:ext cx="15553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lang="en-US" sz="52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O Que São Tags Obsoletas?</a:t>
            </a:r>
            <a:endParaRPr b="1" i="0" sz="52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8" name="Google Shape;128;g36c6084c8e6_0_70"/>
          <p:cNvSpPr txBox="1"/>
          <p:nvPr/>
        </p:nvSpPr>
        <p:spPr>
          <a:xfrm>
            <a:off x="2043295" y="962025"/>
            <a:ext cx="275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36c6084c8e6_0_70"/>
          <p:cNvSpPr txBox="1"/>
          <p:nvPr/>
        </p:nvSpPr>
        <p:spPr>
          <a:xfrm>
            <a:off x="1814700" y="3430275"/>
            <a:ext cx="15553800" cy="65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São tags de versões antigas do HTML que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não devem mais ser usadas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Problema: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Elas misturavam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ESTRUTURA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(função do HTML) com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APARÊNCIA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(função do CSS).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Regra de Ouro Hoje: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HTML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→ Define "o que é" o conteúdo (um título, um parágrafo).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CSS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→ Define "qual é a aparência" do conteúdo (cor, tamanho, posição).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Exemplos que você NUNCA deve usar: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font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&gt;: Usada para mudar a cor, o tamanho e o tipo da letra.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center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&gt;: Usada para centralizar conteúdo.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Atributos como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bgcolor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ou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align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" name="Google Shape;130;g36c6084c8e6_0_70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62cea470f6_0_1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362cea470f6_0_12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g362cea470f6_0_12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8" name="Google Shape;138;g362cea470f6_0_12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139" name="Google Shape;139;g362cea470f6_0_12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g362cea470f6_0_12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g362cea470f6_0_12"/>
          <p:cNvSpPr txBox="1"/>
          <p:nvPr/>
        </p:nvSpPr>
        <p:spPr>
          <a:xfrm>
            <a:off x="2043300" y="1189050"/>
            <a:ext cx="15553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52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A Estrutura: Tags e Elementos</a:t>
            </a:r>
            <a:endParaRPr b="1" sz="52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2" name="Google Shape;142;g362cea470f6_0_12"/>
          <p:cNvSpPr txBox="1"/>
          <p:nvPr/>
        </p:nvSpPr>
        <p:spPr>
          <a:xfrm>
            <a:off x="2043295" y="962025"/>
            <a:ext cx="275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362cea470f6_0_12"/>
          <p:cNvSpPr txBox="1"/>
          <p:nvPr/>
        </p:nvSpPr>
        <p:spPr>
          <a:xfrm>
            <a:off x="1814700" y="3430275"/>
            <a:ext cx="15553800" cy="46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Um documento HTML é uma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árvore de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elementos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maioria dos elementos possui: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Tag de abertura: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&lt;p&gt;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Conteúdo: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Olá, mundo!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Tag de fechamento: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&lt;/p&gt;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Juntos, eles formam um elemento: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&lt;p&gt;Olá, mundo!&lt;/p&gt;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4" name="Google Shape;144;g362cea470f6_0_12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62cea470f6_0_3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62cea470f6_0_35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g362cea470f6_0_35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2" name="Google Shape;152;g362cea470f6_0_35"/>
          <p:cNvSpPr txBox="1"/>
          <p:nvPr/>
        </p:nvSpPr>
        <p:spPr>
          <a:xfrm>
            <a:off x="2043300" y="1189050"/>
            <a:ext cx="15553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lang="en-US" sz="52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O Elemento &lt;html&gt;</a:t>
            </a:r>
            <a:endParaRPr b="1" i="0" sz="52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3" name="Google Shape;153;g362cea470f6_0_35"/>
          <p:cNvSpPr txBox="1"/>
          <p:nvPr/>
        </p:nvSpPr>
        <p:spPr>
          <a:xfrm>
            <a:off x="2043295" y="962025"/>
            <a:ext cx="275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4" name="Google Shape;154;g362cea470f6_0_35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155" name="Google Shape;155;g362cea470f6_0_35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g362cea470f6_0_35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7" name="Google Shape;157;g362cea470f6_0_35"/>
          <p:cNvSpPr txBox="1"/>
          <p:nvPr/>
        </p:nvSpPr>
        <p:spPr>
          <a:xfrm>
            <a:off x="1814700" y="3430275"/>
            <a:ext cx="15553800" cy="20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É 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elemento raiz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da página. Tudo fica dentro dele.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Funciona como a "caixa" principal que contém todo o código.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atributo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lang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define o idioma da página.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8" name="Google Shape;158;g362cea470f6_0_35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g362cea470f6_0_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41291" y="6391553"/>
            <a:ext cx="5405425" cy="244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62cea470f6_0_5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62cea470f6_0_57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" name="Google Shape;166;g362cea470f6_0_57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7" name="Google Shape;167;g362cea470f6_0_57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168" name="Google Shape;168;g362cea470f6_0_57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g362cea470f6_0_57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0" name="Google Shape;170;g362cea470f6_0_57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362cea470f6_0_57"/>
          <p:cNvSpPr txBox="1"/>
          <p:nvPr/>
        </p:nvSpPr>
        <p:spPr>
          <a:xfrm>
            <a:off x="2043295" y="962025"/>
            <a:ext cx="275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62cea470f6_0_57"/>
          <p:cNvSpPr txBox="1"/>
          <p:nvPr/>
        </p:nvSpPr>
        <p:spPr>
          <a:xfrm>
            <a:off x="1814700" y="3430275"/>
            <a:ext cx="15553800" cy="38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Contém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metadados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 informações </a:t>
            </a:r>
            <a:r>
              <a:rPr i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sobre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 documento.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Não é visível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no conteúdo principal da página.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É onde inserimos: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9144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○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títu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da página (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&lt;title&gt;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9144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○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Links para arquivos CSS e JavaScript.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9144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○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Informações para navegadores e robôs de busca (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&lt;meta&gt;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3" name="Google Shape;173;g362cea470f6_0_57"/>
          <p:cNvSpPr txBox="1"/>
          <p:nvPr/>
        </p:nvSpPr>
        <p:spPr>
          <a:xfrm>
            <a:off x="2043300" y="1189050"/>
            <a:ext cx="15553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lang="en-US" sz="52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O Elemento &lt;head&gt;</a:t>
            </a:r>
            <a:endParaRPr b="1" i="0" sz="52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62cea470f6_0_7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362cea470f6_0_78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" name="Google Shape;180;g362cea470f6_0_78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1" name="Google Shape;181;g362cea470f6_0_78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182" name="Google Shape;182;g362cea470f6_0_78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g362cea470f6_0_78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4" name="Google Shape;184;g362cea470f6_0_78"/>
          <p:cNvSpPr txBox="1"/>
          <p:nvPr/>
        </p:nvSpPr>
        <p:spPr>
          <a:xfrm>
            <a:off x="2043300" y="1189050"/>
            <a:ext cx="15553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lang="en-US" sz="52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O Elemento &lt;title&gt;</a:t>
            </a:r>
            <a:endParaRPr b="1" i="0" sz="52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" name="Google Shape;185;g362cea470f6_0_78"/>
          <p:cNvSpPr txBox="1"/>
          <p:nvPr/>
        </p:nvSpPr>
        <p:spPr>
          <a:xfrm>
            <a:off x="2043295" y="962025"/>
            <a:ext cx="275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362cea470f6_0_78"/>
          <p:cNvSpPr txBox="1"/>
          <p:nvPr/>
        </p:nvSpPr>
        <p:spPr>
          <a:xfrm>
            <a:off x="1814700" y="3430275"/>
            <a:ext cx="15553800" cy="51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Define 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título oficial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do documento.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É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obrigatório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 deve ser único e descritivo.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Onde ele aparece?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aba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ou na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barra de título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do navegador.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Nos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resultados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do Google.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Nos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favoritos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Exemplo: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&lt;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title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&gt;Receita de Bolo de Chocolate - Meu Site&lt;/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title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7" name="Google Shape;187;g362cea470f6_0_78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62cea470f6_0_9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62cea470f6_0_96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4" name="Google Shape;194;g362cea470f6_0_96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95" name="Google Shape;195;g362cea470f6_0_96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196" name="Google Shape;196;g362cea470f6_0_96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g362cea470f6_0_96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8" name="Google Shape;198;g362cea470f6_0_96"/>
          <p:cNvSpPr txBox="1"/>
          <p:nvPr/>
        </p:nvSpPr>
        <p:spPr>
          <a:xfrm>
            <a:off x="2043300" y="1189050"/>
            <a:ext cx="15553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lang="en-US" sz="52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O Elemento &lt;body&gt;</a:t>
            </a:r>
            <a:endParaRPr b="1" i="0" sz="52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9" name="Google Shape;199;g362cea470f6_0_96"/>
          <p:cNvSpPr txBox="1"/>
          <p:nvPr/>
        </p:nvSpPr>
        <p:spPr>
          <a:xfrm>
            <a:off x="2043295" y="962025"/>
            <a:ext cx="275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362cea470f6_0_96"/>
          <p:cNvSpPr txBox="1"/>
          <p:nvPr/>
        </p:nvSpPr>
        <p:spPr>
          <a:xfrm>
            <a:off x="1814700" y="3430275"/>
            <a:ext cx="15553800" cy="49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Define 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corpo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do documento.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É onde fica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todo o conteúdo visível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para o usuário: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9144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○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Textos e parágrafos.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9144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○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Títulos.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9144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○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Imagens e vídeos.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9144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○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Links, listas, tabelas, etc.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Observação: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Atributos de estilo no &lt;body&gt; (como bgcolor) são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obsoletos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A aparência deve ser controlada com CSS.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1" name="Google Shape;201;g362cea470f6_0_96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717af378f7_0_4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3717af378f7_0_43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8" name="Google Shape;208;g3717af378f7_0_43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09" name="Google Shape;209;g3717af378f7_0_43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210" name="Google Shape;210;g3717af378f7_0_43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g3717af378f7_0_43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2" name="Google Shape;212;g3717af378f7_0_43"/>
          <p:cNvSpPr txBox="1"/>
          <p:nvPr/>
        </p:nvSpPr>
        <p:spPr>
          <a:xfrm>
            <a:off x="2043300" y="1189050"/>
            <a:ext cx="15553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lang="en-US" sz="52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As </a:t>
            </a:r>
            <a:r>
              <a:rPr b="1" lang="en-US" sz="52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Meta Tags</a:t>
            </a:r>
            <a:r>
              <a:rPr b="1" lang="en-US" sz="52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 &lt;meta&gt; </a:t>
            </a:r>
            <a:endParaRPr b="1" i="0" sz="52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3" name="Google Shape;213;g3717af378f7_0_43"/>
          <p:cNvSpPr txBox="1"/>
          <p:nvPr/>
        </p:nvSpPr>
        <p:spPr>
          <a:xfrm>
            <a:off x="2043295" y="962025"/>
            <a:ext cx="275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717af378f7_0_43"/>
          <p:cNvSpPr txBox="1"/>
          <p:nvPr/>
        </p:nvSpPr>
        <p:spPr>
          <a:xfrm>
            <a:off x="1814700" y="3430275"/>
            <a:ext cx="15553800" cy="56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Fornecem informações extras sobre a página para os navegadores e robôs.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Meta Charset (Essencial):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Define o padrão de caracteres.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meta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charset="UTF-8"&gt; (Permite acentos e ç)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Meta Viewport (Essencial para Celular):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Configura a página para diferentes tamanhos de tela.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○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meta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name="viewport" content="width=device-width, initial-scale=1.0"&gt;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Meta Description (Importante para SEO):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 descrição que aparece no Google.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○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meta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name="description" content="Aprenda a fazer o melhor bolo..."&gt;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5" name="Google Shape;215;g3717af378f7_0_43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62cea470f6_0_12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g362cea470f6_0_125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2" name="Google Shape;222;g362cea470f6_0_125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23" name="Google Shape;223;g362cea470f6_0_125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224" name="Google Shape;224;g362cea470f6_0_125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g362cea470f6_0_125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6" name="Google Shape;226;g362cea470f6_0_125"/>
          <p:cNvSpPr txBox="1"/>
          <p:nvPr/>
        </p:nvSpPr>
        <p:spPr>
          <a:xfrm>
            <a:off x="2043300" y="1189050"/>
            <a:ext cx="15553800" cy="17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lang="en-US" sz="52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Tags: Construindo o Conteúdo</a:t>
            </a:r>
            <a:endParaRPr b="1" sz="52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t/>
            </a:r>
            <a:endParaRPr b="1" sz="52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7" name="Google Shape;227;g362cea470f6_0_125"/>
          <p:cNvSpPr txBox="1"/>
          <p:nvPr/>
        </p:nvSpPr>
        <p:spPr>
          <a:xfrm>
            <a:off x="2043295" y="962025"/>
            <a:ext cx="275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362cea470f6_0_125"/>
          <p:cNvSpPr txBox="1"/>
          <p:nvPr/>
        </p:nvSpPr>
        <p:spPr>
          <a:xfrm>
            <a:off x="1592050" y="3686463"/>
            <a:ext cx="15553800" cy="46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&lt;h1&gt; ao &lt;h6&gt;: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Definem uma hierarquia de títulos.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○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h1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&gt;Título Principal do Site&lt;/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h1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○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h2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&gt;Uma Notícia Importante&lt;/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h2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○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h3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&gt;Subtítulo da notícia&lt;/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h3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&lt;p&gt;: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Define um parágrafo. Navegadores adicionam um espaço antes e depois.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○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&gt;Este é o primeiro parágrafo. Ele fala sobre a importância do HTML para a construção de qualquer site na internet.&lt;/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○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&gt;Este é o segundo parágrafo. A separação entre eles é feita de forma automática pela tag.&lt;/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9" name="Google Shape;229;g362cea470f6_0_125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717af378f7_0_5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g3717af378f7_0_58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6" name="Google Shape;236;g3717af378f7_0_58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37" name="Google Shape;237;g3717af378f7_0_58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238" name="Google Shape;238;g3717af378f7_0_58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g3717af378f7_0_58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0" name="Google Shape;240;g3717af378f7_0_58"/>
          <p:cNvSpPr txBox="1"/>
          <p:nvPr/>
        </p:nvSpPr>
        <p:spPr>
          <a:xfrm>
            <a:off x="2043300" y="1189050"/>
            <a:ext cx="15553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lang="en-US" sz="52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Atributos das Tags</a:t>
            </a:r>
            <a:endParaRPr b="1" i="0" sz="52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1" name="Google Shape;241;g3717af378f7_0_58"/>
          <p:cNvSpPr txBox="1"/>
          <p:nvPr/>
        </p:nvSpPr>
        <p:spPr>
          <a:xfrm>
            <a:off x="2043295" y="962025"/>
            <a:ext cx="275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g3717af378f7_0_58"/>
          <p:cNvSpPr txBox="1"/>
          <p:nvPr/>
        </p:nvSpPr>
        <p:spPr>
          <a:xfrm>
            <a:off x="1814700" y="3430275"/>
            <a:ext cx="15553800" cy="3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Atributos fornecem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informações adicionais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sobre um elemento HTML.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São sempre especificados na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tag de abertura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Geralmente vêm em pares de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nome="valor"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Exemplo com (h1):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h1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title="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Este é o título principal da página"&gt;Minha Biografia&lt;/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h1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Resultado Visual na Tela: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3" name="Google Shape;243;g3717af378f7_0_58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4" name="Google Shape;244;g3717af378f7_0_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68838" y="7527843"/>
            <a:ext cx="10150316" cy="213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62cea470f6_0_13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g362cea470f6_0_139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1" name="Google Shape;251;g362cea470f6_0_139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52" name="Google Shape;252;g362cea470f6_0_139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253" name="Google Shape;253;g362cea470f6_0_139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g362cea470f6_0_139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5" name="Google Shape;255;g362cea470f6_0_139"/>
          <p:cNvSpPr txBox="1"/>
          <p:nvPr/>
        </p:nvSpPr>
        <p:spPr>
          <a:xfrm>
            <a:off x="2043300" y="1189050"/>
            <a:ext cx="15553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52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Comentários em HTML &lt;!-- </a:t>
            </a:r>
            <a:r>
              <a:rPr b="1" lang="en-US" sz="52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--&gt;</a:t>
            </a:r>
            <a:endParaRPr b="1" sz="52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6" name="Google Shape;256;g362cea470f6_0_139"/>
          <p:cNvSpPr txBox="1"/>
          <p:nvPr/>
        </p:nvSpPr>
        <p:spPr>
          <a:xfrm>
            <a:off x="2043295" y="962025"/>
            <a:ext cx="275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g362cea470f6_0_139"/>
          <p:cNvSpPr txBox="1"/>
          <p:nvPr/>
        </p:nvSpPr>
        <p:spPr>
          <a:xfrm>
            <a:off x="1814700" y="3430275"/>
            <a:ext cx="15553800" cy="59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São trechos de texto que o navegador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ignora completamente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Não aparecem na página final.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Para que servem?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9144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○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Deixar notas e explicações para você ou outros programadores.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9144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○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"Desativar" um pedaço do código sem apagá-lo.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É possível também ser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dentro de uma tag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8" name="Google Shape;258;g362cea470f6_0_139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9" name="Google Shape;259;g362cea470f6_0_1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85975" y="7302575"/>
            <a:ext cx="14832500" cy="52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g362cea470f6_0_13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09813" y="9096025"/>
            <a:ext cx="13584825" cy="52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717af378f7_0_10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g3717af378f7_0_104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7" name="Google Shape;267;g3717af378f7_0_104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68" name="Google Shape;268;g3717af378f7_0_104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269" name="Google Shape;269;g3717af378f7_0_104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g3717af378f7_0_104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1" name="Google Shape;271;g3717af378f7_0_104"/>
          <p:cNvSpPr txBox="1"/>
          <p:nvPr/>
        </p:nvSpPr>
        <p:spPr>
          <a:xfrm>
            <a:off x="2043300" y="1189050"/>
            <a:ext cx="15553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lang="en-US" sz="52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Resumo:</a:t>
            </a:r>
            <a:endParaRPr b="1" i="0" sz="52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2" name="Google Shape;272;g3717af378f7_0_104"/>
          <p:cNvSpPr txBox="1"/>
          <p:nvPr/>
        </p:nvSpPr>
        <p:spPr>
          <a:xfrm>
            <a:off x="2043295" y="962025"/>
            <a:ext cx="275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g3717af378f7_0_104"/>
          <p:cNvSpPr txBox="1"/>
          <p:nvPr/>
        </p:nvSpPr>
        <p:spPr>
          <a:xfrm>
            <a:off x="1814700" y="3430275"/>
            <a:ext cx="155538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HTML: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Linguagem de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marcação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para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estruturar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 conteúdo web.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Validação: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Garante a qualidade e compatibilidade do código.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Estrutura Básica: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&lt;!DOCTYPE&gt;, &lt;html&gt;, &lt;head&gt; e &lt;body&gt;.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&lt;head&gt;: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Metadados (informações "invisíveis" como &lt;title&gt; e &lt;meta&gt;).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&lt;body&gt;: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Todo o conteúdo visível da página.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Tags: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Definem os elementos (&lt;h1&gt;, &lt;p&gt;, &lt;a&gt;, &lt;img&gt;, etc).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Comentários: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&lt;!--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--&gt;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ignoradas pelo navegador.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4" name="Google Shape;274;g3717af378f7_0_10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717af378f7_0_137"/>
          <p:cNvSpPr/>
          <p:nvPr/>
        </p:nvSpPr>
        <p:spPr>
          <a:xfrm>
            <a:off x="89899" y="-5051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0" name="Google Shape;280;g3717af378f7_0_137"/>
          <p:cNvSpPr/>
          <p:nvPr/>
        </p:nvSpPr>
        <p:spPr>
          <a:xfrm rot="5374217">
            <a:off x="-3628509" y="3673600"/>
            <a:ext cx="10291961" cy="2958053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9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1" name="Google Shape;281;g3717af378f7_0_137"/>
          <p:cNvCxnSpPr/>
          <p:nvPr/>
        </p:nvCxnSpPr>
        <p:spPr>
          <a:xfrm rot="10800000">
            <a:off x="3130080" y="16417"/>
            <a:ext cx="49800" cy="2268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2" name="Google Shape;282;g3717af378f7_0_137"/>
          <p:cNvSpPr txBox="1"/>
          <p:nvPr/>
        </p:nvSpPr>
        <p:spPr>
          <a:xfrm>
            <a:off x="3611457" y="1189050"/>
            <a:ext cx="12419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Primeiros passos HTML</a:t>
            </a:r>
            <a:endParaRPr b="1" sz="2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3" name="Google Shape;283;g3717af378f7_0_137"/>
          <p:cNvSpPr txBox="1"/>
          <p:nvPr/>
        </p:nvSpPr>
        <p:spPr>
          <a:xfrm>
            <a:off x="3611441" y="962025"/>
            <a:ext cx="28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/>
          </a:p>
        </p:txBody>
      </p:sp>
      <p:sp>
        <p:nvSpPr>
          <p:cNvPr id="284" name="Google Shape;284;g3717af378f7_0_137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5" name="Google Shape;285;g3717af378f7_0_137"/>
          <p:cNvGrpSpPr/>
          <p:nvPr/>
        </p:nvGrpSpPr>
        <p:grpSpPr>
          <a:xfrm>
            <a:off x="2503914" y="2432093"/>
            <a:ext cx="921228" cy="921228"/>
            <a:chOff x="0" y="0"/>
            <a:chExt cx="812800" cy="812800"/>
          </a:xfrm>
        </p:grpSpPr>
        <p:sp>
          <p:nvSpPr>
            <p:cNvPr id="286" name="Google Shape;286;g3717af378f7_0_13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g3717af378f7_0_137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8" name="Google Shape;288;g3717af378f7_0_137"/>
          <p:cNvSpPr txBox="1"/>
          <p:nvPr/>
        </p:nvSpPr>
        <p:spPr>
          <a:xfrm>
            <a:off x="3611461" y="2646975"/>
            <a:ext cx="8984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A Estrutura da Página:</a:t>
            </a:r>
            <a:endParaRPr/>
          </a:p>
        </p:txBody>
      </p:sp>
      <p:sp>
        <p:nvSpPr>
          <p:cNvPr id="289" name="Google Shape;289;g3717af378f7_0_137"/>
          <p:cNvSpPr txBox="1"/>
          <p:nvPr/>
        </p:nvSpPr>
        <p:spPr>
          <a:xfrm>
            <a:off x="2907197" y="2646967"/>
            <a:ext cx="11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/>
          </a:p>
        </p:txBody>
      </p:sp>
      <p:sp>
        <p:nvSpPr>
          <p:cNvPr id="290" name="Google Shape;290;g3717af378f7_0_137"/>
          <p:cNvSpPr txBox="1"/>
          <p:nvPr/>
        </p:nvSpPr>
        <p:spPr>
          <a:xfrm>
            <a:off x="3611453" y="3072900"/>
            <a:ext cx="14109000" cy="45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Crie um novo arquivo HTML chamado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comida.html. 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Neste arquivo, construa a estrutura básica e obrigatória de uma página web. 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(No VS Code ! + Enter)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título que aparecerá na aba do navegador (&lt;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title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&gt;) deve ser "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Minha Comida Favorita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". 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Deixe o corpo (&lt;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body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&gt;) da página vazio por enquanto.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1" name="Google Shape;291;g3717af378f7_0_137"/>
          <p:cNvSpPr txBox="1"/>
          <p:nvPr/>
        </p:nvSpPr>
        <p:spPr>
          <a:xfrm>
            <a:off x="2795186" y="4361017"/>
            <a:ext cx="374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2" name="Google Shape;292;g3717af378f7_0_137"/>
          <p:cNvSpPr txBox="1"/>
          <p:nvPr/>
        </p:nvSpPr>
        <p:spPr>
          <a:xfrm>
            <a:off x="2833270" y="7783519"/>
            <a:ext cx="262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3717af378f7_0_137"/>
          <p:cNvSpPr txBox="1"/>
          <p:nvPr/>
        </p:nvSpPr>
        <p:spPr>
          <a:xfrm>
            <a:off x="3534500" y="2003900"/>
            <a:ext cx="14401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73737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717af378f7_0_254"/>
          <p:cNvSpPr/>
          <p:nvPr/>
        </p:nvSpPr>
        <p:spPr>
          <a:xfrm>
            <a:off x="89899" y="-5051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9" name="Google Shape;299;g3717af378f7_0_254"/>
          <p:cNvSpPr/>
          <p:nvPr/>
        </p:nvSpPr>
        <p:spPr>
          <a:xfrm rot="5374217">
            <a:off x="-3628509" y="3673600"/>
            <a:ext cx="10291961" cy="2958053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9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0" name="Google Shape;300;g3717af378f7_0_254"/>
          <p:cNvCxnSpPr/>
          <p:nvPr/>
        </p:nvCxnSpPr>
        <p:spPr>
          <a:xfrm rot="10800000">
            <a:off x="3130080" y="16417"/>
            <a:ext cx="49800" cy="2268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1" name="Google Shape;301;g3717af378f7_0_254"/>
          <p:cNvSpPr txBox="1"/>
          <p:nvPr/>
        </p:nvSpPr>
        <p:spPr>
          <a:xfrm>
            <a:off x="3611457" y="1189050"/>
            <a:ext cx="12419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Primeiros passos HTML</a:t>
            </a:r>
            <a:endParaRPr b="1" sz="2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2" name="Google Shape;302;g3717af378f7_0_254"/>
          <p:cNvSpPr txBox="1"/>
          <p:nvPr/>
        </p:nvSpPr>
        <p:spPr>
          <a:xfrm>
            <a:off x="3611441" y="962025"/>
            <a:ext cx="28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/>
          </a:p>
        </p:txBody>
      </p:sp>
      <p:sp>
        <p:nvSpPr>
          <p:cNvPr id="303" name="Google Shape;303;g3717af378f7_0_25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4" name="Google Shape;304;g3717af378f7_0_254"/>
          <p:cNvGrpSpPr/>
          <p:nvPr/>
        </p:nvGrpSpPr>
        <p:grpSpPr>
          <a:xfrm>
            <a:off x="2503914" y="2432093"/>
            <a:ext cx="921228" cy="921228"/>
            <a:chOff x="0" y="0"/>
            <a:chExt cx="812800" cy="812800"/>
          </a:xfrm>
        </p:grpSpPr>
        <p:sp>
          <p:nvSpPr>
            <p:cNvPr id="305" name="Google Shape;305;g3717af378f7_0_25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g3717af378f7_0_254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7" name="Google Shape;307;g3717af378f7_0_254"/>
          <p:cNvSpPr txBox="1"/>
          <p:nvPr/>
        </p:nvSpPr>
        <p:spPr>
          <a:xfrm>
            <a:off x="3611461" y="2646975"/>
            <a:ext cx="8984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O Conteúdo Principal:</a:t>
            </a:r>
            <a:endParaRPr/>
          </a:p>
        </p:txBody>
      </p:sp>
      <p:sp>
        <p:nvSpPr>
          <p:cNvPr id="308" name="Google Shape;308;g3717af378f7_0_254"/>
          <p:cNvSpPr txBox="1"/>
          <p:nvPr/>
        </p:nvSpPr>
        <p:spPr>
          <a:xfrm>
            <a:off x="2907197" y="2646967"/>
            <a:ext cx="11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/>
          </a:p>
        </p:txBody>
      </p:sp>
      <p:sp>
        <p:nvSpPr>
          <p:cNvPr id="309" name="Google Shape;309;g3717af378f7_0_254"/>
          <p:cNvSpPr txBox="1"/>
          <p:nvPr/>
        </p:nvSpPr>
        <p:spPr>
          <a:xfrm>
            <a:off x="3611453" y="3377700"/>
            <a:ext cx="14109000" cy="41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Agora, vamos adicionar o conteúdo visível. Dentro da tag &lt;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body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 do seu ficheiro, adicione: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Um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título principal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(&lt;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h1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&gt;),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com o nome da sua comida favorita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lphaLcPeriod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exemplo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 "Lasanha à Bolonhesa".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Abaixo do título, adicione um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parágrafo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(&lt;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&gt;),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descrevendo por que você gosta tanto dessa comida.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0" name="Google Shape;310;g3717af378f7_0_254"/>
          <p:cNvSpPr txBox="1"/>
          <p:nvPr/>
        </p:nvSpPr>
        <p:spPr>
          <a:xfrm>
            <a:off x="2795186" y="4361017"/>
            <a:ext cx="374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1" name="Google Shape;311;g3717af378f7_0_254"/>
          <p:cNvSpPr txBox="1"/>
          <p:nvPr/>
        </p:nvSpPr>
        <p:spPr>
          <a:xfrm>
            <a:off x="2833270" y="7783519"/>
            <a:ext cx="262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g3717af378f7_0_254"/>
          <p:cNvSpPr txBox="1"/>
          <p:nvPr/>
        </p:nvSpPr>
        <p:spPr>
          <a:xfrm>
            <a:off x="3534500" y="2003900"/>
            <a:ext cx="14401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73737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717af378f7_0_274"/>
          <p:cNvSpPr/>
          <p:nvPr/>
        </p:nvSpPr>
        <p:spPr>
          <a:xfrm>
            <a:off x="89899" y="-5051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8" name="Google Shape;318;g3717af378f7_0_274"/>
          <p:cNvSpPr/>
          <p:nvPr/>
        </p:nvSpPr>
        <p:spPr>
          <a:xfrm rot="5374217">
            <a:off x="-3628509" y="3673600"/>
            <a:ext cx="10291961" cy="2958053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9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9" name="Google Shape;319;g3717af378f7_0_274"/>
          <p:cNvCxnSpPr/>
          <p:nvPr/>
        </p:nvCxnSpPr>
        <p:spPr>
          <a:xfrm rot="10800000">
            <a:off x="3130080" y="16417"/>
            <a:ext cx="49800" cy="2268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0" name="Google Shape;320;g3717af378f7_0_274"/>
          <p:cNvSpPr txBox="1"/>
          <p:nvPr/>
        </p:nvSpPr>
        <p:spPr>
          <a:xfrm>
            <a:off x="3611457" y="1189050"/>
            <a:ext cx="12419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Primeiros passos HTML</a:t>
            </a:r>
            <a:endParaRPr b="1" sz="2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1" name="Google Shape;321;g3717af378f7_0_274"/>
          <p:cNvSpPr txBox="1"/>
          <p:nvPr/>
        </p:nvSpPr>
        <p:spPr>
          <a:xfrm>
            <a:off x="3611441" y="962025"/>
            <a:ext cx="28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/>
          </a:p>
        </p:txBody>
      </p:sp>
      <p:sp>
        <p:nvSpPr>
          <p:cNvPr id="322" name="Google Shape;322;g3717af378f7_0_27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3" name="Google Shape;323;g3717af378f7_0_274"/>
          <p:cNvGrpSpPr/>
          <p:nvPr/>
        </p:nvGrpSpPr>
        <p:grpSpPr>
          <a:xfrm>
            <a:off x="2503914" y="2432093"/>
            <a:ext cx="921228" cy="921228"/>
            <a:chOff x="0" y="0"/>
            <a:chExt cx="812800" cy="812800"/>
          </a:xfrm>
        </p:grpSpPr>
        <p:sp>
          <p:nvSpPr>
            <p:cNvPr id="324" name="Google Shape;324;g3717af378f7_0_27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g3717af378f7_0_274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6" name="Google Shape;326;g3717af378f7_0_274"/>
          <p:cNvSpPr txBox="1"/>
          <p:nvPr/>
        </p:nvSpPr>
        <p:spPr>
          <a:xfrm>
            <a:off x="3611461" y="2646975"/>
            <a:ext cx="8984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Detalhes com Atributos</a:t>
            </a: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/>
          </a:p>
        </p:txBody>
      </p:sp>
      <p:sp>
        <p:nvSpPr>
          <p:cNvPr id="327" name="Google Shape;327;g3717af378f7_0_274"/>
          <p:cNvSpPr txBox="1"/>
          <p:nvPr/>
        </p:nvSpPr>
        <p:spPr>
          <a:xfrm>
            <a:off x="2907197" y="2646967"/>
            <a:ext cx="11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/>
          </a:p>
        </p:txBody>
      </p:sp>
      <p:sp>
        <p:nvSpPr>
          <p:cNvPr id="328" name="Google Shape;328;g3717af378f7_0_274"/>
          <p:cNvSpPr txBox="1"/>
          <p:nvPr/>
        </p:nvSpPr>
        <p:spPr>
          <a:xfrm>
            <a:off x="3611453" y="3377700"/>
            <a:ext cx="14109000" cy="51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Vamos adicionar informações extras usando o atributo title. Edite os elementos que você criou no exercício anterior: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título principal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(&lt;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h1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&gt;), adicione um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title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 o texto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"O nome do meu prato preferido".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 parágrafo (&lt;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&gt;), adicione um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title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 o texto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"Uma descrição sobre esta delícia".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Abra o arquivo comida.html no seu navegador e passe o mouse sobre 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título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 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parágrafo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para ver a "caixa de dica" que você acabou de criar.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9" name="Google Shape;329;g3717af378f7_0_274"/>
          <p:cNvSpPr txBox="1"/>
          <p:nvPr/>
        </p:nvSpPr>
        <p:spPr>
          <a:xfrm>
            <a:off x="2795186" y="4361017"/>
            <a:ext cx="374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0" name="Google Shape;330;g3717af378f7_0_274"/>
          <p:cNvSpPr txBox="1"/>
          <p:nvPr/>
        </p:nvSpPr>
        <p:spPr>
          <a:xfrm>
            <a:off x="2833270" y="7783519"/>
            <a:ext cx="262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g3717af378f7_0_274"/>
          <p:cNvSpPr txBox="1"/>
          <p:nvPr/>
        </p:nvSpPr>
        <p:spPr>
          <a:xfrm>
            <a:off x="3534500" y="2003900"/>
            <a:ext cx="14401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73737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717af378f7_0_294"/>
          <p:cNvSpPr/>
          <p:nvPr/>
        </p:nvSpPr>
        <p:spPr>
          <a:xfrm>
            <a:off x="89899" y="-5051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7" name="Google Shape;337;g3717af378f7_0_294"/>
          <p:cNvSpPr/>
          <p:nvPr/>
        </p:nvSpPr>
        <p:spPr>
          <a:xfrm rot="5374217">
            <a:off x="-3628509" y="3673600"/>
            <a:ext cx="10291961" cy="2958053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9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8" name="Google Shape;338;g3717af378f7_0_294"/>
          <p:cNvCxnSpPr/>
          <p:nvPr/>
        </p:nvCxnSpPr>
        <p:spPr>
          <a:xfrm rot="10800000">
            <a:off x="3130080" y="16417"/>
            <a:ext cx="49800" cy="2268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9" name="Google Shape;339;g3717af378f7_0_294"/>
          <p:cNvSpPr txBox="1"/>
          <p:nvPr/>
        </p:nvSpPr>
        <p:spPr>
          <a:xfrm>
            <a:off x="3611457" y="1189050"/>
            <a:ext cx="12419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Primeiros passos HTML</a:t>
            </a:r>
            <a:endParaRPr b="1" sz="2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0" name="Google Shape;340;g3717af378f7_0_294"/>
          <p:cNvSpPr txBox="1"/>
          <p:nvPr/>
        </p:nvSpPr>
        <p:spPr>
          <a:xfrm>
            <a:off x="3611441" y="962025"/>
            <a:ext cx="28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/>
          </a:p>
        </p:txBody>
      </p:sp>
      <p:sp>
        <p:nvSpPr>
          <p:cNvPr id="341" name="Google Shape;341;g3717af378f7_0_29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2" name="Google Shape;342;g3717af378f7_0_294"/>
          <p:cNvGrpSpPr/>
          <p:nvPr/>
        </p:nvGrpSpPr>
        <p:grpSpPr>
          <a:xfrm>
            <a:off x="2503914" y="2432093"/>
            <a:ext cx="921228" cy="921228"/>
            <a:chOff x="0" y="0"/>
            <a:chExt cx="812800" cy="812800"/>
          </a:xfrm>
        </p:grpSpPr>
        <p:sp>
          <p:nvSpPr>
            <p:cNvPr id="343" name="Google Shape;343;g3717af378f7_0_29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g3717af378f7_0_294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5" name="Google Shape;345;g3717af378f7_0_294"/>
          <p:cNvSpPr txBox="1"/>
          <p:nvPr/>
        </p:nvSpPr>
        <p:spPr>
          <a:xfrm>
            <a:off x="3611461" y="2646975"/>
            <a:ext cx="8984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Comentários e Finalização:</a:t>
            </a:r>
            <a:endParaRPr/>
          </a:p>
        </p:txBody>
      </p:sp>
      <p:sp>
        <p:nvSpPr>
          <p:cNvPr id="346" name="Google Shape;346;g3717af378f7_0_294"/>
          <p:cNvSpPr txBox="1"/>
          <p:nvPr/>
        </p:nvSpPr>
        <p:spPr>
          <a:xfrm>
            <a:off x="2907197" y="2646967"/>
            <a:ext cx="11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/>
          </a:p>
        </p:txBody>
      </p:sp>
      <p:sp>
        <p:nvSpPr>
          <p:cNvPr id="347" name="Google Shape;347;g3717af378f7_0_294"/>
          <p:cNvSpPr txBox="1"/>
          <p:nvPr/>
        </p:nvSpPr>
        <p:spPr>
          <a:xfrm>
            <a:off x="3611453" y="3377700"/>
            <a:ext cx="14109000" cy="52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Para finalizar e organizar o seu código, adicione duas linhas no final do &lt;body&gt;: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Uma linha de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comentário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em HTML que diz: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"Fim da descrição do prato."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Logo abaixo do comentário, adicione um último parágrafo visível com o texto: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"Página criada em ??  de ??  de 2025."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(Preencha com a data de hoje)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Verifique o resultado no navegador. O comentário não deve aparecer, mas o parágrafo com a data sim!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8" name="Google Shape;348;g3717af378f7_0_294"/>
          <p:cNvSpPr txBox="1"/>
          <p:nvPr/>
        </p:nvSpPr>
        <p:spPr>
          <a:xfrm>
            <a:off x="2795186" y="4361017"/>
            <a:ext cx="374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9" name="Google Shape;349;g3717af378f7_0_294"/>
          <p:cNvSpPr txBox="1"/>
          <p:nvPr/>
        </p:nvSpPr>
        <p:spPr>
          <a:xfrm>
            <a:off x="2833270" y="7783519"/>
            <a:ext cx="262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g3717af378f7_0_294"/>
          <p:cNvSpPr txBox="1"/>
          <p:nvPr/>
        </p:nvSpPr>
        <p:spPr>
          <a:xfrm>
            <a:off x="3534500" y="2003900"/>
            <a:ext cx="14401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73737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5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7" name="Google Shape;357;p15"/>
          <p:cNvCxnSpPr/>
          <p:nvPr/>
        </p:nvCxnSpPr>
        <p:spPr>
          <a:xfrm rot="10800000">
            <a:off x="1330128" y="16307"/>
            <a:ext cx="0" cy="226811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58" name="Google Shape;358;p15"/>
          <p:cNvGrpSpPr/>
          <p:nvPr/>
        </p:nvGrpSpPr>
        <p:grpSpPr>
          <a:xfrm>
            <a:off x="1396388" y="2987159"/>
            <a:ext cx="16211550" cy="7595338"/>
            <a:chOff x="0" y="-38100"/>
            <a:chExt cx="4269709" cy="2000418"/>
          </a:xfrm>
        </p:grpSpPr>
        <p:sp>
          <p:nvSpPr>
            <p:cNvPr id="359" name="Google Shape;359;p15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15"/>
            <p:cNvSpPr txBox="1"/>
            <p:nvPr/>
          </p:nvSpPr>
          <p:spPr>
            <a:xfrm>
              <a:off x="0" y="-38100"/>
              <a:ext cx="4269709" cy="20004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1" name="Google Shape;361;p15"/>
          <p:cNvSpPr txBox="1"/>
          <p:nvPr/>
        </p:nvSpPr>
        <p:spPr>
          <a:xfrm>
            <a:off x="2043296" y="1189042"/>
            <a:ext cx="7100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Referências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5"/>
          <p:cNvSpPr txBox="1"/>
          <p:nvPr/>
        </p:nvSpPr>
        <p:spPr>
          <a:xfrm>
            <a:off x="2043296" y="962025"/>
            <a:ext cx="4586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3" name="Google Shape;363;p15"/>
          <p:cNvSpPr txBox="1"/>
          <p:nvPr/>
        </p:nvSpPr>
        <p:spPr>
          <a:xfrm>
            <a:off x="1814696" y="3277870"/>
            <a:ext cx="14443800" cy="57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BRASIL. Comitê Gestor da Internet no Brasil – CGI.br. </a:t>
            </a:r>
            <a:r>
              <a:rPr b="1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Cartilha de Segurança para Internet</a:t>
            </a:r>
            <a:r>
              <a:rPr b="0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12. ed. São Paulo: CGI.br, 2023. Disponível em: https://cartilha.cert.br. Acesso em: 02 jul. 2025.</a:t>
            </a:r>
            <a:endParaRPr b="0" i="0" sz="2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W3C – WORLD WIDE WEB CONSORTIUM. </a:t>
            </a:r>
            <a:r>
              <a:rPr b="1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Sobre o W3C</a:t>
            </a:r>
            <a:r>
              <a:rPr b="0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Disponível em:</a:t>
            </a:r>
            <a:r>
              <a:rPr b="0" i="0" lang="en-US" sz="2300" u="none" cap="none" strike="noStrike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-US" sz="2300" u="sng" cap="none" strike="noStrike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6"/>
              </a:rPr>
              <a:t>https://www.w3.org/Consortium/</a:t>
            </a:r>
            <a:r>
              <a:rPr b="0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Acesso em: 02 jul. 2025.</a:t>
            </a:r>
            <a:endParaRPr b="0" i="0" sz="2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MOZILLA. </a:t>
            </a:r>
            <a:r>
              <a:rPr b="1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HTML: HyperText Markup Language</a:t>
            </a:r>
            <a:r>
              <a:rPr b="0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MDN Web Docs. Disponível em:</a:t>
            </a:r>
            <a:r>
              <a:rPr b="0" i="0" lang="en-US" sz="2300" u="none" cap="none" strike="noStrike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-US" sz="2300" u="sng" cap="none" strike="noStrike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8"/>
              </a:rPr>
              <a:t>https://developer.mozilla.org/pt-BR/docs/Web/HTML</a:t>
            </a:r>
            <a:r>
              <a:rPr b="0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Acesso em: 02 jul. 2025.</a:t>
            </a:r>
            <a:endParaRPr b="0" i="0" sz="2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MOZILLA. </a:t>
            </a:r>
            <a:r>
              <a:rPr b="1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CSS: Cascading Style Sheets</a:t>
            </a:r>
            <a:r>
              <a:rPr b="0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MDN Web Docs. Disponível em:</a:t>
            </a:r>
            <a:r>
              <a:rPr b="0" i="0" lang="en-US" sz="2300" u="none" cap="none" strike="noStrike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-US" sz="2300" u="sng" cap="none" strike="noStrike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10"/>
              </a:rPr>
              <a:t>https://developer.mozilla.org/pt-BR/docs/Web/CSS</a:t>
            </a:r>
            <a:r>
              <a:rPr b="0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Acesso em: 02 jul. 2025.</a:t>
            </a:r>
            <a:endParaRPr b="0" i="0" sz="2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REGISTRO.BR. </a:t>
            </a:r>
            <a:r>
              <a:rPr b="1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Registro de domínios .br</a:t>
            </a:r>
            <a:r>
              <a:rPr b="0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Disponível em:</a:t>
            </a:r>
            <a:r>
              <a:rPr b="0" i="0" lang="en-US" sz="2300" u="none" cap="none" strike="noStrike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-US" sz="2300" u="sng" cap="none" strike="noStrike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12"/>
              </a:rPr>
              <a:t>https://registro.br</a:t>
            </a:r>
            <a:r>
              <a:rPr b="0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Acesso em: 02 jul. 2025.</a:t>
            </a:r>
            <a:endParaRPr b="0" i="0" sz="2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HOSTGATOR. </a:t>
            </a:r>
            <a:r>
              <a:rPr b="1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Planos de hospedagem de sites</a:t>
            </a:r>
            <a:r>
              <a:rPr b="0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Disponível em:</a:t>
            </a:r>
            <a:r>
              <a:rPr b="0" i="0" lang="en-US" sz="2300" u="none" cap="none" strike="noStrike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-US" sz="2300" u="sng" cap="none" strike="noStrike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14"/>
              </a:rPr>
              <a:t>https://www.hostgator.com.br</a:t>
            </a:r>
            <a:r>
              <a:rPr b="0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Acesso em: 02 jul. 2025.</a:t>
            </a:r>
            <a:endParaRPr b="0" i="0" sz="2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GITHUB. </a:t>
            </a:r>
            <a:r>
              <a:rPr b="1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GitHub Pages</a:t>
            </a:r>
            <a:r>
              <a:rPr b="0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Disponível em:</a:t>
            </a:r>
            <a:r>
              <a:rPr b="0" i="0" lang="en-US" sz="2300" u="none" cap="none" strike="noStrike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-US" sz="2300" u="sng" cap="none" strike="noStrike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16"/>
              </a:rPr>
              <a:t>https://pages.github.com</a:t>
            </a:r>
            <a:r>
              <a:rPr b="0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Acesso em: 02 jul. 2025.</a:t>
            </a:r>
            <a:endParaRPr b="1" i="0" sz="36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4" name="Google Shape;364;p15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0x01010096047AC9DEFB4747B22467A5254572DF</vt:lpwstr>
  </property>
  <property fmtid="{D5CDD505-2E9C-101B-9397-08002B2CF9AE}" pid="3" name="MediaServiceImageTags">
    <vt:lpwstr/>
  </property>
</Properties>
</file>