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10287000" cx="18288000"/>
  <p:notesSz cx="6858000" cy="9144000"/>
  <p:embeddedFontLst>
    <p:embeddedFont>
      <p:font typeface="Poppins"/>
      <p:regular r:id="rId40"/>
      <p:bold r:id="rId41"/>
      <p:italic r:id="rId42"/>
      <p:boldItalic r:id="rId43"/>
    </p:embeddedFont>
    <p:embeddedFont>
      <p:font typeface="Roboto Mon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8" roundtripDataSignature="AMtx7mgo7U66dX8tEtrkEhQJgn5lIcYR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7DF3F3-1B5D-4750-8BC6-EEB774AEC3D5}">
  <a:tblStyle styleId="{FF7DF3F3-1B5D-4750-8BC6-EEB774AEC3D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regular.fntdata"/><Relationship Id="rId20" Type="http://schemas.openxmlformats.org/officeDocument/2006/relationships/slide" Target="slides/slide14.xml"/><Relationship Id="rId42" Type="http://schemas.openxmlformats.org/officeDocument/2006/relationships/font" Target="fonts/Poppins-italic.fntdata"/><Relationship Id="rId41" Type="http://schemas.openxmlformats.org/officeDocument/2006/relationships/font" Target="fonts/Poppins-bold.fntdata"/><Relationship Id="rId22" Type="http://schemas.openxmlformats.org/officeDocument/2006/relationships/slide" Target="slides/slide16.xml"/><Relationship Id="rId44" Type="http://schemas.openxmlformats.org/officeDocument/2006/relationships/font" Target="fonts/RobotoMono-regular.fntdata"/><Relationship Id="rId21" Type="http://schemas.openxmlformats.org/officeDocument/2006/relationships/slide" Target="slides/slide15.xml"/><Relationship Id="rId43" Type="http://schemas.openxmlformats.org/officeDocument/2006/relationships/font" Target="fonts/Poppins-boldItalic.fntdata"/><Relationship Id="rId24" Type="http://schemas.openxmlformats.org/officeDocument/2006/relationships/slide" Target="slides/slide18.xml"/><Relationship Id="rId46" Type="http://schemas.openxmlformats.org/officeDocument/2006/relationships/font" Target="fonts/RobotoMono-italic.fntdata"/><Relationship Id="rId23" Type="http://schemas.openxmlformats.org/officeDocument/2006/relationships/slide" Target="slides/slide17.xml"/><Relationship Id="rId45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customschemas.google.com/relationships/presentationmetadata" Target="metadata"/><Relationship Id="rId25" Type="http://schemas.openxmlformats.org/officeDocument/2006/relationships/slide" Target="slides/slide19.xml"/><Relationship Id="rId47" Type="http://schemas.openxmlformats.org/officeDocument/2006/relationships/font" Target="fonts/RobotoMono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13842681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Reforce a analogia. "Sem CSS, nossa página é como um documento de texto puro, só com a estrutura. Com CSS, transformamos esse documento em um site visualmente atraente e profissional. Toda a 'magia' do design acontece no CSS."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91" name="Google Shape;91;g38138426811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677c6114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Enfatize que usar atributos como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bgcolor</a:t>
            </a:r>
            <a:r>
              <a:rPr lang="en-US">
                <a:solidFill>
                  <a:schemeClr val="dk1"/>
                </a:solidFill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align</a:t>
            </a:r>
            <a:r>
              <a:rPr lang="en-US">
                <a:solidFill>
                  <a:schemeClr val="dk1"/>
                </a:solidFill>
              </a:rPr>
              <a:t> e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lang="en-US">
                <a:solidFill>
                  <a:schemeClr val="dk1"/>
                </a:solidFill>
              </a:rPr>
              <a:t> no HTML, como vimos na aula de tabelas, quebra essa regra. Mostre que a forma correta é sempre colocar esses estilos no arquivo CSS.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05" name="Google Shape;105;g36677c6114c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5ccec3e75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Diga a eles: "Nosso objetivo em 99% dos casos é usar CSS Externo. Os outros dois existem, mas não são a melhor prática."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19" name="Google Shape;119;g385ccec3e75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5ccec3e7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Desenhe a anatomia da regra CSS no quadro. Diga: "O seletor é a parte mais poderosa do CSS. Aprender a selecionar os elementos certos é o que nos permite criar qualquer design."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g385ccec3e75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5ccec3e75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Explique que o CSS Inline é como dar uma ordem direta a um funcionário. Ninguém pode contestar, mas se você der 1000 ordens diretas, a empresa fica um caos. Por isso, evitamos.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48" name="Google Shape;148;g385ccec3e75_0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5ccec3e7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Desenhe a anatomia da regra CSS no quadro. Diga: "O seletor é a parte mais poderosa do CSS. Aprender a selecionar os elementos certos é o que nos permite criar qualquer design."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62" name="Google Shape;162;g385ccec3e75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5ccec3e7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85ccec3e75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5ccec3e7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Desenhe a anatomia da regra CSS no quadro. Diga: "O seletor é a parte mais poderosa do CSS. Aprender a selecionar os elementos certos é o que nos permite criar qualquer design."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85" name="Google Shape;185;g385ccec3e75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5ccec3e7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Desenhe a anatomia da regra CSS no quadro. Diga: "O seletor é a parte mais poderosa do CSS. Aprender a selecionar os elementos certos é o que nos permite criar qualquer design."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00" name="Google Shape;200;g385ccec3e75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85ccec3e7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Desenhe a anatomia da regra CSS no quadro. Diga: "O seletor é a parte mais poderosa do CSS. Aprender a selecionar os elementos certos é o que nos permite criar qualquer design."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16" name="Google Shape;216;g385ccec3e75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85ccec3e75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g385ccec3e75_0_1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85ccec3e75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Use a analogia do relógio para memorizar a ordem: Topo (12h), Direita (3h), Baixo (6h), Esquerda (9h).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41" name="Google Shape;241;g385ccec3e75_0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5ccec3e75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Diga: "De hoje em diante, tentem sempre usar a forma abreviada. Seu código ficará mais limpo, mais rápido de escrever e mais fácil de ler."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60" name="Google Shape;260;g385ccec3e75_0_1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85ccec3e75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g385ccec3e75_0_2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85ccec3e75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Diga: "De hoje em diante, tentem sempre usar a forma abreviada. Seu código ficará mais limpo, mais rápido de escrever e mais fácil de ler."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87" name="Google Shape;287;g385ccec3e75_0_2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85ccec3e75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Diga: "De hoje em diante, tentem sempre usar a forma abreviada. Seu código ficará mais limpo, mais rápido de escrever e mais fácil de ler."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03" name="Google Shape;303;g385ccec3e75_0_2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85ccec3e75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Diga: "De hoje em diante, tentem sempre usar a forma abreviada. Seu código ficará mais limpo, mais rápido de escrever e mais fácil de ler."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19" name="Google Shape;319;g385ccec3e75_0_2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85ccec3e75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Diga: "De hoje em diante, tentem sempre usar a forma abreviada. Seu código ficará mais limpo, mais rápido de escrever e mais fácil de ler."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35" name="Google Shape;335;g385ccec3e75_0_2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85ccec3e75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" name="Google Shape;351;g385ccec3e75_0_3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85ccec3e75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Este é o comportamento mais básico. A "cascata" flui de cima para baixo no seu arquivo de estilo.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60" name="Google Shape;360;g385ccec3e75_0_3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85ccec3e75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Diga: "90% dos problemas de 'por que meu CSS não funciona?' são resolvidos entendendo a especificidade. Se seu estilo não está sendo aplicado, provavelmente existe uma regra mais específica em outro lugar do seu código que está vencendo."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77" name="Google Shape;377;g385ccec3e75_0_3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85ccec3e75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Reforce que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!important</a:t>
            </a:r>
            <a:r>
              <a:rPr lang="en-US">
                <a:solidFill>
                  <a:schemeClr val="dk1"/>
                </a:solidFill>
              </a:rPr>
              <a:t> existe, mas é uma má prática e deve ser evitado ao máximo. Não ensine a usar, apenas mencione que existe e causa problemas.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94" name="Google Shape;394;g385ccec3e75_0_3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85ccec3e75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g385ccec3e75_0_4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85ccec3e75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Reforce que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!important</a:t>
            </a:r>
            <a:r>
              <a:rPr lang="en-US">
                <a:solidFill>
                  <a:schemeClr val="dk1"/>
                </a:solidFill>
              </a:rPr>
              <a:t> existe, mas é uma má prática e deve ser evitado ao máximo. Não ensine a usar, apenas mencione que existe e causa problemas.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418" name="Google Shape;418;g385ccec3e75_0_4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85ccec3e75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Reforce que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!important</a:t>
            </a:r>
            <a:r>
              <a:rPr lang="en-US">
                <a:solidFill>
                  <a:schemeClr val="dk1"/>
                </a:solidFill>
              </a:rPr>
              <a:t> existe, mas é uma má prática e deve ser evitado ao máximo. Não ensine a usar, apenas mencione que existe e causa problemas.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434" name="Google Shape;434;g385ccec3e75_0_4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85ccec3e75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Reforce que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!important</a:t>
            </a:r>
            <a:r>
              <a:rPr lang="en-US">
                <a:solidFill>
                  <a:schemeClr val="dk1"/>
                </a:solidFill>
              </a:rPr>
              <a:t> existe, mas é uma má prática e deve ser evitado ao máximo. Não ensine a usar, apenas mencione que existe e causa problemas.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450" name="Google Shape;450;g385ccec3e75_0_4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717af378f7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6" name="Google Shape;466;g3717af378f7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717af378f7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0" name="Google Shape;480;g3717af378f7_0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717af378f7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8" name="Google Shape;498;g3717af378f7_0_2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717af378f7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6" name="Google Shape;516;g3717af378f7_0_2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717af378f7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5" name="Google Shape;535;g3717af378f7_0_2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3" name="Google Shape;55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hyperlink" Target="https://jigsaw.w3.org/css-validator/" TargetMode="External"/><Relationship Id="rId6" Type="http://schemas.openxmlformats.org/officeDocument/2006/relationships/hyperlink" Target="https://jigsaw.w3.org/css-validator/" TargetMode="External"/><Relationship Id="rId7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11" Type="http://schemas.openxmlformats.org/officeDocument/2006/relationships/image" Target="../media/image4.png"/><Relationship Id="rId10" Type="http://schemas.openxmlformats.org/officeDocument/2006/relationships/hyperlink" Target="https://www.google.com/search?q=https://www.w3schools.com/css/css_shorthand.asp" TargetMode="External"/><Relationship Id="rId9" Type="http://schemas.openxmlformats.org/officeDocument/2006/relationships/hyperlink" Target="https://www.google.com/search?q=https://www.w3schools.com/css/css_shorthand.asp" TargetMode="External"/><Relationship Id="rId5" Type="http://schemas.openxmlformats.org/officeDocument/2006/relationships/hyperlink" Target="https://developer.mozilla.org/pt-BR/docs/Web/CSS/CSS_Selectors" TargetMode="External"/><Relationship Id="rId6" Type="http://schemas.openxmlformats.org/officeDocument/2006/relationships/hyperlink" Target="https://developer.mozilla.org/pt-BR/docs/Web/CSS/CSS_Selectors" TargetMode="External"/><Relationship Id="rId7" Type="http://schemas.openxmlformats.org/officeDocument/2006/relationships/hyperlink" Target="https://developer.mozilla.org/en-US/docs/Web/CSS/Specificity" TargetMode="External"/><Relationship Id="rId8" Type="http://schemas.openxmlformats.org/officeDocument/2006/relationships/hyperlink" Target="https://developer.mozilla.org/en-US/docs/Web/CSS/Specificit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075550" y="4742550"/>
            <a:ext cx="141369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Estilização de Páginas: CSS</a:t>
            </a:r>
            <a:endParaRPr b="1" i="0" sz="76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163647" y="1420838"/>
            <a:ext cx="59607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138426811_0_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8138426811_0_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g38138426811_0_4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g38138426811_0_4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97" name="Google Shape;97;g38138426811_0_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g38138426811_0_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g38138426811_0_4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Que é CSS e Por Que Usamos?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8138426811_0_4"/>
          <p:cNvSpPr txBox="1"/>
          <p:nvPr/>
        </p:nvSpPr>
        <p:spPr>
          <a:xfrm>
            <a:off x="2043299" y="962025"/>
            <a:ext cx="54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</a:t>
            </a: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Estilização com CSS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g38138426811_0_4"/>
          <p:cNvSpPr txBox="1"/>
          <p:nvPr/>
        </p:nvSpPr>
        <p:spPr>
          <a:xfrm>
            <a:off x="1814700" y="3430275"/>
            <a:ext cx="15553800" cy="6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Até agora, focamos no HTML, 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esqueleto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da nossa página. O HTML dá estrutura e significado ao conteúdo.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 (Cascading Style Sheets - Folhas de Estilo em Cascata)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é a linguagem que usamos para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vestir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esse esqueleto. A função do CSS é controlar toda a apresentação visual da página: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Cores e imagens de fundo.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Fontes, tamanhos e cores de texto.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Espaçamentos, margens e bordas.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Posição dos elementos na tela (layout).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 resumo: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HTML é o conteúdo, CSS é a aparência.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g38138426811_0_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677c6114c_0_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6677c6114c_0_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g36677c6114c_0_4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0" name="Google Shape;110;g36677c6114c_0_4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11" name="Google Shape;111;g36677c6114c_0_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g36677c6114c_0_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g36677c6114c_0_4"/>
          <p:cNvSpPr txBox="1"/>
          <p:nvPr/>
        </p:nvSpPr>
        <p:spPr>
          <a:xfrm>
            <a:off x="2043300" y="1189050"/>
            <a:ext cx="155538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Padrões W3C: A Separação de Responsabilidades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6677c6114c_0_4"/>
          <p:cNvSpPr txBox="1"/>
          <p:nvPr/>
        </p:nvSpPr>
        <p:spPr>
          <a:xfrm>
            <a:off x="2043299" y="962025"/>
            <a:ext cx="54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</a:t>
            </a: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Estilização com CSS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g36677c6114c_0_4"/>
          <p:cNvSpPr txBox="1"/>
          <p:nvPr/>
        </p:nvSpPr>
        <p:spPr>
          <a:xfrm>
            <a:off x="1814700" y="3430275"/>
            <a:ext cx="15438000" cy="6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W3C, que define os padrões da web, estabelece uma regra fundamental: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separação de responsabilidades (Separation of Concerns)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HTML: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Deve cuidar exclusivamente da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estrutura e semântica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Deve cuidar exclusivamente da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apresentação e estilo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JavaScript: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Deve cuidar exclusivamente do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comportamento e interatividade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 que isso é tão importante?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Manutenção: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É muito mais fácil atualizar o design de um site mexendo apenas em um arquivo .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sem precisar tocar em centenas de arquivos .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html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Reutilização: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Um mesmo arquivo de estilo pode ser usado em várias páginas.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Código Limpo: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 código fica mais organizado e legível.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Validação W3C: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Assim como validamos nosso HTML, também podemos validar nosso CSS para garantir que ele segue os padrões: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Validador CSS da W3C:</a:t>
            </a:r>
            <a:r>
              <a:rPr lang="en-US" sz="24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jigsaw.w3.org/css-validator/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g36677c6114c_0_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5ccec3e75_0_1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85ccec3e75_0_11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g385ccec3e75_0_111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4" name="Google Shape;124;g385ccec3e75_0_111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25" name="Google Shape;125;g385ccec3e75_0_11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g385ccec3e75_0_11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g385ccec3e75_0_111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Formas de Adicionar CSS ao HTML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85ccec3e75_0_111"/>
          <p:cNvSpPr txBox="1"/>
          <p:nvPr/>
        </p:nvSpPr>
        <p:spPr>
          <a:xfrm>
            <a:off x="2043299" y="962025"/>
            <a:ext cx="54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</a:t>
            </a: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Estilização com CSS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g385ccec3e75_0_111"/>
          <p:cNvSpPr txBox="1"/>
          <p:nvPr/>
        </p:nvSpPr>
        <p:spPr>
          <a:xfrm>
            <a:off x="1814700" y="3430275"/>
            <a:ext cx="15438000" cy="6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Existem três maneiras de aplicar estilos CSS a um documento HTML. Cada uma tem seu lugar, mas uma é a mais recomendada.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 Externo (External Stylesheet):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Um arquivo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.css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separado, linkado no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&lt;head&gt;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 HTML 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&lt;link rel="stylesheet" href="style.css"&gt;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Quando usar: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SEMPRE que possível!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É a forma mais organizada, permite reutilização e separação de responsabilidades.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 Interno (Internal Stylesheet):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As regras CSS são escritas dentro da tag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&lt;style&gt;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&lt;head&gt;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 HTML.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Quando usar: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estilos específicos 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uma única página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que não serão reutilizados em outras. Não é a melhor prática para projetos grandes.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 Inline (Inline Style):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As regras CSS são escritas diretamente no atributo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style=""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uma tag HTML.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Quando usar: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Evite ao máximo!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Quebra completamente a separação de responsabilidades, é difícil de manter e não é reutilizável. Use apenas em casos muito, muito específicos (ex: testes rápidos).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" name="Google Shape;130;g385ccec3e75_0_11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5ccec3e75_0_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85ccec3e75_0_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g385ccec3e75_0_7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8" name="Google Shape;138;g385ccec3e75_0_7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39" name="Google Shape;139;g385ccec3e75_0_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g385ccec3e75_0_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g385ccec3e75_0_7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Como o CSS Funciona? A Regra CSS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85ccec3e75_0_7"/>
          <p:cNvSpPr txBox="1"/>
          <p:nvPr/>
        </p:nvSpPr>
        <p:spPr>
          <a:xfrm>
            <a:off x="2043299" y="962025"/>
            <a:ext cx="54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</a:t>
            </a: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Estilização com CSS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g385ccec3e75_0_7"/>
          <p:cNvSpPr txBox="1"/>
          <p:nvPr/>
        </p:nvSpPr>
        <p:spPr>
          <a:xfrm>
            <a:off x="1814700" y="3430275"/>
            <a:ext cx="15438000" cy="22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aplicar um estilo, escrevemos "regras" em nosso arquivo .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Toda regra CSS é composta por três partes: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Seletor: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 alvo da nossa regra. É ele quem diz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qual(is) elemento(s) HTML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queremos estilizar.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Propriedade: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 atributo visual que queremos alterar (ex: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color, background-color, font-size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Valor: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 novo valor que queremos para a propriedade (ex: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blue, #FFFFFF, 16px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g385ccec3e75_0_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85ccec3e75_0_7"/>
          <p:cNvSpPr txBox="1"/>
          <p:nvPr/>
        </p:nvSpPr>
        <p:spPr>
          <a:xfrm>
            <a:off x="6676850" y="5919900"/>
            <a:ext cx="4736100" cy="4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Exemplo de uma Regra CSS */</a:t>
            </a:r>
            <a:endParaRPr sz="20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/*seletor {</a:t>
            </a:r>
            <a:endParaRPr sz="20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propriedade: valor;</a:t>
            </a:r>
            <a:endParaRPr sz="20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outra-propriedade: outro-valor;</a:t>
            </a:r>
            <a:endParaRPr sz="20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}*/</a:t>
            </a:r>
            <a:endParaRPr sz="20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Exemplo Prático */</a:t>
            </a:r>
            <a:endParaRPr sz="20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0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color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0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blue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0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font-size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0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16px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5ccec3e75_0_12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85ccec3e75_0_12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g385ccec3e75_0_128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3" name="Google Shape;153;g385ccec3e75_0_128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54" name="Google Shape;154;g385ccec3e75_0_12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g385ccec3e75_0_12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g385ccec3e75_0_128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Como o CSS Funciona? A Regra CSS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85ccec3e75_0_128"/>
          <p:cNvSpPr txBox="1"/>
          <p:nvPr/>
        </p:nvSpPr>
        <p:spPr>
          <a:xfrm>
            <a:off x="2043299" y="962025"/>
            <a:ext cx="54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</a:t>
            </a: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Estilização com CSS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g385ccec3e75_0_128"/>
          <p:cNvSpPr txBox="1"/>
          <p:nvPr/>
        </p:nvSpPr>
        <p:spPr>
          <a:xfrm>
            <a:off x="1814700" y="3430275"/>
            <a:ext cx="15438000" cy="6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Quando há conflitos (o mesmo elemento recebe estilos diferentes de várias fontes), o CSS tem uma hierarquia clara para decidir qual estilo será aplicado. Essa hierarquia é fundamental para entender "por que meu CSS não está funcionando?".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ordem geral, do mais importante para o menos importante, é: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 Inline (&lt;p style="color: red;"&gt;)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Sempre vence, pois está diretamente no elemento. É muito específico, mas por isso mesmo, é difícil de gerenciar e por isso é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desencorajado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 Interno (&lt;style&gt;)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Vence o CSS externo se tiver a mesma especificidade e vier depois.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 Externo (&lt;link&gt;)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É a forma recomendada. Se houver múltiplas regras de CSS Externo, a que aparece por último na tag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&lt;head&gt;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tem maior especificidade, vence.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Estilos Padrão do Navegador (User Agent Stylesheet)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Cada navegador tem um CSS padrão que aplica um estilo básico a todas as tags (ex: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&lt;h1&gt;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já vem com fonte maior e negrito). Nossos estilos sempre sobrescrevem os do navegador.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g385ccec3e75_0_12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5ccec3e75_0_2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85ccec3e75_0_2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g385ccec3e75_0_27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7" name="Google Shape;167;g385ccec3e75_0_27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68" name="Google Shape;168;g385ccec3e75_0_2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g385ccec3e75_0_2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g385ccec3e75_0_27"/>
          <p:cNvSpPr txBox="1"/>
          <p:nvPr/>
        </p:nvSpPr>
        <p:spPr>
          <a:xfrm>
            <a:off x="2043300" y="1189050"/>
            <a:ext cx="155538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Poder dos Seletores: 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Do Básico ao Avançado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85ccec3e75_0_27"/>
          <p:cNvSpPr txBox="1"/>
          <p:nvPr/>
        </p:nvSpPr>
        <p:spPr>
          <a:xfrm>
            <a:off x="2043299" y="962025"/>
            <a:ext cx="54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</a:t>
            </a: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Estilização com CSS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2" name="Google Shape;172;g385ccec3e75_0_27"/>
          <p:cNvSpPr txBox="1"/>
          <p:nvPr/>
        </p:nvSpPr>
        <p:spPr>
          <a:xfrm>
            <a:off x="1783225" y="3429000"/>
            <a:ext cx="15438000" cy="36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Até agora, usamos apenas um tipo de seletor: 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seletor de tag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Mas e se quisermos estilizar: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Apenas </a:t>
            </a:r>
            <a:r>
              <a:rPr i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parágrafo específico?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grupo de elementos?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parágrafo que está </a:t>
            </a:r>
            <a:r>
              <a:rPr i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dentro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um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&lt;footer&gt;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link que está </a:t>
            </a:r>
            <a:r>
              <a:rPr i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imediatamente após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um título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&lt;h2&gt;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isso, o CSS nos oferece uma gama completa de seletores, desde os básicos até os combinadores e de atributos.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g385ccec3e75_0_2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5ccec3e75_0_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85ccec3e75_0_43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85ccec3e75_0_43"/>
          <p:cNvSpPr txBox="1"/>
          <p:nvPr/>
        </p:nvSpPr>
        <p:spPr>
          <a:xfrm>
            <a:off x="2075550" y="4742550"/>
            <a:ext cx="141369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Parte I: Seletores Básicos</a:t>
            </a:r>
            <a:endParaRPr b="1" i="0" sz="76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g385ccec3e75_0_43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" name="Google Shape;182;g385ccec3e75_0_43"/>
          <p:cNvSpPr txBox="1"/>
          <p:nvPr/>
        </p:nvSpPr>
        <p:spPr>
          <a:xfrm>
            <a:off x="6163647" y="1420838"/>
            <a:ext cx="59607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5ccec3e75_0_5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85ccec3e75_0_5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g385ccec3e75_0_52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0" name="Google Shape;190;g385ccec3e75_0_52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91" name="Google Shape;191;g385ccec3e75_0_5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g385ccec3e75_0_5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" name="Google Shape;193;g385ccec3e75_0_52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Seletor de Tag (ou Tipo)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85ccec3e75_0_52"/>
          <p:cNvSpPr txBox="1"/>
          <p:nvPr/>
        </p:nvSpPr>
        <p:spPr>
          <a:xfrm>
            <a:off x="2043299" y="962025"/>
            <a:ext cx="54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</a:t>
            </a: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Seletores Básicos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5" name="Google Shape;195;g385ccec3e75_0_52"/>
          <p:cNvSpPr txBox="1"/>
          <p:nvPr/>
        </p:nvSpPr>
        <p:spPr>
          <a:xfrm>
            <a:off x="1783225" y="3429000"/>
            <a:ext cx="15438000" cy="15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Seleciona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TODOS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os elementos de um determinado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tipo de tag HTML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na página.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Sintaxe: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nome-da-tag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 (style.css):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6" name="Google Shape;196;g385ccec3e75_0_5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85ccec3e75_0_52"/>
          <p:cNvSpPr txBox="1"/>
          <p:nvPr/>
        </p:nvSpPr>
        <p:spPr>
          <a:xfrm>
            <a:off x="3912325" y="5858763"/>
            <a:ext cx="11179800" cy="15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color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blue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Deixa todos os parágrafos azuis */</a:t>
            </a:r>
            <a:endParaRPr sz="24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5ccec3e75_0_6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85ccec3e75_0_6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g385ccec3e75_0_69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5" name="Google Shape;205;g385ccec3e75_0_69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206" name="Google Shape;206;g385ccec3e75_0_6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g385ccec3e75_0_6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g385ccec3e75_0_69"/>
          <p:cNvSpPr txBox="1"/>
          <p:nvPr/>
        </p:nvSpPr>
        <p:spPr>
          <a:xfrm>
            <a:off x="2043300" y="1189050"/>
            <a:ext cx="155538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Seletor de Classe (.): 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Estilizando Grupos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85ccec3e75_0_69"/>
          <p:cNvSpPr txBox="1"/>
          <p:nvPr/>
        </p:nvSpPr>
        <p:spPr>
          <a:xfrm>
            <a:off x="2043299" y="962025"/>
            <a:ext cx="54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</a:t>
            </a: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Seletores Básicos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" name="Google Shape;210;g385ccec3e75_0_69"/>
          <p:cNvSpPr txBox="1"/>
          <p:nvPr/>
        </p:nvSpPr>
        <p:spPr>
          <a:xfrm>
            <a:off x="1783225" y="3429000"/>
            <a:ext cx="15438000" cy="3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Permite criar um "rótulo" 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 que pode ser aplicado 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vários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elementos para que recebam o mesmo estilo. É o seletor mais reutilizável.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Sintaxe: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.nome-da-classe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HTML: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1" name="Google Shape;211;g385ccec3e75_0_6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85ccec3e75_0_69"/>
          <p:cNvSpPr txBox="1"/>
          <p:nvPr/>
        </p:nvSpPr>
        <p:spPr>
          <a:xfrm>
            <a:off x="3554100" y="5380788"/>
            <a:ext cx="111798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&lt;p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class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en-US" sz="2400">
                <a:solidFill>
                  <a:srgbClr val="0000FF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"alerta"</a:t>
            </a: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&gt;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Atenção: este é um aviso importante.</a:t>
            </a: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&lt;/p&gt;</a:t>
            </a:r>
            <a:endParaRPr sz="24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&lt;div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class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en-US" sz="2400">
                <a:solidFill>
                  <a:srgbClr val="0000FF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"alerta"</a:t>
            </a: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&gt;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Verifique os dados.</a:t>
            </a: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&lt;/div&gt;</a:t>
            </a:r>
            <a:endParaRPr sz="24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.alerta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color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red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font-weight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bold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3" name="Google Shape;213;g385ccec3e75_0_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18021" y="7371150"/>
            <a:ext cx="7185950" cy="179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5ccec3e75_0_9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85ccec3e75_0_9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g385ccec3e75_0_90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1" name="Google Shape;221;g385ccec3e75_0_90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222" name="Google Shape;222;g385ccec3e75_0_9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g385ccec3e75_0_9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g385ccec3e75_0_90"/>
          <p:cNvSpPr txBox="1"/>
          <p:nvPr/>
        </p:nvSpPr>
        <p:spPr>
          <a:xfrm>
            <a:off x="2043300" y="1189050"/>
            <a:ext cx="155538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Seletor de ID (#): 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Estilizando um Elemento Único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85ccec3e75_0_90"/>
          <p:cNvSpPr txBox="1"/>
          <p:nvPr/>
        </p:nvSpPr>
        <p:spPr>
          <a:xfrm>
            <a:off x="2043299" y="962025"/>
            <a:ext cx="54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</a:t>
            </a: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Seletores Básicos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g385ccec3e75_0_90"/>
          <p:cNvSpPr txBox="1"/>
          <p:nvPr/>
        </p:nvSpPr>
        <p:spPr>
          <a:xfrm>
            <a:off x="1783225" y="3429000"/>
            <a:ext cx="15438000" cy="3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Seleciona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E APENAS UM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elemento único na página. O valor de um id deve ser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exclusivo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Sintaxe: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#nome-do-id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HTML: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7" name="Google Shape;227;g385ccec3e75_0_9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85ccec3e75_0_90"/>
          <p:cNvSpPr txBox="1"/>
          <p:nvPr/>
        </p:nvSpPr>
        <p:spPr>
          <a:xfrm>
            <a:off x="3554100" y="5031438"/>
            <a:ext cx="11179800" cy="45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&lt;header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id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en-US" sz="2400">
                <a:solidFill>
                  <a:srgbClr val="0000FF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"cabecalho-principal"</a:t>
            </a: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4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    </a:t>
            </a: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&lt;h1&gt;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Meu Site</a:t>
            </a: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&lt;/h1&gt;</a:t>
            </a:r>
            <a:endParaRPr sz="24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&lt;/header&gt;</a:t>
            </a:r>
            <a:endParaRPr sz="24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#cabecalho-principal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background-color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#333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color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white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" name="Google Shape;229;g385ccec3e75_0_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65789" y="6940325"/>
            <a:ext cx="6562075" cy="247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85ccec3e75_0_1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85ccec3e75_0_143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85ccec3e75_0_143"/>
          <p:cNvSpPr txBox="1"/>
          <p:nvPr/>
        </p:nvSpPr>
        <p:spPr>
          <a:xfrm>
            <a:off x="2075550" y="4742550"/>
            <a:ext cx="14136900" cy="25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Parte II: Propriedades Abreviadas (Shorthand)</a:t>
            </a:r>
            <a:endParaRPr b="1" i="0" sz="76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7" name="Google Shape;237;g385ccec3e75_0_143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8" name="Google Shape;238;g385ccec3e75_0_143"/>
          <p:cNvSpPr txBox="1"/>
          <p:nvPr/>
        </p:nvSpPr>
        <p:spPr>
          <a:xfrm>
            <a:off x="6163647" y="1420838"/>
            <a:ext cx="59607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85ccec3e75_0_15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85ccec3e75_0_15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g385ccec3e75_0_151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6" name="Google Shape;246;g385ccec3e75_0_151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247" name="Google Shape;247;g385ccec3e75_0_15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g385ccec3e75_0_15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g385ccec3e75_0_151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Escrevendo CSS de Forma Eficiente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85ccec3e75_0_151"/>
          <p:cNvSpPr txBox="1"/>
          <p:nvPr/>
        </p:nvSpPr>
        <p:spPr>
          <a:xfrm>
            <a:off x="2043299" y="962025"/>
            <a:ext cx="54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</a:t>
            </a: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Shorthand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1" name="Google Shape;251;g385ccec3e75_0_151"/>
          <p:cNvSpPr txBox="1"/>
          <p:nvPr/>
        </p:nvSpPr>
        <p:spPr>
          <a:xfrm>
            <a:off x="1783225" y="3429000"/>
            <a:ext cx="15438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Muitas propriedades CSS que definem os lados de uma caixa (como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margin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padding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border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 podem ser escritas de forma longa (longhand) ou abreviada (shorthand). A forma abreviada é a prática profissional.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2" name="Google Shape;252;g385ccec3e75_0_15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85ccec3e75_0_151"/>
          <p:cNvSpPr txBox="1"/>
          <p:nvPr/>
        </p:nvSpPr>
        <p:spPr>
          <a:xfrm>
            <a:off x="1783224" y="6468200"/>
            <a:ext cx="390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4" name="Google Shape;254;g385ccec3e75_0_151"/>
          <p:cNvSpPr txBox="1"/>
          <p:nvPr/>
        </p:nvSpPr>
        <p:spPr>
          <a:xfrm>
            <a:off x="6638025" y="4910600"/>
            <a:ext cx="7744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85ccec3e75_0_151"/>
          <p:cNvSpPr txBox="1"/>
          <p:nvPr/>
        </p:nvSpPr>
        <p:spPr>
          <a:xfrm>
            <a:off x="1783225" y="4910600"/>
            <a:ext cx="450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6" name="Google Shape;256;g385ccec3e75_0_151"/>
          <p:cNvGraphicFramePr/>
          <p:nvPr/>
        </p:nvGraphicFramePr>
        <p:xfrm>
          <a:off x="1783225" y="46967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{FF7DF3F3-1B5D-4750-8BC6-EEB774AEC3D5}</a:tableStyleId>
              </a:tblPr>
              <a:tblGrid>
                <a:gridCol w="5059300"/>
                <a:gridCol w="5059300"/>
                <a:gridCol w="5059300"/>
              </a:tblGrid>
              <a:tr h="2289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Exemplo com padding (Longhand - Repetitivo): </a:t>
                      </a:r>
                      <a:endParaRPr sz="3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Exemplo com padding (Shorthand - Eficiente):</a:t>
                      </a:r>
                      <a:endParaRPr b="1" sz="24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 ordem é </a:t>
                      </a:r>
                      <a:r>
                        <a:rPr b="1" lang="en-US" sz="24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Topo, Direita, Baixo, Esquerda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(sentido horário).</a:t>
                      </a:r>
                      <a:endParaRPr sz="3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 o valor de </a:t>
                      </a:r>
                      <a:r>
                        <a:rPr b="1" lang="en-US" sz="24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cima/baixo</a:t>
                      </a:r>
                      <a:r>
                        <a:rPr lang="en-US" sz="24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e </a:t>
                      </a:r>
                      <a:r>
                        <a:rPr b="1" lang="en-US" sz="24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direita/esquerda</a:t>
                      </a:r>
                      <a:r>
                        <a:rPr lang="en-US" sz="24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for igual, podemos abreviar mais ainda:</a:t>
                      </a:r>
                      <a:endParaRPr sz="24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</a:tr>
              <a:tr h="2910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80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.caixa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{</a:t>
                      </a:r>
                      <a:endParaRPr sz="24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</a:t>
                      </a:r>
                      <a:r>
                        <a:rPr lang="en-US" sz="2400">
                          <a:solidFill>
                            <a:srgbClr val="E5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padding-top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: </a:t>
                      </a:r>
                      <a:r>
                        <a:rPr lang="en-US" sz="2400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10px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;</a:t>
                      </a:r>
                      <a:endParaRPr sz="24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</a:t>
                      </a:r>
                      <a:r>
                        <a:rPr lang="en-US" sz="2400">
                          <a:solidFill>
                            <a:srgbClr val="E5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padding-right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: </a:t>
                      </a:r>
                      <a:r>
                        <a:rPr lang="en-US" sz="2400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20px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;</a:t>
                      </a:r>
                      <a:endParaRPr sz="24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</a:t>
                      </a:r>
                      <a:r>
                        <a:rPr lang="en-US" sz="2400">
                          <a:solidFill>
                            <a:srgbClr val="E5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padding-bottom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: </a:t>
                      </a:r>
                      <a:r>
                        <a:rPr lang="en-US" sz="2400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10px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;</a:t>
                      </a:r>
                      <a:endParaRPr sz="24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</a:t>
                      </a:r>
                      <a:r>
                        <a:rPr lang="en-US" sz="2400">
                          <a:solidFill>
                            <a:srgbClr val="E5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padding-left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: </a:t>
                      </a:r>
                      <a:r>
                        <a:rPr lang="en-US" sz="2400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20px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;</a:t>
                      </a:r>
                      <a:endParaRPr sz="24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}</a:t>
                      </a:r>
                      <a:endParaRPr sz="1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80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.caixa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{</a:t>
                      </a:r>
                      <a:endParaRPr sz="24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</a:t>
                      </a:r>
                      <a:r>
                        <a:rPr lang="en-US" sz="2400">
                          <a:solidFill>
                            <a:srgbClr val="E5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padding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: </a:t>
                      </a:r>
                      <a:r>
                        <a:rPr lang="en-US" sz="2400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10px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r>
                        <a:rPr lang="en-US" sz="2400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20px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r>
                        <a:rPr lang="en-US" sz="2400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10px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r>
                        <a:rPr lang="en-US" sz="2400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20px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; </a:t>
                      </a:r>
                      <a:endParaRPr sz="24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}</a:t>
                      </a:r>
                      <a:endParaRPr sz="2400">
                        <a:solidFill>
                          <a:srgbClr val="800000"/>
                        </a:solidFill>
                        <a:highlight>
                          <a:srgbClr val="FFFFFF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80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.caixa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{</a:t>
                      </a:r>
                      <a:endParaRPr sz="24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</a:t>
                      </a:r>
                      <a:r>
                        <a:rPr lang="en-US" sz="2400">
                          <a:solidFill>
                            <a:srgbClr val="E5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padding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: </a:t>
                      </a:r>
                      <a:r>
                        <a:rPr lang="en-US" sz="2400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10px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r>
                        <a:rPr lang="en-US" sz="2400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20px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;  </a:t>
                      </a:r>
                      <a:r>
                        <a:rPr lang="en-US" sz="240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/* 10px para topo/baixo, 20px para laterais */</a:t>
                      </a:r>
                      <a:endParaRPr sz="2400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}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7" name="Google Shape;257;g385ccec3e75_0_151"/>
          <p:cNvSpPr txBox="1"/>
          <p:nvPr/>
        </p:nvSpPr>
        <p:spPr>
          <a:xfrm>
            <a:off x="6638024" y="6545831"/>
            <a:ext cx="390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85ccec3e75_0_19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85ccec3e75_0_19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g385ccec3e75_0_196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5" name="Google Shape;265;g385ccec3e75_0_196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266" name="Google Shape;266;g385ccec3e75_0_19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g385ccec3e75_0_19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8" name="Google Shape;268;g385ccec3e75_0_196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Exemplo Clássico: Bordas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85ccec3e75_0_196"/>
          <p:cNvSpPr txBox="1"/>
          <p:nvPr/>
        </p:nvSpPr>
        <p:spPr>
          <a:xfrm>
            <a:off x="2043299" y="962025"/>
            <a:ext cx="54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</a:t>
            </a: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Shorthand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0" name="Google Shape;270;g385ccec3e75_0_196"/>
          <p:cNvSpPr txBox="1"/>
          <p:nvPr/>
        </p:nvSpPr>
        <p:spPr>
          <a:xfrm>
            <a:off x="1783225" y="3429000"/>
            <a:ext cx="15438000" cy="6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propriedade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border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é o melhor exemplo de shorthand.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Outras propriedades como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font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background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também possuem suas formas abreviadas, que aprenderemos com a prática.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1" name="Google Shape;271;g385ccec3e75_0_19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85ccec3e75_0_196"/>
          <p:cNvSpPr txBox="1"/>
          <p:nvPr/>
        </p:nvSpPr>
        <p:spPr>
          <a:xfrm>
            <a:off x="1783224" y="6468200"/>
            <a:ext cx="390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3" name="Google Shape;273;g385ccec3e75_0_196"/>
          <p:cNvSpPr txBox="1"/>
          <p:nvPr/>
        </p:nvSpPr>
        <p:spPr>
          <a:xfrm>
            <a:off x="6638025" y="4910600"/>
            <a:ext cx="7744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85ccec3e75_0_196"/>
          <p:cNvSpPr txBox="1"/>
          <p:nvPr/>
        </p:nvSpPr>
        <p:spPr>
          <a:xfrm>
            <a:off x="1783225" y="4910600"/>
            <a:ext cx="450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5" name="Google Shape;275;g385ccec3e75_0_196"/>
          <p:cNvGraphicFramePr/>
          <p:nvPr/>
        </p:nvGraphicFramePr>
        <p:xfrm>
          <a:off x="2587900" y="40653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{FF7DF3F3-1B5D-4750-8BC6-EEB774AEC3D5}</a:tableStyleId>
              </a:tblPr>
              <a:tblGrid>
                <a:gridCol w="6556100"/>
                <a:gridCol w="6556100"/>
              </a:tblGrid>
              <a:tr h="1976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Longhand (Forma longa e verbosa):</a:t>
                      </a:r>
                      <a:endParaRPr sz="24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Shorthand (Forma profissional e concisa):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Podemos declarar tudo em uma única linha, sem uma ordem específica.</a:t>
                      </a:r>
                      <a:endParaRPr sz="24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</a:tr>
              <a:tr h="2513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80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.caixa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{</a:t>
                      </a:r>
                      <a:endParaRPr sz="24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</a:t>
                      </a:r>
                      <a:r>
                        <a:rPr lang="en-US" sz="2400">
                          <a:solidFill>
                            <a:srgbClr val="E5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border-width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: </a:t>
                      </a:r>
                      <a:r>
                        <a:rPr lang="en-US" sz="2400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1px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;</a:t>
                      </a:r>
                      <a:endParaRPr sz="24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</a:t>
                      </a:r>
                      <a:r>
                        <a:rPr lang="en-US" sz="2400">
                          <a:solidFill>
                            <a:srgbClr val="E5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border-style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: </a:t>
                      </a:r>
                      <a:r>
                        <a:rPr lang="en-US" sz="2400">
                          <a:solidFill>
                            <a:srgbClr val="0451A5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solid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;</a:t>
                      </a:r>
                      <a:endParaRPr sz="24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</a:t>
                      </a:r>
                      <a:r>
                        <a:rPr lang="en-US" sz="2400">
                          <a:solidFill>
                            <a:srgbClr val="E5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border-color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: </a:t>
                      </a:r>
                      <a:r>
                        <a:rPr lang="en-US" sz="2400">
                          <a:solidFill>
                            <a:srgbClr val="0451A5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black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;</a:t>
                      </a:r>
                      <a:endParaRPr sz="24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}</a:t>
                      </a:r>
                      <a:endParaRPr sz="2400">
                        <a:solidFill>
                          <a:srgbClr val="800000"/>
                        </a:solidFill>
                        <a:highlight>
                          <a:srgbClr val="FFFFFF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80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.caixa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{</a:t>
                      </a:r>
                      <a:endParaRPr sz="24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</a:t>
                      </a:r>
                      <a:r>
                        <a:rPr lang="en-US" sz="2400">
                          <a:solidFill>
                            <a:srgbClr val="E5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border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: </a:t>
                      </a:r>
                      <a:r>
                        <a:rPr lang="en-US" sz="2400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1px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r>
                        <a:rPr lang="en-US" sz="2400">
                          <a:solidFill>
                            <a:srgbClr val="0451A5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solid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r>
                        <a:rPr lang="en-US" sz="2400">
                          <a:solidFill>
                            <a:srgbClr val="0451A5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black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;</a:t>
                      </a:r>
                      <a:endParaRPr sz="24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}</a:t>
                      </a:r>
                      <a:endParaRPr sz="2400">
                        <a:solidFill>
                          <a:srgbClr val="800000"/>
                        </a:solidFill>
                        <a:highlight>
                          <a:srgbClr val="FFFFFF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85ccec3e75_0_22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85ccec3e75_0_224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85ccec3e75_0_224"/>
          <p:cNvSpPr txBox="1"/>
          <p:nvPr/>
        </p:nvSpPr>
        <p:spPr>
          <a:xfrm>
            <a:off x="2075550" y="4256604"/>
            <a:ext cx="14136900" cy="3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Parte III: Seletores Combinadores 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(Herança e Relação)</a:t>
            </a:r>
            <a:endParaRPr b="1" i="0" sz="76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3" name="Google Shape;283;g385ccec3e75_0_224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4" name="Google Shape;284;g385ccec3e75_0_224"/>
          <p:cNvSpPr txBox="1"/>
          <p:nvPr/>
        </p:nvSpPr>
        <p:spPr>
          <a:xfrm>
            <a:off x="6163647" y="1420838"/>
            <a:ext cx="59607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85ccec3e75_0_23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85ccec3e75_0_23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g385ccec3e75_0_233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2" name="Google Shape;292;g385ccec3e75_0_233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293" name="Google Shape;293;g385ccec3e75_0_23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g385ccec3e75_0_23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g385ccec3e75_0_233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Seletor de Descendente (espaço)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85ccec3e75_0_233"/>
          <p:cNvSpPr txBox="1"/>
          <p:nvPr/>
        </p:nvSpPr>
        <p:spPr>
          <a:xfrm>
            <a:off x="2043299" y="962025"/>
            <a:ext cx="54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</a:t>
            </a: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Seletores Combinadores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7" name="Google Shape;297;g385ccec3e75_0_233"/>
          <p:cNvSpPr txBox="1"/>
          <p:nvPr/>
        </p:nvSpPr>
        <p:spPr>
          <a:xfrm>
            <a:off x="1783225" y="3429000"/>
            <a:ext cx="15438000" cy="15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Seleciona um elemento que está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dentro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outro, não importando o nível de aninhamento.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Sintaxe: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seletor-pai seletor-filho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(com um espaço entre eles)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8" name="Google Shape;298;g385ccec3e75_0_23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85ccec3e75_0_233"/>
          <p:cNvSpPr txBox="1"/>
          <p:nvPr/>
        </p:nvSpPr>
        <p:spPr>
          <a:xfrm>
            <a:off x="6638025" y="4910600"/>
            <a:ext cx="7744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85ccec3e75_0_233"/>
          <p:cNvSpPr txBox="1"/>
          <p:nvPr/>
        </p:nvSpPr>
        <p:spPr>
          <a:xfrm>
            <a:off x="4264950" y="5194075"/>
            <a:ext cx="9758100" cy="15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footer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color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cyan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Apenas os links dentro do footer serão ciano */</a:t>
            </a:r>
            <a:endParaRPr sz="24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85ccec3e75_0_25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85ccec3e75_0_25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g385ccec3e75_0_254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8" name="Google Shape;308;g385ccec3e75_0_254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309" name="Google Shape;309;g385ccec3e75_0_25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g385ccec3e75_0_25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1" name="Google Shape;311;g385ccec3e75_0_254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Seletor de Filho Direto (&gt;)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85ccec3e75_0_254"/>
          <p:cNvSpPr txBox="1"/>
          <p:nvPr/>
        </p:nvSpPr>
        <p:spPr>
          <a:xfrm>
            <a:off x="2043299" y="962025"/>
            <a:ext cx="54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</a:t>
            </a: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Seletores Combinadores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3" name="Google Shape;313;g385ccec3e75_0_254"/>
          <p:cNvSpPr txBox="1"/>
          <p:nvPr/>
        </p:nvSpPr>
        <p:spPr>
          <a:xfrm>
            <a:off x="1783225" y="3429000"/>
            <a:ext cx="15438000" cy="15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Seleciona um elemento que é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filho direto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outro.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Sintaxe: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seletor-pai &gt; seletor-filho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4" name="Google Shape;314;g385ccec3e75_0_25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85ccec3e75_0_254"/>
          <p:cNvSpPr txBox="1"/>
          <p:nvPr/>
        </p:nvSpPr>
        <p:spPr>
          <a:xfrm>
            <a:off x="6638025" y="4910600"/>
            <a:ext cx="7744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85ccec3e75_0_254"/>
          <p:cNvSpPr txBox="1"/>
          <p:nvPr/>
        </p:nvSpPr>
        <p:spPr>
          <a:xfrm>
            <a:off x="3723175" y="5155200"/>
            <a:ext cx="11558100" cy="15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article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&gt; </a:t>
            </a: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line-height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1.8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Apenas o &lt;p&gt; que é filho direto de &lt;article&gt; */</a:t>
            </a:r>
            <a:endParaRPr sz="24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85ccec3e75_0_27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85ccec3e75_0_27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g385ccec3e75_0_272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4" name="Google Shape;324;g385ccec3e75_0_272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325" name="Google Shape;325;g385ccec3e75_0_27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g385ccec3e75_0_27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" name="Google Shape;327;g385ccec3e75_0_272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Seletor de Irmão Adjacente (+)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85ccec3e75_0_272"/>
          <p:cNvSpPr txBox="1"/>
          <p:nvPr/>
        </p:nvSpPr>
        <p:spPr>
          <a:xfrm>
            <a:off x="2043299" y="962025"/>
            <a:ext cx="54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</a:t>
            </a: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Seletores Combinadores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9" name="Google Shape;329;g385ccec3e75_0_272"/>
          <p:cNvSpPr txBox="1"/>
          <p:nvPr/>
        </p:nvSpPr>
        <p:spPr>
          <a:xfrm>
            <a:off x="1783225" y="3429000"/>
            <a:ext cx="15438000" cy="15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Seleciona o elemento que está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imediatamente após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outro, no mesmo nível.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Sintaxe: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seletor-anterior + seletor-alvo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0" name="Google Shape;330;g385ccec3e75_0_27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85ccec3e75_0_272"/>
          <p:cNvSpPr txBox="1"/>
          <p:nvPr/>
        </p:nvSpPr>
        <p:spPr>
          <a:xfrm>
            <a:off x="6638025" y="4910600"/>
            <a:ext cx="7744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85ccec3e75_0_272"/>
          <p:cNvSpPr txBox="1"/>
          <p:nvPr/>
        </p:nvSpPr>
        <p:spPr>
          <a:xfrm>
            <a:off x="3723175" y="5155200"/>
            <a:ext cx="11558100" cy="15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h2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+ </a:t>
            </a: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text-indent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20px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Adiciona recuo ao &lt;p&gt; logo após um &lt;h2&gt; */</a:t>
            </a:r>
            <a:endParaRPr sz="24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85ccec3e75_0_29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85ccec3e75_0_29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" name="Google Shape;339;g385ccec3e75_0_292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0" name="Google Shape;340;g385ccec3e75_0_292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341" name="Google Shape;341;g385ccec3e75_0_29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g385ccec3e75_0_29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3" name="Google Shape;343;g385ccec3e75_0_292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Seletor de Irmão Geral (~)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85ccec3e75_0_292"/>
          <p:cNvSpPr txBox="1"/>
          <p:nvPr/>
        </p:nvSpPr>
        <p:spPr>
          <a:xfrm>
            <a:off x="2043299" y="962025"/>
            <a:ext cx="54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</a:t>
            </a: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Seletores Combinadores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5" name="Google Shape;345;g385ccec3e75_0_292"/>
          <p:cNvSpPr txBox="1"/>
          <p:nvPr/>
        </p:nvSpPr>
        <p:spPr>
          <a:xfrm>
            <a:off x="1783225" y="3429000"/>
            <a:ext cx="15438000" cy="15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Seleciona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TODOS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os elementos "irmãos" que vêm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depois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um elemento.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Sintaxe: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seletor-anterior ~ seletor-alvo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6" name="Google Shape;346;g385ccec3e75_0_29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85ccec3e75_0_292"/>
          <p:cNvSpPr txBox="1"/>
          <p:nvPr/>
        </p:nvSpPr>
        <p:spPr>
          <a:xfrm>
            <a:off x="6638025" y="4910600"/>
            <a:ext cx="7744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85ccec3e75_0_292"/>
          <p:cNvSpPr txBox="1"/>
          <p:nvPr/>
        </p:nvSpPr>
        <p:spPr>
          <a:xfrm>
            <a:off x="3723175" y="5155200"/>
            <a:ext cx="11558100" cy="15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h2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~ </a:t>
            </a: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color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gray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Deixa todos os &lt;p&gt; irmãos seguintes cinzas */</a:t>
            </a:r>
            <a:endParaRPr sz="24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85ccec3e75_0_3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85ccec3e75_0_31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85ccec3e75_0_311"/>
          <p:cNvSpPr txBox="1"/>
          <p:nvPr/>
        </p:nvSpPr>
        <p:spPr>
          <a:xfrm>
            <a:off x="2075550" y="3808854"/>
            <a:ext cx="14136900" cy="25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Parte IV: A Cascata e a Especificidade (Revisitada)</a:t>
            </a:r>
            <a:endParaRPr b="1" i="0" sz="76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6" name="Google Shape;356;g385ccec3e75_0_31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7" name="Google Shape;357;g385ccec3e75_0_311"/>
          <p:cNvSpPr txBox="1"/>
          <p:nvPr/>
        </p:nvSpPr>
        <p:spPr>
          <a:xfrm>
            <a:off x="6163647" y="1420838"/>
            <a:ext cx="59607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85ccec3e75_0_3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85ccec3e75_0_32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4" name="Google Shape;364;g385ccec3e75_0_320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65" name="Google Shape;365;g385ccec3e75_0_320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366" name="Google Shape;366;g385ccec3e75_0_32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g385ccec3e75_0_32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8" name="Google Shape;368;g385ccec3e75_0_320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Entendendo a "Cascata"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85ccec3e75_0_320"/>
          <p:cNvSpPr txBox="1"/>
          <p:nvPr/>
        </p:nvSpPr>
        <p:spPr>
          <a:xfrm>
            <a:off x="2043299" y="962025"/>
            <a:ext cx="54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</a:t>
            </a: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Cascata e  Especificidade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0" name="Google Shape;370;g385ccec3e75_0_320"/>
          <p:cNvSpPr txBox="1"/>
          <p:nvPr/>
        </p:nvSpPr>
        <p:spPr>
          <a:xfrm>
            <a:off x="1783225" y="3429000"/>
            <a:ext cx="15438000" cy="45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"C" em CSS significa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Cascading (Cascata)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Isso significa que as regras são aplicadas em uma ordem previsível. Já vimos a ordem de precedência dos </a:t>
            </a:r>
            <a:r>
              <a:rPr i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tipos de CSS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Agora, vamos detalhar como a ordem e a especificidade funcionam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dentro do mesmo tipo de CSS (ex: apenas no CSS externo)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Ordem do Código: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Se duas regras têm a mesma importância (mesma especificidade), a que aparece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 último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no arquivo CSS vence.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parágrafo será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vermelho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1" name="Google Shape;371;g385ccec3e75_0_32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85ccec3e75_0_320"/>
          <p:cNvSpPr txBox="1"/>
          <p:nvPr/>
        </p:nvSpPr>
        <p:spPr>
          <a:xfrm>
            <a:off x="6638025" y="4910600"/>
            <a:ext cx="7744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85ccec3e75_0_320"/>
          <p:cNvSpPr txBox="1"/>
          <p:nvPr/>
        </p:nvSpPr>
        <p:spPr>
          <a:xfrm>
            <a:off x="3723175" y="6230400"/>
            <a:ext cx="11558100" cy="10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color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blue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} 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Esta regra é lida primeiro */</a:t>
            </a:r>
            <a:endParaRPr sz="24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color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red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}  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Esta regra vem depois, então ela vence! */</a:t>
            </a:r>
            <a:endParaRPr sz="24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4" name="Google Shape;374;g385ccec3e75_0_3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93343" y="8385850"/>
            <a:ext cx="12017780" cy="92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85ccec3e75_0_34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85ccec3e75_0_34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1" name="Google Shape;381;g385ccec3e75_0_341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82" name="Google Shape;382;g385ccec3e75_0_341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383" name="Google Shape;383;g385ccec3e75_0_34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g385ccec3e75_0_34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5" name="Google Shape;385;g385ccec3e75_0_341"/>
          <p:cNvSpPr txBox="1"/>
          <p:nvPr/>
        </p:nvSpPr>
        <p:spPr>
          <a:xfrm>
            <a:off x="2043300" y="1189050"/>
            <a:ext cx="155538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Conceito Mais Importante: Especificidade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85ccec3e75_0_341"/>
          <p:cNvSpPr txBox="1"/>
          <p:nvPr/>
        </p:nvSpPr>
        <p:spPr>
          <a:xfrm>
            <a:off x="2043299" y="962025"/>
            <a:ext cx="54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Cascata e  Especificidade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7" name="Google Shape;387;g385ccec3e75_0_341"/>
          <p:cNvSpPr txBox="1"/>
          <p:nvPr/>
        </p:nvSpPr>
        <p:spPr>
          <a:xfrm>
            <a:off x="1783225" y="3390122"/>
            <a:ext cx="8558100" cy="6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se os seletores forem diferentes? Qual regra vence?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Especificidade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é um sistema de pontuação que o navegador usa para decidir qual seletor é mais específico e, portanto, mais importante.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regra é simples e hierárquica (do mais específico para o menos específico):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 &gt; CLASSE &gt; TAG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seletor 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 (#)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é o mais poderoso e sempre vencerá seletores de classe ou tag.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seletor 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Classe (.)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vence um seletor de Tag.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seletor 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Tag (p)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é o mais fraco.	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texto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"Olá Mundo"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será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vermelho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pois o seletor de ID é o mais específico e tem a maior pontuação.			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8" name="Google Shape;388;g385ccec3e75_0_34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85ccec3e75_0_341"/>
          <p:cNvSpPr txBox="1"/>
          <p:nvPr/>
        </p:nvSpPr>
        <p:spPr>
          <a:xfrm>
            <a:off x="10574850" y="7661222"/>
            <a:ext cx="703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0" name="Google Shape;390;g385ccec3e75_0_341"/>
          <p:cNvSpPr txBox="1"/>
          <p:nvPr/>
        </p:nvSpPr>
        <p:spPr>
          <a:xfrm>
            <a:off x="11157850" y="4783300"/>
            <a:ext cx="656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391" name="Google Shape;391;g385ccec3e75_0_341"/>
          <p:cNvGraphicFramePr/>
          <p:nvPr/>
        </p:nvGraphicFramePr>
        <p:xfrm>
          <a:off x="10574850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{FF7DF3F3-1B5D-4750-8BC6-EEB774AEC3D5}</a:tableStyleId>
              </a:tblPr>
              <a:tblGrid>
                <a:gridCol w="6798000"/>
              </a:tblGrid>
              <a:tr h="69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HTML: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1669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rgbClr val="80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&lt;p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r>
                        <a:rPr lang="en-US" sz="2000">
                          <a:solidFill>
                            <a:srgbClr val="E5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id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=</a:t>
                      </a:r>
                      <a:r>
                        <a:rPr lang="en-US" sz="200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"paragrafo-unico"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r>
                        <a:rPr lang="en-US" sz="2000">
                          <a:solidFill>
                            <a:srgbClr val="E5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class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=</a:t>
                      </a:r>
                      <a:r>
                        <a:rPr lang="en-US" sz="200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"texto-destaque"</a:t>
                      </a:r>
                      <a:r>
                        <a:rPr lang="en-US" sz="2000">
                          <a:solidFill>
                            <a:srgbClr val="80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&gt;</a:t>
                      </a:r>
                      <a:endParaRPr sz="2000">
                        <a:solidFill>
                          <a:srgbClr val="800000"/>
                        </a:solidFill>
                        <a:highlight>
                          <a:srgbClr val="FFFFFF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Olá Mundo</a:t>
                      </a:r>
                      <a:endParaRPr sz="20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rgbClr val="80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&lt;/p&gt;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9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CSS: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3245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rgbClr val="80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{ </a:t>
                      </a:r>
                      <a:r>
                        <a:rPr lang="en-US" sz="2000">
                          <a:solidFill>
                            <a:srgbClr val="E5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color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: </a:t>
                      </a:r>
                      <a:r>
                        <a:rPr lang="en-US" sz="2000">
                          <a:solidFill>
                            <a:srgbClr val="0451A5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blue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; }              </a:t>
                      </a:r>
                      <a:endParaRPr sz="20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/* Especificidade baixa (Tag) */</a:t>
                      </a:r>
                      <a:endParaRPr sz="2000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rgbClr val="80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.texto-destaque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{ </a:t>
                      </a:r>
                      <a:r>
                        <a:rPr lang="en-US" sz="2000">
                          <a:solidFill>
                            <a:srgbClr val="E5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color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: </a:t>
                      </a:r>
                      <a:r>
                        <a:rPr lang="en-US" sz="2000">
                          <a:solidFill>
                            <a:srgbClr val="0451A5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green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; }   </a:t>
                      </a:r>
                      <a:endParaRPr sz="20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/* Especificidade média (Classe) */</a:t>
                      </a:r>
                      <a:endParaRPr sz="2000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rgbClr val="80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#paragrafo-unico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{ </a:t>
                      </a:r>
                      <a:r>
                        <a:rPr lang="en-US" sz="2000">
                          <a:solidFill>
                            <a:srgbClr val="E50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color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: </a:t>
                      </a:r>
                      <a:r>
                        <a:rPr lang="en-US" sz="2000">
                          <a:solidFill>
                            <a:srgbClr val="0451A5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red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; }    </a:t>
                      </a:r>
                      <a:endParaRPr sz="20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/* Especificidade ALTA (ID) - ESTA VENCE! */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85ccec3e75_0_38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85ccec3e75_0_38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8" name="Google Shape;398;g385ccec3e75_0_386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9" name="Google Shape;399;g385ccec3e75_0_386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400" name="Google Shape;400;g385ccec3e75_0_38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g385ccec3e75_0_38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2" name="Google Shape;402;g385ccec3e75_0_386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Ordem Final de Prioridade (Resumão)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385ccec3e75_0_386"/>
          <p:cNvSpPr txBox="1"/>
          <p:nvPr/>
        </p:nvSpPr>
        <p:spPr>
          <a:xfrm>
            <a:off x="2043299" y="962025"/>
            <a:ext cx="54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Cascata e  Especificidade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4" name="Google Shape;404;g385ccec3e75_0_386"/>
          <p:cNvSpPr txBox="1"/>
          <p:nvPr/>
        </p:nvSpPr>
        <p:spPr>
          <a:xfrm>
            <a:off x="1783225" y="3390125"/>
            <a:ext cx="15553800" cy="40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o mesmo elemento, a prioridade de estilos é a seguinte (do que mais vence para o que menos vence):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 Inline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(diretamente no atributo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style=""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(Seletor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#meuId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Classe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(Seletor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.minhaClasse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Tag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(Seletor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Ordem no Código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(a última regra vence se a especificidade for igual)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Estilos Padrão do Navegador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5" name="Google Shape;405;g385ccec3e75_0_38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85ccec3e75_0_386"/>
          <p:cNvSpPr txBox="1"/>
          <p:nvPr/>
        </p:nvSpPr>
        <p:spPr>
          <a:xfrm>
            <a:off x="11157850" y="4783300"/>
            <a:ext cx="656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85ccec3e75_0_40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85ccec3e75_0_405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85ccec3e75_0_405"/>
          <p:cNvSpPr txBox="1"/>
          <p:nvPr/>
        </p:nvSpPr>
        <p:spPr>
          <a:xfrm>
            <a:off x="2075550" y="4556704"/>
            <a:ext cx="141369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Parte V: </a:t>
            </a: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Outros Seletores</a:t>
            </a:r>
            <a:endParaRPr b="1" i="0" sz="76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4" name="Google Shape;414;g385ccec3e75_0_405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5" name="Google Shape;415;g385ccec3e75_0_405"/>
          <p:cNvSpPr txBox="1"/>
          <p:nvPr/>
        </p:nvSpPr>
        <p:spPr>
          <a:xfrm>
            <a:off x="6163647" y="1420838"/>
            <a:ext cx="59607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85ccec3e75_0_4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385ccec3e75_0_41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2" name="Google Shape;422;g385ccec3e75_0_414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23" name="Google Shape;423;g385ccec3e75_0_414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424" name="Google Shape;424;g385ccec3e75_0_41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g385ccec3e75_0_41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6" name="Google Shape;426;g385ccec3e75_0_414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Seletor de Atributo ([])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385ccec3e75_0_414"/>
          <p:cNvSpPr txBox="1"/>
          <p:nvPr/>
        </p:nvSpPr>
        <p:spPr>
          <a:xfrm>
            <a:off x="2043299" y="962025"/>
            <a:ext cx="54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</a:t>
            </a: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Outros Seletores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8" name="Google Shape;428;g385ccec3e75_0_414"/>
          <p:cNvSpPr txBox="1"/>
          <p:nvPr/>
        </p:nvSpPr>
        <p:spPr>
          <a:xfrm>
            <a:off x="1783225" y="3390125"/>
            <a:ext cx="155538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Seleciona elementos com base em seus atributos.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9" name="Google Shape;429;g385ccec3e75_0_41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85ccec3e75_0_414"/>
          <p:cNvSpPr txBox="1"/>
          <p:nvPr/>
        </p:nvSpPr>
        <p:spPr>
          <a:xfrm>
            <a:off x="11157850" y="4783300"/>
            <a:ext cx="656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1" name="Google Shape;431;g385ccec3e75_0_414"/>
          <p:cNvSpPr txBox="1"/>
          <p:nvPr/>
        </p:nvSpPr>
        <p:spPr>
          <a:xfrm>
            <a:off x="6529500" y="4661225"/>
            <a:ext cx="5229000" cy="15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input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[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type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en-US" sz="2400">
                <a:solidFill>
                  <a:srgbClr val="A3151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"email"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]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border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2px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solid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green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85ccec3e75_0_45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g385ccec3e75_0_45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8" name="Google Shape;438;g385ccec3e75_0_453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39" name="Google Shape;439;g385ccec3e75_0_453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440" name="Google Shape;440;g385ccec3e75_0_45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g385ccec3e75_0_45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2" name="Google Shape;442;g385ccec3e75_0_453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Agrupando Seletores (,)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85ccec3e75_0_453"/>
          <p:cNvSpPr txBox="1"/>
          <p:nvPr/>
        </p:nvSpPr>
        <p:spPr>
          <a:xfrm>
            <a:off x="2043299" y="962025"/>
            <a:ext cx="54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Outros Seletores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4" name="Google Shape;444;g385ccec3e75_0_453"/>
          <p:cNvSpPr txBox="1"/>
          <p:nvPr/>
        </p:nvSpPr>
        <p:spPr>
          <a:xfrm>
            <a:off x="1783225" y="3390125"/>
            <a:ext cx="155538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Aplica o mesmo estilo a múltiplos seletores.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5" name="Google Shape;445;g385ccec3e75_0_45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85ccec3e75_0_453"/>
          <p:cNvSpPr txBox="1"/>
          <p:nvPr/>
        </p:nvSpPr>
        <p:spPr>
          <a:xfrm>
            <a:off x="11157850" y="4783300"/>
            <a:ext cx="656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7" name="Google Shape;447;g385ccec3e75_0_453"/>
          <p:cNvSpPr txBox="1"/>
          <p:nvPr/>
        </p:nvSpPr>
        <p:spPr>
          <a:xfrm>
            <a:off x="6529500" y="4661225"/>
            <a:ext cx="5229000" cy="20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h1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h2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.titulo-principal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font-family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Arial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sans-serif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color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#333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85ccec3e75_0_43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85ccec3e75_0_43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4" name="Google Shape;454;g385ccec3e75_0_434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55" name="Google Shape;455;g385ccec3e75_0_434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456" name="Google Shape;456;g385ccec3e75_0_43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g385ccec3e75_0_43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8" name="Google Shape;458;g385ccec3e75_0_434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Seletor Universal (*)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85ccec3e75_0_434"/>
          <p:cNvSpPr txBox="1"/>
          <p:nvPr/>
        </p:nvSpPr>
        <p:spPr>
          <a:xfrm>
            <a:off x="2043299" y="962025"/>
            <a:ext cx="54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Outros Seletores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0" name="Google Shape;460;g385ccec3e75_0_434"/>
          <p:cNvSpPr txBox="1"/>
          <p:nvPr/>
        </p:nvSpPr>
        <p:spPr>
          <a:xfrm>
            <a:off x="1783225" y="3390125"/>
            <a:ext cx="155538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Seleciona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TODOS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os elementos. Usado para "resets".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1" name="Google Shape;461;g385ccec3e75_0_43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85ccec3e75_0_434"/>
          <p:cNvSpPr txBox="1"/>
          <p:nvPr/>
        </p:nvSpPr>
        <p:spPr>
          <a:xfrm>
            <a:off x="11157850" y="4783300"/>
            <a:ext cx="656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3" name="Google Shape;463;g385ccec3e75_0_434"/>
          <p:cNvSpPr txBox="1"/>
          <p:nvPr/>
        </p:nvSpPr>
        <p:spPr>
          <a:xfrm>
            <a:off x="6529500" y="4783300"/>
            <a:ext cx="5229000" cy="20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*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margin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padding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17af378f7_0_10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g3717af378f7_0_10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0" name="Google Shape;470;g3717af378f7_0_104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71" name="Google Shape;471;g3717af378f7_0_104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472" name="Google Shape;472;g3717af378f7_0_10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g3717af378f7_0_10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4" name="Google Shape;474;g3717af378f7_0_104"/>
          <p:cNvSpPr txBox="1"/>
          <p:nvPr/>
        </p:nvSpPr>
        <p:spPr>
          <a:xfrm>
            <a:off x="2043300" y="1189050"/>
            <a:ext cx="15553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Resumo:</a:t>
            </a:r>
            <a:endParaRPr b="1" i="0" sz="52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5" name="Google Shape;475;g3717af378f7_0_104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3717af378f7_0_104"/>
          <p:cNvSpPr txBox="1"/>
          <p:nvPr/>
        </p:nvSpPr>
        <p:spPr>
          <a:xfrm>
            <a:off x="1814700" y="3430275"/>
            <a:ext cx="155538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Tipos de CSS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Inline (evitar!), Interno, Externo (preferencial!).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Prioridade de Estilos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Inline &gt; ID &gt; Classe &gt; Tag &gt; Ordem no Código &gt; Padrão do Navegador.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Seletores Básicos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(Tag),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.classe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(Grupo),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#id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(Único).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Propriedades Shorthand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Use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border: 1px solid black;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concisão e eficiência.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Seletores Combinadores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Selecionam com base na relação entre elementos 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espaço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+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~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Cascata e Especificidade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A ordem do código importa, mas a especificidade 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 &gt; Classe &gt; Tag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 é a regra principal para decidir qual estilo vence.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Outros Seletores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[atributo]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(vírgula - agrupamento) 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*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(universal) completam os seletores</a:t>
            </a:r>
            <a:endParaRPr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7" name="Google Shape;477;g3717af378f7_0_10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717af378f7_0_137"/>
          <p:cNvSpPr/>
          <p:nvPr/>
        </p:nvSpPr>
        <p:spPr>
          <a:xfrm>
            <a:off x="89899" y="-5051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3" name="Google Shape;483;g3717af378f7_0_137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4" name="Google Shape;484;g3717af378f7_0_137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5" name="Google Shape;485;g3717af378f7_0_137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g3717af378f7_0_13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7" name="Google Shape;487;g3717af378f7_0_137"/>
          <p:cNvGrpSpPr/>
          <p:nvPr/>
        </p:nvGrpSpPr>
        <p:grpSpPr>
          <a:xfrm>
            <a:off x="2503914" y="2432093"/>
            <a:ext cx="921228" cy="921228"/>
            <a:chOff x="0" y="0"/>
            <a:chExt cx="812800" cy="812800"/>
          </a:xfrm>
        </p:grpSpPr>
        <p:sp>
          <p:nvSpPr>
            <p:cNvPr id="488" name="Google Shape;488;g3717af378f7_0_13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g3717af378f7_0_137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0" name="Google Shape;490;g3717af378f7_0_137"/>
          <p:cNvSpPr txBox="1"/>
          <p:nvPr/>
        </p:nvSpPr>
        <p:spPr>
          <a:xfrm>
            <a:off x="3611461" y="2646975"/>
            <a:ext cx="898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Notícia parte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717af378f7_0_137"/>
          <p:cNvSpPr txBox="1"/>
          <p:nvPr/>
        </p:nvSpPr>
        <p:spPr>
          <a:xfrm>
            <a:off x="2907197" y="26469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3717af378f7_0_137"/>
          <p:cNvSpPr txBox="1"/>
          <p:nvPr/>
        </p:nvSpPr>
        <p:spPr>
          <a:xfrm>
            <a:off x="3611453" y="3400121"/>
            <a:ext cx="14109000" cy="3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Objetivo: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Utilizar a gama completa de seletores, propriedades shorthand e o conceito de especificidade.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Instruções: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Crie uma pasta com os arquivos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noticia-completa.html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style.css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Vincule o CSS externo ao HTML.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o mesmo código HTML da aula anterior (o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noticia-avancada.html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3" name="Google Shape;493;g3717af378f7_0_137"/>
          <p:cNvSpPr txBox="1"/>
          <p:nvPr/>
        </p:nvSpPr>
        <p:spPr>
          <a:xfrm>
            <a:off x="2795186" y="4361017"/>
            <a:ext cx="37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4" name="Google Shape;494;g3717af378f7_0_137"/>
          <p:cNvSpPr txBox="1"/>
          <p:nvPr/>
        </p:nvSpPr>
        <p:spPr>
          <a:xfrm>
            <a:off x="2833270" y="7783519"/>
            <a:ext cx="26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3717af378f7_0_137"/>
          <p:cNvSpPr txBox="1"/>
          <p:nvPr/>
        </p:nvSpPr>
        <p:spPr>
          <a:xfrm>
            <a:off x="3611449" y="1189050"/>
            <a:ext cx="14401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Aprimorando a Página de Notícia</a:t>
            </a:r>
            <a:endParaRPr b="1" i="0" sz="2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717af378f7_0_254"/>
          <p:cNvSpPr/>
          <p:nvPr/>
        </p:nvSpPr>
        <p:spPr>
          <a:xfrm>
            <a:off x="89899" y="-5051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1" name="Google Shape;501;g3717af378f7_0_254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2" name="Google Shape;502;g3717af378f7_0_254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3" name="Google Shape;503;g3717af378f7_0_254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717af378f7_0_25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5" name="Google Shape;505;g3717af378f7_0_254"/>
          <p:cNvGrpSpPr/>
          <p:nvPr/>
        </p:nvGrpSpPr>
        <p:grpSpPr>
          <a:xfrm>
            <a:off x="2503914" y="2432093"/>
            <a:ext cx="921228" cy="921228"/>
            <a:chOff x="0" y="0"/>
            <a:chExt cx="812800" cy="812800"/>
          </a:xfrm>
        </p:grpSpPr>
        <p:sp>
          <p:nvSpPr>
            <p:cNvPr id="506" name="Google Shape;506;g3717af378f7_0_25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g3717af378f7_0_25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8" name="Google Shape;508;g3717af378f7_0_254"/>
          <p:cNvSpPr txBox="1"/>
          <p:nvPr/>
        </p:nvSpPr>
        <p:spPr>
          <a:xfrm>
            <a:off x="3611461" y="2646975"/>
            <a:ext cx="898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HTML Base: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9" name="Google Shape;509;g3717af378f7_0_254"/>
          <p:cNvSpPr txBox="1"/>
          <p:nvPr/>
        </p:nvSpPr>
        <p:spPr>
          <a:xfrm>
            <a:off x="2907197" y="26469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g3717af378f7_0_254"/>
          <p:cNvSpPr txBox="1"/>
          <p:nvPr/>
        </p:nvSpPr>
        <p:spPr>
          <a:xfrm>
            <a:off x="3611453" y="3524238"/>
            <a:ext cx="141090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Copie este código para o seu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noticia-completa.html: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1" name="Google Shape;511;g3717af378f7_0_254"/>
          <p:cNvSpPr txBox="1"/>
          <p:nvPr/>
        </p:nvSpPr>
        <p:spPr>
          <a:xfrm>
            <a:off x="2795186" y="4361017"/>
            <a:ext cx="37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2" name="Google Shape;512;g3717af378f7_0_254"/>
          <p:cNvSpPr txBox="1"/>
          <p:nvPr/>
        </p:nvSpPr>
        <p:spPr>
          <a:xfrm>
            <a:off x="2833270" y="7783519"/>
            <a:ext cx="26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3717af378f7_0_254"/>
          <p:cNvSpPr txBox="1"/>
          <p:nvPr/>
        </p:nvSpPr>
        <p:spPr>
          <a:xfrm>
            <a:off x="3611449" y="1189050"/>
            <a:ext cx="14401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Aprimorando a Página de Notícia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717af378f7_0_274"/>
          <p:cNvSpPr/>
          <p:nvPr/>
        </p:nvSpPr>
        <p:spPr>
          <a:xfrm>
            <a:off x="89899" y="-5051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9" name="Google Shape;519;g3717af378f7_0_274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0" name="Google Shape;520;g3717af378f7_0_274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1" name="Google Shape;521;g3717af378f7_0_274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3717af378f7_0_27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3" name="Google Shape;523;g3717af378f7_0_274"/>
          <p:cNvGrpSpPr/>
          <p:nvPr/>
        </p:nvGrpSpPr>
        <p:grpSpPr>
          <a:xfrm>
            <a:off x="2503914" y="2432093"/>
            <a:ext cx="921228" cy="921228"/>
            <a:chOff x="0" y="0"/>
            <a:chExt cx="812800" cy="812800"/>
          </a:xfrm>
        </p:grpSpPr>
        <p:sp>
          <p:nvSpPr>
            <p:cNvPr id="524" name="Google Shape;524;g3717af378f7_0_27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g3717af378f7_0_27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6" name="Google Shape;526;g3717af378f7_0_274"/>
          <p:cNvSpPr txBox="1"/>
          <p:nvPr/>
        </p:nvSpPr>
        <p:spPr>
          <a:xfrm>
            <a:off x="3611461" y="2646975"/>
            <a:ext cx="898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Validação Básica: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3717af378f7_0_274"/>
          <p:cNvSpPr txBox="1"/>
          <p:nvPr/>
        </p:nvSpPr>
        <p:spPr>
          <a:xfrm>
            <a:off x="2907197" y="26469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g3717af378f7_0_274"/>
          <p:cNvSpPr txBox="1"/>
          <p:nvPr/>
        </p:nvSpPr>
        <p:spPr>
          <a:xfrm>
            <a:off x="3611453" y="3419817"/>
            <a:ext cx="14109000" cy="60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Agora, no seu arquivo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style.css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adicione as seguintes regras 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observe a prioridade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Reset Universal e Estilos Globais (Universal e Tag):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*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resetar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margin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padding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o seletor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body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definir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font-family: sans-serif;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background-color: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#f4f4f4;.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Estilo do Cabeçalho e Rodapé (ID e Tag, Shorthand):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o seletor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#cabecalho-principal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dar um fundo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#2c3e50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cor de texto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white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Use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padding: 20px;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o seletor footer para um fundo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#34495e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cor de texto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white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padding: 20px;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Links do Rodapé (Descendente):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o seletor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footer a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deixar os links com a cor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#76c7c0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Parágrafo Específico do Cabeçalho (Filho Direto):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header &gt; p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deixar o parágrafo do cabeçalho em itálico e com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font-size: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0.9em;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9" name="Google Shape;529;g3717af378f7_0_274"/>
          <p:cNvSpPr txBox="1"/>
          <p:nvPr/>
        </p:nvSpPr>
        <p:spPr>
          <a:xfrm>
            <a:off x="2795186" y="4361017"/>
            <a:ext cx="37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0" name="Google Shape;530;g3717af378f7_0_274"/>
          <p:cNvSpPr txBox="1"/>
          <p:nvPr/>
        </p:nvSpPr>
        <p:spPr>
          <a:xfrm>
            <a:off x="2833270" y="7783519"/>
            <a:ext cx="26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g3717af378f7_0_274"/>
          <p:cNvSpPr txBox="1"/>
          <p:nvPr/>
        </p:nvSpPr>
        <p:spPr>
          <a:xfrm>
            <a:off x="3534500" y="2003900"/>
            <a:ext cx="1440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7373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g3717af378f7_0_274"/>
          <p:cNvSpPr txBox="1"/>
          <p:nvPr/>
        </p:nvSpPr>
        <p:spPr>
          <a:xfrm>
            <a:off x="3611449" y="1189050"/>
            <a:ext cx="14401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Aprimorando a Página de Notícia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717af378f7_0_294"/>
          <p:cNvSpPr/>
          <p:nvPr/>
        </p:nvSpPr>
        <p:spPr>
          <a:xfrm>
            <a:off x="89899" y="-5051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8" name="Google Shape;538;g3717af378f7_0_294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9" name="Google Shape;539;g3717af378f7_0_294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0" name="Google Shape;540;g3717af378f7_0_294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3717af378f7_0_29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2" name="Google Shape;542;g3717af378f7_0_294"/>
          <p:cNvGrpSpPr/>
          <p:nvPr/>
        </p:nvGrpSpPr>
        <p:grpSpPr>
          <a:xfrm>
            <a:off x="2503914" y="2432093"/>
            <a:ext cx="921228" cy="921228"/>
            <a:chOff x="0" y="0"/>
            <a:chExt cx="812800" cy="812800"/>
          </a:xfrm>
        </p:grpSpPr>
        <p:sp>
          <p:nvSpPr>
            <p:cNvPr id="543" name="Google Shape;543;g3717af378f7_0_29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g3717af378f7_0_29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5" name="Google Shape;545;g3717af378f7_0_294"/>
          <p:cNvSpPr txBox="1"/>
          <p:nvPr/>
        </p:nvSpPr>
        <p:spPr>
          <a:xfrm>
            <a:off x="3611461" y="2646975"/>
            <a:ext cx="898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Validação básica (parte 2):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g3717af378f7_0_294"/>
          <p:cNvSpPr txBox="1"/>
          <p:nvPr/>
        </p:nvSpPr>
        <p:spPr>
          <a:xfrm>
            <a:off x="2907197" y="26469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g3717af378f7_0_294"/>
          <p:cNvSpPr txBox="1"/>
          <p:nvPr/>
        </p:nvSpPr>
        <p:spPr>
          <a:xfrm>
            <a:off x="3786402" y="3536450"/>
            <a:ext cx="14109000" cy="6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5.  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Desafio de Prioridade (ID vs Classe vs Tag):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Crie uma regra para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article p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que deixe todos os parágrafos dentro de um artigo com a cor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gray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Crie uma regra para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.destaque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(no CSS externo) que deixe o texto com a cor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blue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font-weight: bold;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Observe o parágrafo com class="destaque" e style="color: brown;" no HTML.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Qual cor ele terá?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(Marrom, pois Inline vence tudo).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se você remover 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style=""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?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(Azul, pois Classe vence Tag).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6.   Input de E-mail (Atributo e Shorthand):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o seletor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input[type="email"].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border: none; border-bottom: 2px solid green; e padding: 5px;.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7.   Parágrafos pós-títulos (Irmão Adjacente):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h2 + p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adicionar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margin-top: 10px;.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8" name="Google Shape;548;g3717af378f7_0_294"/>
          <p:cNvSpPr txBox="1"/>
          <p:nvPr/>
        </p:nvSpPr>
        <p:spPr>
          <a:xfrm>
            <a:off x="2795186" y="4361017"/>
            <a:ext cx="37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9" name="Google Shape;549;g3717af378f7_0_294"/>
          <p:cNvSpPr txBox="1"/>
          <p:nvPr/>
        </p:nvSpPr>
        <p:spPr>
          <a:xfrm>
            <a:off x="2833270" y="7783519"/>
            <a:ext cx="26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717af378f7_0_294"/>
          <p:cNvSpPr txBox="1"/>
          <p:nvPr/>
        </p:nvSpPr>
        <p:spPr>
          <a:xfrm>
            <a:off x="3611449" y="1189050"/>
            <a:ext cx="14401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Aprimorando a Página de Notícia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7" name="Google Shape;557;p15"/>
          <p:cNvCxnSpPr/>
          <p:nvPr/>
        </p:nvCxnSpPr>
        <p:spPr>
          <a:xfrm rot="10800000">
            <a:off x="1330128" y="16307"/>
            <a:ext cx="0" cy="226811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58" name="Google Shape;558;p15"/>
          <p:cNvGrpSpPr/>
          <p:nvPr/>
        </p:nvGrpSpPr>
        <p:grpSpPr>
          <a:xfrm>
            <a:off x="1396388" y="2987159"/>
            <a:ext cx="16211550" cy="7595338"/>
            <a:chOff x="0" y="-38100"/>
            <a:chExt cx="4269709" cy="2000418"/>
          </a:xfrm>
        </p:grpSpPr>
        <p:sp>
          <p:nvSpPr>
            <p:cNvPr id="559" name="Google Shape;559;p1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15"/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1" name="Google Shape;561;p15"/>
          <p:cNvSpPr txBox="1"/>
          <p:nvPr/>
        </p:nvSpPr>
        <p:spPr>
          <a:xfrm>
            <a:off x="2043296" y="1189042"/>
            <a:ext cx="710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5"/>
          <p:cNvSpPr txBox="1"/>
          <p:nvPr/>
        </p:nvSpPr>
        <p:spPr>
          <a:xfrm>
            <a:off x="2043296" y="962025"/>
            <a:ext cx="458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3" name="Google Shape;563;p15"/>
          <p:cNvSpPr txBox="1"/>
          <p:nvPr/>
        </p:nvSpPr>
        <p:spPr>
          <a:xfrm>
            <a:off x="1814700" y="3277875"/>
            <a:ext cx="152922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MOZILLA.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 Selectors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MDN Web Docs. Disponível em:</a:t>
            </a:r>
            <a:r>
              <a:rPr lang="en-US" sz="24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https://developer.mozilla.org/pt-BR/docs/Web/CSS/CSS_Selectors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09 out. 2025.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MOZILLA.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Specificity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MDN Web Docs. Disponível em:</a:t>
            </a:r>
            <a:r>
              <a:rPr lang="en-US" sz="24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8"/>
              </a:rPr>
              <a:t>https://developer.mozilla.org/en-US/docs/Web/CSS/Specificity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09 out. 2025.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W3C SCHOOLS.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 Shorthand Properties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Disponível em:</a:t>
            </a:r>
            <a:r>
              <a:rPr lang="en-US" sz="24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0"/>
              </a:rPr>
              <a:t>https://www.w3schools.com/css/css_shorthand.asp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09 out. 2025.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4" name="Google Shape;564;p1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