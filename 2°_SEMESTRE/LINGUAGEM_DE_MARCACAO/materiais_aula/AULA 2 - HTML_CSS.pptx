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Poppi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ghzO+ZFMJiz9pgtBSd3fGgbkR9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Poppi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bold.fntdata"/><Relationship Id="rId6" Type="http://schemas.openxmlformats.org/officeDocument/2006/relationships/slide" Target="slides/slide1.xml"/><Relationship Id="rId18" Type="http://schemas.openxmlformats.org/officeDocument/2006/relationships/font" Target="fonts/Poppi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c6084c8e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WWW foi proposta por Tim Berners-Lee enquanto trabalhava no CERN (centro europeu de pesquisa nuclear).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ideia era facilitar o compartilhamento de informações entre cientistas em diferentes locais.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O primeiro site da história foi criado em 1991.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WWW usa a internet como base, mas são coisas diferentes: a internet é a rede; a web é o conteúdo.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Importância: tornou possível a criação de sites, blogs, redes sociais, e-commerce, etc.</a:t>
            </a:r>
            <a:endParaRPr b="1"/>
          </a:p>
        </p:txBody>
      </p:sp>
      <p:sp>
        <p:nvSpPr>
          <p:cNvPr id="106" name="Google Shape;106;g36c6084c8e6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2cea470f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WWW foi proposta por Tim Berners-Lee enquanto trabalhava no CERN (centro europeu de pesquisa nuclear).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ideia era facilitar o compartilhamento de informações entre cientistas em diferentes locais.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O primeiro site da história foi criado em 1991.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WWW usa a internet como base, mas são coisas diferentes: a internet é a rede; a web é o conteúdo.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Importância: tornou possível a criação de sites, blogs, redes sociais, e-commerce, etc.</a:t>
            </a:r>
            <a:endParaRPr b="1"/>
          </a:p>
        </p:txBody>
      </p:sp>
      <p:sp>
        <p:nvSpPr>
          <p:cNvPr id="124" name="Google Shape;124;g362cea470f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2cea470f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WWW foi proposta por Tim Berners-Lee enquanto trabalhava no CERN (centro europeu de pesquisa nuclear).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ideia era facilitar o compartilhamento de informações entre cientistas em diferentes locais.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O primeiro site da história foi criado em 1991.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WWW usa a internet como base, mas são coisas diferentes: a internet é a rede; a web é o conteúdo.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Importância: tornou possível a criação de sites, blogs, redes sociais, e-commerce, etc.</a:t>
            </a:r>
            <a:endParaRPr b="1"/>
          </a:p>
        </p:txBody>
      </p:sp>
      <p:sp>
        <p:nvSpPr>
          <p:cNvPr id="143" name="Google Shape;143;g362cea470f6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2cea470f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WWW foi proposta por Tim Berners-Lee enquanto trabalhava no CERN (centro europeu de pesquisa nuclear).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ideia era facilitar o compartilhamento de informações entre cientistas em diferentes locais.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O primeiro site da história foi criado em 1991.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WWW usa a internet como base, mas são coisas diferentes: a internet é a rede; a web é o conteúdo.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Importância: tornou possível a criação de sites, blogs, redes sociais, e-commerce, etc.</a:t>
            </a:r>
            <a:endParaRPr b="1"/>
          </a:p>
        </p:txBody>
      </p:sp>
      <p:sp>
        <p:nvSpPr>
          <p:cNvPr id="162" name="Google Shape;162;g362cea470f6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2cea470f6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WWW foi proposta por Tim Berners-Lee enquanto trabalhava no CERN (centro europeu de pesquisa nuclear).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ideia era facilitar o compartilhamento de informações entre cientistas em diferentes locais.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O primeiro site da história foi criado em 1991.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WWW usa a internet como base, mas são coisas diferentes: a internet é a rede; a web é o conteúdo.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Importância: tornou possível a criação de sites, blogs, redes sociais, e-commerce, etc.</a:t>
            </a:r>
            <a:endParaRPr b="1"/>
          </a:p>
        </p:txBody>
      </p:sp>
      <p:sp>
        <p:nvSpPr>
          <p:cNvPr id="178" name="Google Shape;178;g362cea470f6_0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2cea470f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WWW foi proposta por Tim Berners-Lee enquanto trabalhava no CERN (centro europeu de pesquisa nuclear).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ideia era facilitar o compartilhamento de informações entre cientistas em diferentes locais.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O primeiro site da história foi criado em 1991.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WWW usa a internet como base, mas são coisas diferentes: a internet é a rede; a web é o conteúdo.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Importância: tornou possível a criação de sites, blogs, redes sociais, e-commerce, etc.</a:t>
            </a:r>
            <a:endParaRPr b="1"/>
          </a:p>
        </p:txBody>
      </p:sp>
      <p:sp>
        <p:nvSpPr>
          <p:cNvPr id="194" name="Google Shape;194;g362cea470f6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2cea470f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WWW foi proposta por Tim Berners-Lee enquanto trabalhava no CERN (centro europeu de pesquisa nuclear).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ideia era facilitar o compartilhamento de informações entre cientistas em diferentes locais.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O primeiro site da história foi criado em 1991.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WWW usa a internet como base, mas são coisas diferentes: a internet é a rede; a web é o conteúdo.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Importância: tornou possível a criação de sites, blogs, redes sociais, e-commerce, etc.</a:t>
            </a:r>
            <a:endParaRPr b="1"/>
          </a:p>
        </p:txBody>
      </p:sp>
      <p:sp>
        <p:nvSpPr>
          <p:cNvPr id="208" name="Google Shape;208;g362cea470f6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2cea470f6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WWW foi proposta por Tim Berners-Lee enquanto trabalhava no CERN (centro europeu de pesquisa nuclear).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ideia era facilitar o compartilhamento de informações entre cientistas em diferentes locais.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O primeiro site da história foi criado em 1991.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WWW usa a internet como base, mas são coisas diferentes: a internet é a rede; a web é o conteúdo.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Importância: tornou possível a criação de sites, blogs, redes sociais, e-commerce, etc.</a:t>
            </a:r>
            <a:endParaRPr b="1"/>
          </a:p>
        </p:txBody>
      </p:sp>
      <p:sp>
        <p:nvSpPr>
          <p:cNvPr id="222" name="Google Shape;222;g362cea470f6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62cea470f6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WWW foi proposta por Tim Berners-Lee enquanto trabalhava no CERN (centro europeu de pesquisa nuclear).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ideia era facilitar o compartilhamento de informações entre cientistas em diferentes locais.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O primeiro site da história foi criado em 1991.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 WWW usa a internet como base, mas são coisas diferentes: a internet é a rede; a web é o conteúdo.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Importância: tornou possível a criação de sites, blogs, redes sociais, e-commerce, etc.</a:t>
            </a:r>
            <a:endParaRPr b="1"/>
          </a:p>
        </p:txBody>
      </p:sp>
      <p:sp>
        <p:nvSpPr>
          <p:cNvPr id="236" name="Google Shape;236;g362cea470f6_0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hyperlink" Target="https://code.visualstudio.com/" TargetMode="External"/><Relationship Id="rId6" Type="http://schemas.openxmlformats.org/officeDocument/2006/relationships/image" Target="../media/image7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hyperlink" Target="https://registro.br" TargetMode="External"/><Relationship Id="rId10" Type="http://schemas.openxmlformats.org/officeDocument/2006/relationships/hyperlink" Target="https://developer.mozilla.org/pt-BR/docs/Web/CSS" TargetMode="External"/><Relationship Id="rId13" Type="http://schemas.openxmlformats.org/officeDocument/2006/relationships/hyperlink" Target="https://www.hostgator.com.br" TargetMode="External"/><Relationship Id="rId12" Type="http://schemas.openxmlformats.org/officeDocument/2006/relationships/hyperlink" Target="https://registro.br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9" Type="http://schemas.openxmlformats.org/officeDocument/2006/relationships/hyperlink" Target="https://developer.mozilla.org/pt-BR/docs/Web/CSS" TargetMode="External"/><Relationship Id="rId15" Type="http://schemas.openxmlformats.org/officeDocument/2006/relationships/hyperlink" Target="https://pages.github.com" TargetMode="External"/><Relationship Id="rId14" Type="http://schemas.openxmlformats.org/officeDocument/2006/relationships/hyperlink" Target="https://www.hostgator.com.br" TargetMode="External"/><Relationship Id="rId17" Type="http://schemas.openxmlformats.org/officeDocument/2006/relationships/image" Target="../media/image7.png"/><Relationship Id="rId16" Type="http://schemas.openxmlformats.org/officeDocument/2006/relationships/hyperlink" Target="https://pages.github.com" TargetMode="External"/><Relationship Id="rId5" Type="http://schemas.openxmlformats.org/officeDocument/2006/relationships/hyperlink" Target="https://www.w3.org/Consortium/" TargetMode="External"/><Relationship Id="rId6" Type="http://schemas.openxmlformats.org/officeDocument/2006/relationships/hyperlink" Target="https://www.w3.org/Consortium/" TargetMode="External"/><Relationship Id="rId7" Type="http://schemas.openxmlformats.org/officeDocument/2006/relationships/hyperlink" Target="https://developer.mozilla.org/pt-BR/docs/Web/HTML" TargetMode="External"/><Relationship Id="rId8" Type="http://schemas.openxmlformats.org/officeDocument/2006/relationships/hyperlink" Target="https://developer.mozilla.org/pt-BR/docs/Web/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075550" y="3599550"/>
            <a:ext cx="14136900" cy="3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AMBIENTE</a:t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</a:t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</a:t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6163647" y="1420838"/>
            <a:ext cx="59607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/>
          <p:nvPr/>
        </p:nvCxnSpPr>
        <p:spPr>
          <a:xfrm flipH="1" rot="10800000">
            <a:off x="1296998" y="16306"/>
            <a:ext cx="16565" cy="2135589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p6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97" name="Google Shape;97;p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6"/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6"/>
          <p:cNvSpPr txBox="1"/>
          <p:nvPr/>
        </p:nvSpPr>
        <p:spPr>
          <a:xfrm>
            <a:off x="2043300" y="1189050"/>
            <a:ext cx="155538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Ferramenta para desenvolvimento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t/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1814700" y="3430275"/>
            <a:ext cx="15553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introduzirmos a utilização da linguagem HTML e CSS, primeiro temos que ter uma Ferramenta para que possamos realizar nossos códigos. Vamos utilizar a ferramenta da Microsoft chamada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Visual Studio Code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5"/>
              </a:rPr>
              <a:t>https://code.visualstudio.com/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69916" y="4829175"/>
            <a:ext cx="9548175" cy="51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c6084c8e6_0_7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6c6084c8e6_0_7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g36c6084c8e6_0_70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1" name="Google Shape;111;g36c6084c8e6_0_70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12" name="Google Shape;112;g36c6084c8e6_0_7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g36c6084c8e6_0_7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g36c6084c8e6_0_70"/>
          <p:cNvSpPr txBox="1"/>
          <p:nvPr/>
        </p:nvSpPr>
        <p:spPr>
          <a:xfrm>
            <a:off x="2043300" y="1189050"/>
            <a:ext cx="15553800" cy="17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Preparação do ambiente:</a:t>
            </a:r>
            <a:endParaRPr b="1" sz="52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Pasta do projeto</a:t>
            </a:r>
            <a:endParaRPr b="1" sz="52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g36c6084c8e6_0_70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6c6084c8e6_0_70"/>
          <p:cNvSpPr txBox="1"/>
          <p:nvPr/>
        </p:nvSpPr>
        <p:spPr>
          <a:xfrm>
            <a:off x="1814700" y="3430275"/>
            <a:ext cx="15553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Após abrirmos a ferramenta do Visual Studio Code, vamos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criar uma pasta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no computador para poder armazenar os projetos e arquivos que vamos utilizar nas construções.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g36c6084c8e6_0_7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6c6084c8e6_0_70"/>
          <p:cNvSpPr txBox="1"/>
          <p:nvPr/>
        </p:nvSpPr>
        <p:spPr>
          <a:xfrm>
            <a:off x="2033963" y="8169400"/>
            <a:ext cx="3000000" cy="13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Criar </a:t>
            </a:r>
            <a:r>
              <a:rPr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uma pasta para salvarmos os arquivos e códigos</a:t>
            </a:r>
            <a:endParaRPr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9" name="Google Shape;119;g36c6084c8e6_0_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43288" y="5464300"/>
            <a:ext cx="2981325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6c6084c8e6_0_7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49312" y="4658275"/>
            <a:ext cx="7142025" cy="448267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6c6084c8e6_0_70"/>
          <p:cNvSpPr txBox="1"/>
          <p:nvPr/>
        </p:nvSpPr>
        <p:spPr>
          <a:xfrm>
            <a:off x="7696075" y="9140950"/>
            <a:ext cx="76485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Abrir a pasta do projeto dentro do VS Code (</a:t>
            </a:r>
            <a:r>
              <a:rPr i="1" lang="en-US" sz="2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Arquivo &gt; Abrir Pasta</a:t>
            </a:r>
            <a:r>
              <a:rPr lang="en-US" sz="2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sz="2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2cea470f6_0_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62cea470f6_0_1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g362cea470f6_0_12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9" name="Google Shape;129;g362cea470f6_0_12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30" name="Google Shape;130;g362cea470f6_0_1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g362cea470f6_0_1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g362cea470f6_0_12"/>
          <p:cNvSpPr txBox="1"/>
          <p:nvPr/>
        </p:nvSpPr>
        <p:spPr>
          <a:xfrm>
            <a:off x="2043300" y="1189050"/>
            <a:ext cx="15553800" cy="17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Preparação do ambiente:</a:t>
            </a:r>
            <a:endParaRPr b="1" sz="52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Estrutura de pastas</a:t>
            </a:r>
            <a:endParaRPr b="1" sz="52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3" name="Google Shape;133;g362cea470f6_0_12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62cea470f6_0_12"/>
          <p:cNvSpPr txBox="1"/>
          <p:nvPr/>
        </p:nvSpPr>
        <p:spPr>
          <a:xfrm>
            <a:off x="1814700" y="3430275"/>
            <a:ext cx="15553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Logo após, vamos criar um pouco das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estruturas de pastas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que vamos utilizar dentro de nossos projetos.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g362cea470f6_0_1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62cea470f6_0_12"/>
          <p:cNvSpPr txBox="1"/>
          <p:nvPr/>
        </p:nvSpPr>
        <p:spPr>
          <a:xfrm>
            <a:off x="2195699" y="7250825"/>
            <a:ext cx="5857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Pasta do projeto aberto dentro da IDE</a:t>
            </a:r>
            <a:endParaRPr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g362cea470f6_0_12"/>
          <p:cNvSpPr txBox="1"/>
          <p:nvPr/>
        </p:nvSpPr>
        <p:spPr>
          <a:xfrm>
            <a:off x="9880675" y="8171850"/>
            <a:ext cx="5905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Criando a pasta de estilizações</a:t>
            </a:r>
            <a:endParaRPr sz="2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8" name="Google Shape;138;g362cea470f6_0_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95700" y="5241038"/>
            <a:ext cx="590550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62cea470f6_0_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80663" y="6304950"/>
            <a:ext cx="5857875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62cea470f6_0_12"/>
          <p:cNvSpPr txBox="1"/>
          <p:nvPr/>
        </p:nvSpPr>
        <p:spPr>
          <a:xfrm>
            <a:off x="8600875" y="5048250"/>
            <a:ext cx="84651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Primeiro vamos criar uma pasta para armazenarmos nossos arquivos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.css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na pasta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styles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2cea470f6_0_3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62cea470f6_0_3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g362cea470f6_0_35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8" name="Google Shape;148;g362cea470f6_0_35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49" name="Google Shape;149;g362cea470f6_0_3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g362cea470f6_0_3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g362cea470f6_0_35"/>
          <p:cNvSpPr txBox="1"/>
          <p:nvPr/>
        </p:nvSpPr>
        <p:spPr>
          <a:xfrm>
            <a:off x="2043300" y="1189050"/>
            <a:ext cx="15553800" cy="17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Preparação do ambiente:</a:t>
            </a:r>
            <a:endParaRPr b="1" sz="52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Estrutura de pastas</a:t>
            </a:r>
            <a:endParaRPr b="1" sz="52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" name="Google Shape;152;g362cea470f6_0_35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62cea470f6_0_35"/>
          <p:cNvSpPr txBox="1"/>
          <p:nvPr/>
        </p:nvSpPr>
        <p:spPr>
          <a:xfrm>
            <a:off x="1814700" y="3430275"/>
            <a:ext cx="15553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Após criarmos a pasta para armazenar nossos arquivos de estilos, vamos criar uma pasta para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armazenar as informações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src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- acerca dos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arquivos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importação no projeto, exemplo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imagens e afins.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Repare que dentro da pasta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src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você pode criar pastas específicas para os arquivos.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g362cea470f6_0_3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62cea470f6_0_35"/>
          <p:cNvSpPr txBox="1"/>
          <p:nvPr/>
        </p:nvSpPr>
        <p:spPr>
          <a:xfrm>
            <a:off x="2195699" y="7860425"/>
            <a:ext cx="58578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Criando a pasta de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importação </a:t>
            </a:r>
            <a:r>
              <a:rPr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 </a:t>
            </a:r>
            <a:r>
              <a:rPr b="1"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arquivos </a:t>
            </a:r>
            <a:r>
              <a:rPr lang="en-US" sz="2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externos</a:t>
            </a:r>
            <a:endParaRPr sz="2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" name="Google Shape;156;g362cea470f6_0_35"/>
          <p:cNvSpPr txBox="1"/>
          <p:nvPr/>
        </p:nvSpPr>
        <p:spPr>
          <a:xfrm>
            <a:off x="10371075" y="9137850"/>
            <a:ext cx="59055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Criando um arquivo de exemplo com a </a:t>
            </a:r>
            <a:r>
              <a:rPr b="1" lang="en-US" sz="2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extensão .html</a:t>
            </a:r>
            <a:endParaRPr b="1" sz="2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7" name="Google Shape;157;g362cea470f6_0_35"/>
          <p:cNvSpPr txBox="1"/>
          <p:nvPr/>
        </p:nvSpPr>
        <p:spPr>
          <a:xfrm>
            <a:off x="8753275" y="5276850"/>
            <a:ext cx="84651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por fim, vamos criar nosso arquivo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.html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 criar o conteúdo de nossas páginas para internet.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8" name="Google Shape;158;g362cea470f6_0_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14700" y="5345825"/>
            <a:ext cx="5819775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362cea470f6_0_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332975" y="6337500"/>
            <a:ext cx="5981700" cy="28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2cea470f6_0_5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62cea470f6_0_5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g362cea470f6_0_57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7" name="Google Shape;167;g362cea470f6_0_57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68" name="Google Shape;168;g362cea470f6_0_5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g362cea470f6_0_5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g362cea470f6_0_57"/>
          <p:cNvSpPr txBox="1"/>
          <p:nvPr/>
        </p:nvSpPr>
        <p:spPr>
          <a:xfrm>
            <a:off x="2043300" y="1189050"/>
            <a:ext cx="15553800" cy="17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Preparação do ambiente:</a:t>
            </a:r>
            <a:endParaRPr b="1" sz="52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Outras configurações</a:t>
            </a:r>
            <a:endParaRPr b="1" sz="52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" name="Google Shape;171;g362cea470f6_0_57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62cea470f6_0_57"/>
          <p:cNvSpPr txBox="1"/>
          <p:nvPr/>
        </p:nvSpPr>
        <p:spPr>
          <a:xfrm>
            <a:off x="1814700" y="3430275"/>
            <a:ext cx="15553800" cy="4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Além das configurações iniciais que vimos anteriormente, tem algumas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recomendações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 são importantes para quem está iniciando em um ambiente de desenvolvimento.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Extensões:</a:t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Português (Brasil)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Debugger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linguagens/frameworks: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Facilitam a programação com cores, autocompletar e alertas de erro.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2" marL="13716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■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Exemplo: Python Debbuger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g362cea470f6_0_5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g362cea470f6_0_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82212" y="4878512"/>
            <a:ext cx="6509008" cy="143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62cea470f6_0_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82200" y="7567037"/>
            <a:ext cx="6489920" cy="143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2cea470f6_0_7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62cea470f6_0_7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g362cea470f6_0_78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3" name="Google Shape;183;g362cea470f6_0_78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184" name="Google Shape;184;g362cea470f6_0_7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g362cea470f6_0_7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g362cea470f6_0_78"/>
          <p:cNvSpPr txBox="1"/>
          <p:nvPr/>
        </p:nvSpPr>
        <p:spPr>
          <a:xfrm>
            <a:off x="2043300" y="1189050"/>
            <a:ext cx="15553800" cy="17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Preparação do ambiente:</a:t>
            </a:r>
            <a:endParaRPr b="1" sz="52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Outras configurações</a:t>
            </a:r>
            <a:endParaRPr b="1" sz="52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7" name="Google Shape;187;g362cea470f6_0_78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62cea470f6_0_78"/>
          <p:cNvSpPr txBox="1"/>
          <p:nvPr/>
        </p:nvSpPr>
        <p:spPr>
          <a:xfrm>
            <a:off x="1814700" y="3430275"/>
            <a:ext cx="15553800" cy="59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Além das configurações de extensão, temos algumas outras configurações interessantes de conhecer no VS CODE que 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estilização da ferramenta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em si.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Salvamento automático</a:t>
            </a: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É sempre recomendado manter essa opção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selecionada, pois caso venha a faltar energia, erro na ferramenta, fechamento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brusco, etc. Você terá seus código a salvo.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Tema</a:t>
            </a: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é possível mudar o tema (cores) do VS Code, seguindo os seguintes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Clique em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Engrenagem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(⚙️)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Vá em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“Tema” &gt;”tema de cores”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Escolha um tema da lista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(ex: Dark+, Light, Monokai...).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" name="Google Shape;189;g362cea470f6_0_7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g362cea470f6_0_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463098" y="3994325"/>
            <a:ext cx="2539475" cy="5063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62cea470f6_0_7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04100" y="7076597"/>
            <a:ext cx="4838701" cy="242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2cea470f6_0_9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62cea470f6_0_9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g362cea470f6_0_96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9" name="Google Shape;199;g362cea470f6_0_96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200" name="Google Shape;200;g362cea470f6_0_9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g362cea470f6_0_9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g362cea470f6_0_96"/>
          <p:cNvSpPr txBox="1"/>
          <p:nvPr/>
        </p:nvSpPr>
        <p:spPr>
          <a:xfrm>
            <a:off x="2043300" y="1189050"/>
            <a:ext cx="15553800" cy="17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Preparação do ambiente:</a:t>
            </a:r>
            <a:endParaRPr b="1" sz="52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Outras configurações</a:t>
            </a:r>
            <a:endParaRPr b="1" sz="52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3" name="Google Shape;203;g362cea470f6_0_96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62cea470f6_0_96"/>
          <p:cNvSpPr txBox="1"/>
          <p:nvPr/>
        </p:nvSpPr>
        <p:spPr>
          <a:xfrm>
            <a:off x="1814700" y="3430275"/>
            <a:ext cx="15553800" cy="67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Poppins"/>
              <a:buChar char="●"/>
            </a:pPr>
            <a:r>
              <a:rPr b="1" lang="en-US" sz="2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Para mudar a fonte do código:</a:t>
            </a:r>
            <a:endParaRPr b="1" sz="22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Clique na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Engrenagem (⚙️)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&gt; depois em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"Configurações"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b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 barra de busca, digite: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font family.</a:t>
            </a:r>
            <a:b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Clique na opção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"Editor: Font Family"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b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Altere para a fonte desejada (ex: Fira Code, Courier New, Consolas...).</a:t>
            </a:r>
            <a:b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Poppins"/>
              <a:buChar char="●"/>
            </a:pPr>
            <a:r>
              <a:rPr b="1" lang="en-US" sz="2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Se quiser aumentar o tamanho da fonte:</a:t>
            </a:r>
            <a:endParaRPr b="1" sz="22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Ainda nas configurações, digite:</a:t>
            </a:r>
            <a:r>
              <a:rPr b="1" lang="en-US" sz="2200">
                <a:latin typeface="Poppins"/>
                <a:ea typeface="Poppins"/>
                <a:cs typeface="Poppins"/>
                <a:sym typeface="Poppins"/>
              </a:rPr>
              <a:t> font size.</a:t>
            </a:r>
            <a:b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Mude o valor em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"Editor: Font Size"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(padrão é 14, pode pôr 16 ou 18 para enxergar melhor).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5" name="Google Shape;205;g362cea470f6_0_9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2cea470f6_0_12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62cea470f6_0_12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g362cea470f6_0_125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3" name="Google Shape;213;g362cea470f6_0_125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214" name="Google Shape;214;g362cea470f6_0_12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g362cea470f6_0_12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g362cea470f6_0_125"/>
          <p:cNvSpPr txBox="1"/>
          <p:nvPr/>
        </p:nvSpPr>
        <p:spPr>
          <a:xfrm>
            <a:off x="2043300" y="1189050"/>
            <a:ext cx="15553800" cy="17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Preparação do ambiente:</a:t>
            </a:r>
            <a:endParaRPr b="1" sz="52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Outras configurações</a:t>
            </a:r>
            <a:endParaRPr b="1" sz="52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7" name="Google Shape;217;g362cea470f6_0_125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62cea470f6_0_125"/>
          <p:cNvSpPr txBox="1"/>
          <p:nvPr/>
        </p:nvSpPr>
        <p:spPr>
          <a:xfrm>
            <a:off x="1814700" y="3430275"/>
            <a:ext cx="15553800" cy="46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D93831"/>
              </a:buClr>
              <a:buSzPts val="2200"/>
              <a:buFont typeface="Poppins"/>
              <a:buChar char="●"/>
            </a:pPr>
            <a:r>
              <a:rPr b="1" lang="en-US" sz="22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Mostrar números das linhas</a:t>
            </a:r>
            <a:r>
              <a:rPr b="1" lang="en-US" sz="22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 (para facilitar orientação):</a:t>
            </a:r>
            <a:endParaRPr b="1" sz="22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1" marL="9144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Char char="○"/>
            </a:pP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Já vem ativado por padrão, mas confirme em:</a:t>
            </a:r>
            <a:b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⚙️ &gt;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Configurações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&gt; Buscar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line numbers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1" marL="9144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Char char="○"/>
            </a:pP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Verifique se está como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"on"</a:t>
            </a:r>
            <a:b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Poppins"/>
              <a:buChar char="●"/>
            </a:pPr>
            <a:r>
              <a:rPr b="1" lang="en-US" sz="2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Ativar formatação ao salvar</a:t>
            </a:r>
            <a:r>
              <a:rPr b="1" lang="en-US" sz="2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(mantém o código bonito automaticamente):</a:t>
            </a:r>
            <a:endParaRPr b="1" sz="22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Char char="○"/>
            </a:pP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⚙️ &gt;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Configurações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&gt; Buscar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format on save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Char char="○"/>
            </a:pP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Marcar a opção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"Editor: Format On Save”</a:t>
            </a:r>
            <a:b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9" name="Google Shape;219;g362cea470f6_0_12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2cea470f6_0_1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62cea470f6_0_11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g362cea470f6_0_112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7" name="Google Shape;227;g362cea470f6_0_112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228" name="Google Shape;228;g362cea470f6_0_11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g362cea470f6_0_11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0" name="Google Shape;230;g362cea470f6_0_112"/>
          <p:cNvSpPr txBox="1"/>
          <p:nvPr/>
        </p:nvSpPr>
        <p:spPr>
          <a:xfrm>
            <a:off x="2043300" y="1189050"/>
            <a:ext cx="15553800" cy="17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Preparação do ambiente:</a:t>
            </a:r>
            <a:endParaRPr b="1" sz="52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Outras configurações</a:t>
            </a:r>
            <a:endParaRPr b="1" sz="52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1" name="Google Shape;231;g362cea470f6_0_112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62cea470f6_0_112"/>
          <p:cNvSpPr txBox="1"/>
          <p:nvPr/>
        </p:nvSpPr>
        <p:spPr>
          <a:xfrm>
            <a:off x="1814700" y="3430275"/>
            <a:ext cx="15553800" cy="4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Poppins"/>
              <a:buChar char="●"/>
            </a:pPr>
            <a:r>
              <a:rPr b="1" lang="en-US" sz="2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Espaços em vez de Tab (evita bugs de identação no Python):</a:t>
            </a:r>
            <a:endParaRPr b="1" sz="22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Char char="○"/>
            </a:pP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⚙️ &gt;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Configurações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&gt; Buscar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insert spaces</a:t>
            </a:r>
            <a:endParaRPr b="1"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Char char="○"/>
            </a:pP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Marcar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"Editor: Insert Spaces"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(true)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Char char="○"/>
            </a:pP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Buscar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tab size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 definir como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b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Poppins"/>
              <a:buChar char="●"/>
            </a:pPr>
            <a:r>
              <a:rPr b="1" lang="en-US" sz="2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Terminal integrado visível na parte inferior:</a:t>
            </a:r>
            <a:endParaRPr b="1" sz="22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Char char="○"/>
            </a:pP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Ctrl + (crase)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abre o terminal rápido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Char char="○"/>
            </a:pP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Importante para rodar arquivos Python direto no VS Code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3" name="Google Shape;233;g362cea470f6_0_11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62cea470f6_0_13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62cea470f6_0_13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g362cea470f6_0_139"/>
          <p:cNvCxnSpPr/>
          <p:nvPr/>
        </p:nvCxnSpPr>
        <p:spPr>
          <a:xfrm flipH="1" rot="10800000">
            <a:off x="12969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1" name="Google Shape;241;g362cea470f6_0_139"/>
          <p:cNvGrpSpPr/>
          <p:nvPr/>
        </p:nvGrpSpPr>
        <p:grpSpPr>
          <a:xfrm>
            <a:off x="1396400" y="2987149"/>
            <a:ext cx="16211658" cy="7299925"/>
            <a:chOff x="0" y="-38100"/>
            <a:chExt cx="4269709" cy="2000418"/>
          </a:xfrm>
        </p:grpSpPr>
        <p:sp>
          <p:nvSpPr>
            <p:cNvPr id="242" name="Google Shape;242;g362cea470f6_0_13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g362cea470f6_0_13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g362cea470f6_0_139"/>
          <p:cNvSpPr txBox="1"/>
          <p:nvPr/>
        </p:nvSpPr>
        <p:spPr>
          <a:xfrm>
            <a:off x="2043300" y="1189050"/>
            <a:ext cx="15553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Versionamento (Git / GitHub)</a:t>
            </a:r>
            <a:endParaRPr b="1" sz="52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g362cea470f6_0_139"/>
          <p:cNvSpPr txBox="1"/>
          <p:nvPr/>
        </p:nvSpPr>
        <p:spPr>
          <a:xfrm>
            <a:off x="2043295" y="962025"/>
            <a:ext cx="27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62cea470f6_0_139"/>
          <p:cNvSpPr txBox="1"/>
          <p:nvPr/>
        </p:nvSpPr>
        <p:spPr>
          <a:xfrm>
            <a:off x="1814700" y="3430275"/>
            <a:ext cx="15553800" cy="67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sng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NÃO EXISTE 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possibilidade de desenvolver um projeto sem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salvar 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versionar 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seu trabalho. Por isso, </a:t>
            </a:r>
            <a:r>
              <a:rPr b="1" lang="en-US" sz="2200" u="sng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SEMPRE 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crie seus projetos em uma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pasta conectada ao seu repositório no GitHub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Poppins"/>
              <a:buChar char="●"/>
            </a:pPr>
            <a:r>
              <a:rPr b="1" lang="en-US" sz="2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Boas práticas com GitHub (usando GitHub Desktop):</a:t>
            </a:r>
            <a:endParaRPr b="1" sz="22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Crie o repositório no GitHub Desktop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quando for começar um novo projeto.</a:t>
            </a:r>
            <a:b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Escolha a pasta do projeto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já criada no VS Code.</a:t>
            </a:r>
            <a:b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Faça commits com frequência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(ex: cada tarefa ou aula feita).</a:t>
            </a:r>
            <a:b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o botão “Push” sempre que terminar o exercício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 garantir que seu trabalho está salvo na nuvem.</a:t>
            </a:r>
            <a:b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AutoNum type="arabicPeriod"/>
            </a:pP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Nunca 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apague a pasta antes de verificar se está no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GitHub.</a:t>
            </a:r>
            <a:endParaRPr b="1"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7" name="Google Shape;247;g362cea470f6_0_13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15"/>
          <p:cNvCxnSpPr/>
          <p:nvPr/>
        </p:nvCxnSpPr>
        <p:spPr>
          <a:xfrm rot="10800000">
            <a:off x="1330128" y="16307"/>
            <a:ext cx="0" cy="226811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5" name="Google Shape;255;p15"/>
          <p:cNvGrpSpPr/>
          <p:nvPr/>
        </p:nvGrpSpPr>
        <p:grpSpPr>
          <a:xfrm>
            <a:off x="1396388" y="2987159"/>
            <a:ext cx="16211550" cy="7595338"/>
            <a:chOff x="0" y="-38100"/>
            <a:chExt cx="4269709" cy="2000418"/>
          </a:xfrm>
        </p:grpSpPr>
        <p:sp>
          <p:nvSpPr>
            <p:cNvPr id="256" name="Google Shape;256;p1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5"/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8" name="Google Shape;258;p15"/>
          <p:cNvSpPr txBox="1"/>
          <p:nvPr/>
        </p:nvSpPr>
        <p:spPr>
          <a:xfrm>
            <a:off x="2043296" y="1189042"/>
            <a:ext cx="710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5"/>
          <p:cNvSpPr txBox="1"/>
          <p:nvPr/>
        </p:nvSpPr>
        <p:spPr>
          <a:xfrm>
            <a:off x="2043296" y="962025"/>
            <a:ext cx="458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HTML E CSS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0" name="Google Shape;260;p15"/>
          <p:cNvSpPr txBox="1"/>
          <p:nvPr/>
        </p:nvSpPr>
        <p:spPr>
          <a:xfrm>
            <a:off x="1814696" y="3277870"/>
            <a:ext cx="14443800" cy="57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BRASIL. Comitê Gestor da Internet no Brasil – CGI.br. </a:t>
            </a:r>
            <a:r>
              <a:rPr b="1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Cartilha de Segurança para Internet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12. ed. São Paulo: CGI.br, 2023. Disponível em: https://cartilha.cert.br. Acesso em: 02 jul. 2025.</a:t>
            </a:r>
            <a:endParaRPr b="0" i="0" sz="2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W3C – WORLD WIDE WEB CONSORTIUM. </a:t>
            </a:r>
            <a:r>
              <a:rPr b="1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Sobre o W3C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Disponível em:</a:t>
            </a:r>
            <a:r>
              <a:rPr b="0" i="0" lang="en-US" sz="2300" u="none" cap="none" strike="noStrike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23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https://www.w3.org/Consortium/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02 jul. 2025.</a:t>
            </a:r>
            <a:endParaRPr b="0" i="0" sz="2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MOZILLA. </a:t>
            </a:r>
            <a:r>
              <a:rPr b="1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HTML: HyperText Markup Language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MDN Web Docs. Disponível em:</a:t>
            </a:r>
            <a:r>
              <a:rPr b="0" i="0" lang="en-US" sz="2300" u="none" cap="none" strike="noStrike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23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8"/>
              </a:rPr>
              <a:t>https://developer.mozilla.org/pt-BR/docs/Web/HTML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02 jul. 2025.</a:t>
            </a:r>
            <a:endParaRPr b="0" i="0" sz="2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MOZILLA. </a:t>
            </a:r>
            <a:r>
              <a:rPr b="1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CSS: Cascading Style Sheets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MDN Web Docs. Disponível em:</a:t>
            </a:r>
            <a:r>
              <a:rPr b="0" i="0" lang="en-US" sz="2300" u="none" cap="none" strike="noStrike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23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10"/>
              </a:rPr>
              <a:t>https://developer.mozilla.org/pt-BR/docs/Web/CSS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02 jul. 2025.</a:t>
            </a:r>
            <a:endParaRPr b="0" i="0" sz="2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REGISTRO.BR. </a:t>
            </a:r>
            <a:r>
              <a:rPr b="1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Registro de domínios .br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Disponível em:</a:t>
            </a:r>
            <a:r>
              <a:rPr b="0" i="0" lang="en-US" sz="2300" u="none" cap="none" strike="noStrike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23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12"/>
              </a:rPr>
              <a:t>https://registro.br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02 jul. 2025.</a:t>
            </a:r>
            <a:endParaRPr b="0" i="0" sz="2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HOSTGATOR. </a:t>
            </a:r>
            <a:r>
              <a:rPr b="1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Planos de hospedagem de sites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Disponível em:</a:t>
            </a:r>
            <a:r>
              <a:rPr b="0" i="0" lang="en-US" sz="2300" u="none" cap="none" strike="noStrike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23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14"/>
              </a:rPr>
              <a:t>https://www.hostgator.com.br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02 jul. 2025.</a:t>
            </a:r>
            <a:endParaRPr b="0" i="0" sz="2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GITHUB. </a:t>
            </a:r>
            <a:r>
              <a:rPr b="1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Pages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Disponível em:</a:t>
            </a:r>
            <a:r>
              <a:rPr b="0" i="0" lang="en-US" sz="2300" u="none" cap="none" strike="noStrike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23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16"/>
              </a:rPr>
              <a:t>https://pages.github.com</a:t>
            </a:r>
            <a:r>
              <a:rPr b="0" i="0" lang="en-US" sz="2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Acesso em: 02 jul. 2025.</a:t>
            </a:r>
            <a:endParaRPr b="1" i="0" sz="36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