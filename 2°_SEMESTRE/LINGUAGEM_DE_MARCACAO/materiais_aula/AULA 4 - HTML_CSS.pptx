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7EowxoRTHDD4js2B4EihwwaOV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3bfd3493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Comece a aula recapitulando rapidamente o conceito de wireframe da aula anterior.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Pergunte: "Depois que temos o esqueleto da página (o wireframe), qual é a próxima coisa mais importante que precisamos colocar nela?" A resposta esperada é "o conteúdo" ou "o texto".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Estabeleça o objetivo: "Hoje, vamos aprender os blocos de construção básicos para colocar e organizar qualquer texto em uma página web usando HTML."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63bfd3493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3bfd3493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63bfd34937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3bfd3493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Reforce a ideia de "hierarquia" como se fosse um documento no Word ou Google Docs (Título 1, Título 2, etc.).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Mencione a regra de ouro: "Geralmente, usamos apenas UM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lang="en-US">
                <a:solidFill>
                  <a:schemeClr val="dk1"/>
                </a:solidFill>
              </a:rPr>
              <a:t> por página, pois ele representa o tópico principal daquela página inteira."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Desafie os alunos: "Abram um site de notícias e usem o 'Inspecionar Elemento' do navegador para encontrar os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lang="en-US">
                <a:solidFill>
                  <a:schemeClr val="dk1"/>
                </a:solidFill>
              </a:rPr>
              <a:t> 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&lt;h2&gt;</a:t>
            </a:r>
            <a:r>
              <a:rPr lang="en-US">
                <a:solidFill>
                  <a:schemeClr val="dk1"/>
                </a:solidFill>
              </a:rPr>
              <a:t> da página."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63bfd34937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3bfd3493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analogia perfeita é o parágrafo de um livro ou de uma redação. A função é a mesma: organizar ideias em blocos.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Deixe claro que o espaçamento que o navegador adiciona é o comportamento padrão. Diga: "Mais para frente no curso, com CSS, vocês aprenderão a controlar esse espaçamento com precisão."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63bfd34937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3bfd3493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Use a analogia da tecla "Shift + Enter" em editores de texto, que quebra a linha sem criar um novo parágrafo, ao contrário do "Enter" sozinho.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Alerte sobre o mau uso: "Evitem usar vários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&lt;br&gt;</a:t>
            </a:r>
            <a:r>
              <a:rPr lang="en-US">
                <a:solidFill>
                  <a:schemeClr val="dk1"/>
                </a:solidFill>
              </a:rPr>
              <a:t> seguidos para criar espaço. Essa não é uma boa prática. Para isso, usaremos CSS."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63bfd34937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3bfd3493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Importante:</a:t>
            </a:r>
            <a:r>
              <a:rPr lang="en-US">
                <a:solidFill>
                  <a:schemeClr val="dk1"/>
                </a:solidFill>
              </a:rPr>
              <a:t> Apenas diga que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&lt;strong&gt;</a:t>
            </a:r>
            <a:r>
              <a:rPr lang="en-US">
                <a:solidFill>
                  <a:schemeClr val="dk1"/>
                </a:solidFill>
              </a:rPr>
              <a:t> é a mais recomendada ou a "prática mais moderna". Não explique o porquê (semântica) ainda. Guarde essa informação para a aula específica sobre o tema.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Se um aluno perguntar "Mas por que existem duas tags para a mesma coisa?", responda de forma simples: "O HTML evoluiu com o tempo. Ambas funcionam, mas a comunidade de desenvolvedores adota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&lt;strong&gt;</a:t>
            </a:r>
            <a:r>
              <a:rPr lang="en-US">
                <a:solidFill>
                  <a:schemeClr val="dk1"/>
                </a:solidFill>
              </a:rPr>
              <a:t> como padrão hoje em dia."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63bfd34937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3bfd3493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mesma orientação do slide anterior se aplica aqui. Não entre em méritos de "ênfase" vs. "itálico". Apenas apresente como duas opções com o mesmo resultado, onde uma (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&lt;em&gt;</a:t>
            </a:r>
            <a:r>
              <a:rPr lang="en-US">
                <a:solidFill>
                  <a:schemeClr val="dk1"/>
                </a:solidFill>
              </a:rPr>
              <a:t>) é a mais utilizada hoje.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Bons exemplos para a tag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&lt;i&gt;</a:t>
            </a:r>
            <a:r>
              <a:rPr lang="en-US">
                <a:solidFill>
                  <a:schemeClr val="dk1"/>
                </a:solidFill>
              </a:rPr>
              <a:t> são nomes científicos ou palavras em outro idioma.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5" name="Google Shape;175;g363bfd34937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3bfd3493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Este slide é bem direto. Os exemplos são autoexplicativos.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Você pode dar outro exemplo para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&lt;sup&gt;</a:t>
            </a:r>
            <a:r>
              <a:rPr lang="en-US">
                <a:solidFill>
                  <a:schemeClr val="dk1"/>
                </a:solidFill>
              </a:rPr>
              <a:t>, como o símbolo de marca registrada (™), que pode ser escrito como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&lt;sup&gt;TM&lt;/sup&gt;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9" name="Google Shape;189;g363bfd34937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17af378f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" name="Google Shape;203;g3717af378f7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17af378f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717af378f7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17af378f7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717af378f7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17af378f7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3717af378f7_0_2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17af378f7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717af378f7_0_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3bfd3493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63bfd34937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registro.br" TargetMode="External"/><Relationship Id="rId10" Type="http://schemas.openxmlformats.org/officeDocument/2006/relationships/hyperlink" Target="https://developer.mozilla.org/pt-BR/docs/Web/CSS" TargetMode="External"/><Relationship Id="rId13" Type="http://schemas.openxmlformats.org/officeDocument/2006/relationships/hyperlink" Target="https://www.hostgator.com.br" TargetMode="External"/><Relationship Id="rId12" Type="http://schemas.openxmlformats.org/officeDocument/2006/relationships/hyperlink" Target="https://registro.br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hyperlink" Target="https://developer.mozilla.org/pt-BR/docs/Web/CSS" TargetMode="External"/><Relationship Id="rId15" Type="http://schemas.openxmlformats.org/officeDocument/2006/relationships/hyperlink" Target="https://pages.github.com" TargetMode="External"/><Relationship Id="rId14" Type="http://schemas.openxmlformats.org/officeDocument/2006/relationships/hyperlink" Target="https://www.hostgator.com.br" TargetMode="External"/><Relationship Id="rId17" Type="http://schemas.openxmlformats.org/officeDocument/2006/relationships/image" Target="../media/image1.png"/><Relationship Id="rId16" Type="http://schemas.openxmlformats.org/officeDocument/2006/relationships/hyperlink" Target="https://pages.github.com" TargetMode="External"/><Relationship Id="rId5" Type="http://schemas.openxmlformats.org/officeDocument/2006/relationships/hyperlink" Target="https://www.w3.org/Consortium/" TargetMode="External"/><Relationship Id="rId6" Type="http://schemas.openxmlformats.org/officeDocument/2006/relationships/hyperlink" Target="https://www.w3.org/Consortium/" TargetMode="External"/><Relationship Id="rId7" Type="http://schemas.openxmlformats.org/officeDocument/2006/relationships/hyperlink" Target="https://developer.mozilla.org/pt-BR/docs/Web/HTML" TargetMode="External"/><Relationship Id="rId8" Type="http://schemas.openxmlformats.org/officeDocument/2006/relationships/hyperlink" Target="https://developer.mozilla.org/pt-BR/docs/Web/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075550" y="3599550"/>
            <a:ext cx="14136900" cy="25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Elementos para Manipulação de Textos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3bfd34937_0_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63bfd34937_0_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63bfd34937_0_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63bfd34937_0_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97" name="Google Shape;97;g363bfd34937_0_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63bfd34937_0_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63bfd34937_0_2"/>
          <p:cNvSpPr txBox="1"/>
          <p:nvPr/>
        </p:nvSpPr>
        <p:spPr>
          <a:xfrm>
            <a:off x="2043306" y="962025"/>
            <a:ext cx="61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Manipulação de textos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63bfd34937_0_2"/>
          <p:cNvSpPr txBox="1"/>
          <p:nvPr/>
        </p:nvSpPr>
        <p:spPr>
          <a:xfrm>
            <a:off x="1814700" y="3430275"/>
            <a:ext cx="15553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Nas aulas anteriores, vimos como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planejar o leiaute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e como é fundamental a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estrutura inicial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do HTML.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Suas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Tags principais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são as que geram o “esqueleto” do nosso código.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Agora, vamos aprender a inserir e formatar os textos dentro da nossa estrutura.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63bfd34937_0_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63bfd34937_0_2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Elementos para Manipulação de Textos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3bfd34937_0_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63bfd34937_0_1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63bfd34937_0_17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63bfd34937_0_17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11" name="Google Shape;111;g363bfd34937_0_1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63bfd34937_0_1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63bfd34937_0_17"/>
          <p:cNvSpPr txBox="1"/>
          <p:nvPr/>
        </p:nvSpPr>
        <p:spPr>
          <a:xfrm>
            <a:off x="2043300" y="1189050"/>
            <a:ext cx="15553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Fonte e Alinhamento: Uma Nota Importante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63bfd34937_0_17"/>
          <p:cNvSpPr txBox="1"/>
          <p:nvPr/>
        </p:nvSpPr>
        <p:spPr>
          <a:xfrm>
            <a:off x="2043306" y="962025"/>
            <a:ext cx="61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Manipulação de textos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63bfd34937_0_17"/>
          <p:cNvSpPr txBox="1"/>
          <p:nvPr/>
        </p:nvSpPr>
        <p:spPr>
          <a:xfrm>
            <a:off x="1814700" y="3430275"/>
            <a:ext cx="15553800" cy="4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passado, tags como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&lt;font&gt;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atributos como align eram usados no HTML.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Hoje, essa prática não é mais recomendada!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estilização (cores, fontes, alinhamentos) deve ser feita com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que veremos mais à frente.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enquanto, vamos focar na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texto.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g363bfd34937_0_1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3bfd34937_0_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63bfd34937_0_3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63bfd34937_0_3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63bfd34937_0_3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25" name="Google Shape;125;g363bfd34937_0_3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63bfd34937_0_3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63bfd34937_0_32"/>
          <p:cNvSpPr txBox="1"/>
          <p:nvPr/>
        </p:nvSpPr>
        <p:spPr>
          <a:xfrm>
            <a:off x="2043306" y="962025"/>
            <a:ext cx="61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Manipulação de textos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63bfd34937_0_32"/>
          <p:cNvSpPr txBox="1"/>
          <p:nvPr/>
        </p:nvSpPr>
        <p:spPr>
          <a:xfrm>
            <a:off x="1814700" y="3430275"/>
            <a:ext cx="15553800" cy="7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Servem para definir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títulos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subtítulos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criando uma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hierarquia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 documento.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&lt;h1&gt;: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título mais importante da página. (Use apenas um por página!)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&lt;h2&gt;: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subtítulo do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&lt;h1&gt;.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&lt;h3&gt;: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Um subtítulo 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&lt;h2&gt;.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...e assim por diante até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&lt;h6&gt;.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h1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&gt;Este é o Título Principal&lt;/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h1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h2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&gt;Este é um Subtítulo&lt;/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h2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h3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&gt;Um nível abaixo do subtítulo&lt;/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h3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Use os cabeçalhos pela sua importância, não pelo tamanho do texto.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63bfd34937_0_3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63bfd34937_0_32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Elementos de Cabeçalho (h1 até h6)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3bfd34937_0_4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63bfd34937_0_4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63bfd34937_0_47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g363bfd34937_0_47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39" name="Google Shape;139;g363bfd34937_0_4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63bfd34937_0_4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63bfd34937_0_47"/>
          <p:cNvSpPr txBox="1"/>
          <p:nvPr/>
        </p:nvSpPr>
        <p:spPr>
          <a:xfrm>
            <a:off x="2043306" y="962025"/>
            <a:ext cx="61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Manipulação de textos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63bfd34937_0_47"/>
          <p:cNvSpPr txBox="1"/>
          <p:nvPr/>
        </p:nvSpPr>
        <p:spPr>
          <a:xfrm>
            <a:off x="1814700" y="3430275"/>
            <a:ext cx="15553800" cy="4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o elemento principal para agrupar textos. Todo texto corrido que você vê em um site provavelmente está dentro de uma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&lt;p&gt;.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 cria um bloco de texto, com um espaçamento antes e depois.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&gt;Este é um parágrafo de exemplo em uma página web.&lt;/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&gt;Este é outro parágrafo. Note como o navegador cria um espaço entre eles.&lt;/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63bfd34937_0_4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63bfd34937_0_47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Parágrafo (&lt;p&gt;)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3bfd34937_0_6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63bfd34937_0_6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63bfd34937_0_6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" name="Google Shape;152;g363bfd34937_0_6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53" name="Google Shape;153;g363bfd34937_0_6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363bfd34937_0_6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63bfd34937_0_64"/>
          <p:cNvSpPr txBox="1"/>
          <p:nvPr/>
        </p:nvSpPr>
        <p:spPr>
          <a:xfrm>
            <a:off x="2043306" y="962025"/>
            <a:ext cx="61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Manipulação de textos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63bfd34937_0_64"/>
          <p:cNvSpPr txBox="1"/>
          <p:nvPr/>
        </p:nvSpPr>
        <p:spPr>
          <a:xfrm>
            <a:off x="1814700" y="3430275"/>
            <a:ext cx="15553800" cy="6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se você precisar apenas "pular uma linha", sem criar um novo parágrafo com todo aquele espaçamento?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&lt;br&gt;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(break).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Ideal para: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Poemas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Endereços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Quebras de linha SIMPLES.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Rua dos Desenvolvedores, 101&lt;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Bairro do Código&lt;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CEP: 01010-101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g363bfd34937_0_6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63bfd34937_0_64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Quebra de Linha (&lt;br&gt;)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3bfd34937_0_8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63bfd34937_0_8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g363bfd34937_0_80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" name="Google Shape;166;g363bfd34937_0_80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67" name="Google Shape;167;g363bfd34937_0_8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g363bfd34937_0_8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g363bfd34937_0_80"/>
          <p:cNvSpPr txBox="1"/>
          <p:nvPr/>
        </p:nvSpPr>
        <p:spPr>
          <a:xfrm>
            <a:off x="2043306" y="962025"/>
            <a:ext cx="61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Manipulação de textos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63bfd34937_0_80"/>
          <p:cNvSpPr txBox="1"/>
          <p:nvPr/>
        </p:nvSpPr>
        <p:spPr>
          <a:xfrm>
            <a:off x="1814700" y="3430275"/>
            <a:ext cx="15553800" cy="5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deixar um texto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negrito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temos duas tags que produzem o mesmo resultado visual: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&lt;b&gt;: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tag tradicional para negrito (</a:t>
            </a:r>
            <a:r>
              <a:rPr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bold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&lt;strong&gt;: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Uma tag mais moderna que também resulta em negrito.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convenção, prefira usar a tag 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strong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&gt;O prazo final para a entrega é 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&gt;amanhã&lt;/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&gt;.&lt;/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strong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&gt;AVISO:&lt;/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strong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 O portão será fechado às 18h.&lt;/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363bfd34937_0_8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63bfd34937_0_80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Estilos de Formatação: Negrito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3bfd34937_0_1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63bfd34937_0_12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g363bfd34937_0_123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0" name="Google Shape;180;g363bfd34937_0_123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81" name="Google Shape;181;g363bfd34937_0_12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g363bfd34937_0_12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g363bfd34937_0_123"/>
          <p:cNvSpPr txBox="1"/>
          <p:nvPr/>
        </p:nvSpPr>
        <p:spPr>
          <a:xfrm>
            <a:off x="2043306" y="962025"/>
            <a:ext cx="61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Manipulação de textos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63bfd34937_0_123"/>
          <p:cNvSpPr txBox="1"/>
          <p:nvPr/>
        </p:nvSpPr>
        <p:spPr>
          <a:xfrm>
            <a:off x="1814700" y="3430275"/>
            <a:ext cx="15553800" cy="5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o </a:t>
            </a:r>
            <a:r>
              <a:rPr b="1"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itálico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 lógica é a mesma. Duas tags com o mesmo efeito visual: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&lt;i&gt;: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tag clássica para itálico.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&lt;em&gt;: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alternativa mais moderna, que também deixa o texto em itálico.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Novamente, por convenção, dê preferência para 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&lt;em&gt;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&gt;A palavra 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&gt;status quo&lt;/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 vem do Latim.&lt;/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&gt;Você 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&gt;realmente&lt;/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 precisa ver isso!&lt;/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g363bfd34937_0_12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63bfd34937_0_123"/>
          <p:cNvSpPr txBox="1"/>
          <p:nvPr/>
        </p:nvSpPr>
        <p:spPr>
          <a:xfrm>
            <a:off x="2043300" y="1189050"/>
            <a:ext cx="1555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Estilos de Formatação: Itálico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3bfd34937_0_15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63bfd34937_0_15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g363bfd34937_0_15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4" name="Google Shape;194;g363bfd34937_0_15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95" name="Google Shape;195;g363bfd34937_0_15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g363bfd34937_0_15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g363bfd34937_0_154"/>
          <p:cNvSpPr txBox="1"/>
          <p:nvPr/>
        </p:nvSpPr>
        <p:spPr>
          <a:xfrm>
            <a:off x="2043306" y="962025"/>
            <a:ext cx="61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Manipulação de textos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63bfd34937_0_154"/>
          <p:cNvSpPr txBox="1"/>
          <p:nvPr/>
        </p:nvSpPr>
        <p:spPr>
          <a:xfrm>
            <a:off x="1814700" y="3430275"/>
            <a:ext cx="155538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Subscrito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Coloca o texto um pouco abaixo da linha normal. Perfeito para fórmulas químicas.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Sobrescrito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Coloca o texto um pouco acima da linha normal. Ótimo para notas de rodapé ou potências matemáticas.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&gt;A fórmula da água é H&lt;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&gt;2&lt;/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&gt;O.&lt;/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&gt;O resultado de 5 ao quadrado (5&lt;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&gt;2&lt;/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&gt;) é 25.&lt;/</a:t>
            </a: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g363bfd34937_0_15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63bfd34937_0_154"/>
          <p:cNvSpPr txBox="1"/>
          <p:nvPr/>
        </p:nvSpPr>
        <p:spPr>
          <a:xfrm>
            <a:off x="2043300" y="1189050"/>
            <a:ext cx="15553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Estilos de Formatação: Subscrito e Sobrescrito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17af378f7_0_10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717af378f7_0_10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g3717af378f7_0_104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8" name="Google Shape;208;g3717af378f7_0_104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09" name="Google Shape;209;g3717af378f7_0_10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g3717af378f7_0_10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g3717af378f7_0_104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Resumo:</a:t>
            </a:r>
            <a:endParaRPr b="1" i="0" sz="52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g3717af378f7_0_104"/>
          <p:cNvSpPr txBox="1"/>
          <p:nvPr/>
        </p:nvSpPr>
        <p:spPr>
          <a:xfrm>
            <a:off x="2043305" y="962025"/>
            <a:ext cx="5704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 - Manipulação de textos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g3717af378f7_0_104"/>
          <p:cNvSpPr txBox="1"/>
          <p:nvPr/>
        </p:nvSpPr>
        <p:spPr>
          <a:xfrm>
            <a:off x="1814700" y="3430275"/>
            <a:ext cx="15553800" cy="4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Cabeçalhos (h1-h6)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Definem a hierarquia e a estrutura de títulos na página.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Parágrafo (&lt;p&gt;)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Cria um bloco de texto, ideal para textos corridos.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Quebra de Linha (&lt;br&gt;)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Força o conteúdo seguinte para a linha de baixo, sem criar um novo parágrafo.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Estilos de Negrito (&lt;b&gt;, &lt;strong&gt;)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Aplicam o efeito visual de negrito ao texto.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Estilos de Itálico (&lt;i&gt;, &lt;em&gt;)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Aplicam o efeito visual de itálico ao texto.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Subscrito/Sobrescrito (&lt;sub&gt;, &lt;sup&gt;)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Usados para fórmulas químicas e potências matemáticas.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g3717af378f7_0_10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17af378f7_0_137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g3717af378f7_0_137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g3717af378f7_0_137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g3717af378f7_0_137"/>
          <p:cNvSpPr txBox="1"/>
          <p:nvPr/>
        </p:nvSpPr>
        <p:spPr>
          <a:xfrm>
            <a:off x="3611457" y="1189050"/>
            <a:ext cx="124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Manipulação de Textos</a:t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g3717af378f7_0_137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717af378f7_0_13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5" name="Google Shape;225;g3717af378f7_0_137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226" name="Google Shape;226;g3717af378f7_0_13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g3717af378f7_0_13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g3717af378f7_0_137"/>
          <p:cNvSpPr txBox="1"/>
          <p:nvPr/>
        </p:nvSpPr>
        <p:spPr>
          <a:xfrm>
            <a:off x="3611444" y="2646975"/>
            <a:ext cx="1410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Estrutura de Blog: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g3717af378f7_0_137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717af378f7_0_137"/>
          <p:cNvSpPr txBox="1"/>
          <p:nvPr/>
        </p:nvSpPr>
        <p:spPr>
          <a:xfrm>
            <a:off x="3611453" y="3530100"/>
            <a:ext cx="141090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 um arquivo HTML chamado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meu_hobby.html.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Nele, escreva um pequeno post de blog sobre seu hobby favorito.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&lt;h1&gt;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o título principal do post.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&lt;h2&gt;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pelo menos dois subtítulos.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Abaixo de cada subtítulo, escreva um parágrafo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&lt;p&gt;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explicando aquela parte do hobby.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Os próximos exercícios devem ser feitos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editando e adicionando conteúdo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este mesmo arquivo.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" name="Google Shape;231;g3717af378f7_0_137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g3717af378f7_0_137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717af378f7_0_137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17af378f7_0_254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g3717af378f7_0_254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g3717af378f7_0_25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g3717af378f7_0_254"/>
          <p:cNvSpPr txBox="1"/>
          <p:nvPr/>
        </p:nvSpPr>
        <p:spPr>
          <a:xfrm>
            <a:off x="3611457" y="1189050"/>
            <a:ext cx="124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Manipulação de Textos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g3717af378f7_0_25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717af378f7_0_25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" name="Google Shape;244;g3717af378f7_0_254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245" name="Google Shape;245;g3717af378f7_0_25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g3717af378f7_0_25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g3717af378f7_0_254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Adicionando Detalhes com &lt;br&gt;</a:t>
            </a:r>
            <a:endParaRPr b="1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g3717af378f7_0_254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717af378f7_0_254"/>
          <p:cNvSpPr txBox="1"/>
          <p:nvPr/>
        </p:nvSpPr>
        <p:spPr>
          <a:xfrm>
            <a:off x="3611453" y="3606300"/>
            <a:ext cx="14109000" cy="3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final do seu arquivo, antes de fechar 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&lt;/body&gt;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adicione uma nova seção.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 um subtítulo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&lt;h2&gt;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o texto "Contato para mais informações".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Abaixo dele, crie um único parágrafo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&lt;p&gt;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com um endereço ou contato fictício, usando 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&lt;br&gt;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que cada informação fique em uma linha.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g3717af378f7_0_254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g3717af378f7_0_254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717af378f7_0_254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17af378f7_0_274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g3717af378f7_0_274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g3717af378f7_0_27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g3717af378f7_0_274"/>
          <p:cNvSpPr txBox="1"/>
          <p:nvPr/>
        </p:nvSpPr>
        <p:spPr>
          <a:xfrm>
            <a:off x="3611457" y="1189050"/>
            <a:ext cx="124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Manipulação de Textos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g3717af378f7_0_27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717af378f7_0_2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" name="Google Shape;263;g3717af378f7_0_274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264" name="Google Shape;264;g3717af378f7_0_27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g3717af378f7_0_27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g3717af378f7_0_274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Dando Ênfase ao Texto com &lt;strong&gt; e &lt;em&gt;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717af378f7_0_274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717af378f7_0_274"/>
          <p:cNvSpPr txBox="1"/>
          <p:nvPr/>
        </p:nvSpPr>
        <p:spPr>
          <a:xfrm>
            <a:off x="3611453" y="3377700"/>
            <a:ext cx="14109000" cy="6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Volte para um dos primeiros parágrafos que você escreveu (no exercício 1).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Edite o texto para dar mais vida a ele: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&lt;strong&gt;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 uma parte que você considera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muito importante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ou um aviso.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&lt;em&gt;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 uma palavra que você queira </a:t>
            </a:r>
            <a:r>
              <a:rPr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enfatizar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como uma opinião pessoal.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Lembre-se: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objetivo é editar o texto que já existe, aplicando as novas tags.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g3717af378f7_0_274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g3717af378f7_0_274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717af378f7_0_274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17af378f7_0_294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g3717af378f7_0_294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g3717af378f7_0_29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g3717af378f7_0_294"/>
          <p:cNvSpPr txBox="1"/>
          <p:nvPr/>
        </p:nvSpPr>
        <p:spPr>
          <a:xfrm>
            <a:off x="3611457" y="1189050"/>
            <a:ext cx="124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Manipulação de Textos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g3717af378f7_0_29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717af378f7_0_29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" name="Google Shape;282;g3717af378f7_0_294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283" name="Google Shape;283;g3717af378f7_0_29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g3717af378f7_0_29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g3717af378f7_0_294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Usando Caracteres Especiais com &lt;sup&gt; e &lt;sub&gt;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717af378f7_0_294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717af378f7_0_294"/>
          <p:cNvSpPr txBox="1"/>
          <p:nvPr/>
        </p:nvSpPr>
        <p:spPr>
          <a:xfrm>
            <a:off x="3611453" y="3377700"/>
            <a:ext cx="14109000" cy="4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Ainda no arquivo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meu_hobby.html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encontre um bom lugar para adicionar uma nota de rodapé usando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&lt;sup&gt;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Pode ser após o nome de uma marca, de um livro ou de um jogo.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...meu console preferido é o Super DevStation 5™. (Onde ™ seria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&lt;sup&gt;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TM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&lt;/sup&gt;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Desafio: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Encontre um jeito criativo de usar a tag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&lt;sub&gt;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Se seu hobby for jardinagem, você pode mencionar a importância da H₂O (água). Se não encontrar, não tem problema!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g3717af378f7_0_294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g3717af378f7_0_294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717af378f7_0_294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3bfd34937_0_184"/>
          <p:cNvSpPr/>
          <p:nvPr/>
        </p:nvSpPr>
        <p:spPr>
          <a:xfrm>
            <a:off x="89899" y="-5051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g363bfd34937_0_184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g363bfd34937_0_18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g363bfd34937_0_184"/>
          <p:cNvSpPr txBox="1"/>
          <p:nvPr/>
        </p:nvSpPr>
        <p:spPr>
          <a:xfrm>
            <a:off x="3611457" y="1189050"/>
            <a:ext cx="124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Manipulação de Textos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g363bfd34937_0_18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63bfd34937_0_18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1" name="Google Shape;301;g363bfd34937_0_184"/>
          <p:cNvGrpSpPr/>
          <p:nvPr/>
        </p:nvGrpSpPr>
        <p:grpSpPr>
          <a:xfrm>
            <a:off x="2503914" y="2432093"/>
            <a:ext cx="921228" cy="921228"/>
            <a:chOff x="0" y="0"/>
            <a:chExt cx="812800" cy="812800"/>
          </a:xfrm>
        </p:grpSpPr>
        <p:sp>
          <p:nvSpPr>
            <p:cNvPr id="302" name="Google Shape;302;g363bfd34937_0_18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g363bfd34937_0_18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g363bfd34937_0_184"/>
          <p:cNvSpPr txBox="1"/>
          <p:nvPr/>
        </p:nvSpPr>
        <p:spPr>
          <a:xfrm>
            <a:off x="3611461" y="2646975"/>
            <a:ext cx="89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Estruturando uma Lista de Dicas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63bfd34937_0_184"/>
          <p:cNvSpPr txBox="1"/>
          <p:nvPr/>
        </p:nvSpPr>
        <p:spPr>
          <a:xfrm>
            <a:off x="2907197" y="26469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63bfd34937_0_184"/>
          <p:cNvSpPr txBox="1"/>
          <p:nvPr/>
        </p:nvSpPr>
        <p:spPr>
          <a:xfrm>
            <a:off x="3611453" y="3377700"/>
            <a:ext cx="14109000" cy="4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 uma última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sessão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na sua página com um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&lt;h2&gt;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chamado "Dicas Rápidas para Iniciantes".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Abaixo do título, crie um único parágrafo 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&lt;p&gt;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Dentro deste parágrafo, escreva 3 dicas rápidas. Separe cada dica com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&lt;br&gt;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coloque a palavra-chave de cada dica em negrito com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&lt;strong&gt;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g363bfd34937_0_184"/>
          <p:cNvSpPr txBox="1"/>
          <p:nvPr/>
        </p:nvSpPr>
        <p:spPr>
          <a:xfrm>
            <a:off x="2795186" y="4361017"/>
            <a:ext cx="3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g363bfd34937_0_184"/>
          <p:cNvSpPr txBox="1"/>
          <p:nvPr/>
        </p:nvSpPr>
        <p:spPr>
          <a:xfrm>
            <a:off x="2833270" y="7783519"/>
            <a:ext cx="2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63bfd34937_0_184"/>
          <p:cNvSpPr txBox="1"/>
          <p:nvPr/>
        </p:nvSpPr>
        <p:spPr>
          <a:xfrm>
            <a:off x="3534500" y="2003900"/>
            <a:ext cx="1440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7373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15"/>
          <p:cNvCxnSpPr/>
          <p:nvPr/>
        </p:nvCxnSpPr>
        <p:spPr>
          <a:xfrm rot="10800000">
            <a:off x="1330128" y="16307"/>
            <a:ext cx="0" cy="226811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7" name="Google Shape;317;p15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318" name="Google Shape;318;p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5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15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2043296" y="962025"/>
            <a:ext cx="458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1814696" y="3277870"/>
            <a:ext cx="14443800" cy="57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BRASIL. Comitê Gestor da Internet no Brasil – CGI.br.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Cartilha de Segurança para Internet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12. ed. São Paulo: CGI.br, 2023. Disponível em: https://cartilha.cert.br.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W3C – WORLD WIDE WEB CONSORTIUM.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Sobre o W3C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https://www.w3.org/Consortium/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HTML: HyperText Markup Language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https://developer.mozilla.org/pt-BR/docs/Web/HTML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 Cascading Style Sheets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0"/>
              </a:rPr>
              <a:t>https://developer.mozilla.org/pt-BR/docs/Web/CSS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REGISTRO.BR.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Registro de domínios .br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2"/>
              </a:rPr>
              <a:t>https://registro.br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HOSTGATOR.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Planos de hospedagem de sites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4"/>
              </a:rPr>
              <a:t>https://www.hostgator.com.br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Pages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6"/>
              </a:rPr>
              <a:t>https://pages.github.com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1" i="0" sz="36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