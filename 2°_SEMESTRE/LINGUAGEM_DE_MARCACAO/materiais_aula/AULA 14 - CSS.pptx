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10287000" cx="18288000"/>
  <p:notesSz cx="6858000" cy="9144000"/>
  <p:embeddedFontLst>
    <p:embeddedFont>
      <p:font typeface="Poppins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XeXwlEm0Vb+40kE6Sn5tAH6ws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oppins-italic.fntdata"/><Relationship Id="rId12" Type="http://schemas.openxmlformats.org/officeDocument/2006/relationships/slide" Target="slides/slide7.xml"/><Relationship Id="rId34" Type="http://schemas.openxmlformats.org/officeDocument/2006/relationships/font" Target="fonts/Poppins-bold.fntdata"/><Relationship Id="rId15" Type="http://schemas.openxmlformats.org/officeDocument/2006/relationships/slide" Target="slides/slide10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677c6114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dominar a formatação desses elementos é o que separa um site "amador" de um "profissional". O foco de hoje é na legibilidade e na interatividade do texto.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1" name="Google Shape;91;g36677c6114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c7c1739d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Peça para os alunos salvarem uma imagem qualquer como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imagem_exemplo.jpg</a:t>
            </a:r>
            <a:r>
              <a:rPr lang="en-US">
                <a:solidFill>
                  <a:schemeClr val="dk1"/>
                </a:solidFill>
              </a:rPr>
              <a:t> dentro da pasta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en-US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5" name="Google Shape;105;g39c7c1739d6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c7c1739d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9c7c1739d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c7c1739d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dominar a formatação desses elementos é o que separa um site "amador" de um "profissional". O foco de hoje é na legibilidade e na interatividade do texto.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9" name="Google Shape;129;g39c7c1739d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c7c1739d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a diferença visual entre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serif</a:t>
            </a:r>
            <a:r>
              <a:rPr lang="en-US">
                <a:solidFill>
                  <a:schemeClr val="dk1"/>
                </a:solidFill>
              </a:rPr>
              <a:t> (com "pés", como Times New Roman, mais clássico) 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sans-serif</a:t>
            </a:r>
            <a:r>
              <a:rPr lang="en-US">
                <a:solidFill>
                  <a:schemeClr val="dk1"/>
                </a:solidFill>
              </a:rPr>
              <a:t> (sem "pés", como Arial, mais moderno e comum na web).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3" name="Google Shape;143;g39c7c1739d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7c1739d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o resultado final é o mesmo, mas a forma como o navegador carrega a fonte é diferente, e isso tem um impacto importante no desempenho da página.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8" name="Google Shape;158;g39c7c1739d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c7c1739d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Faça a analogia: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&lt;link&gt;</a:t>
            </a:r>
            <a:r>
              <a:rPr lang="en-US">
                <a:solidFill>
                  <a:schemeClr val="dk1"/>
                </a:solidFill>
              </a:rPr>
              <a:t> é como pedir para duas pessoas buscarem duas coisas ao mesmo tempo.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@import</a:t>
            </a:r>
            <a:r>
              <a:rPr lang="en-US">
                <a:solidFill>
                  <a:schemeClr val="dk1"/>
                </a:solidFill>
              </a:rPr>
              <a:t> é como pedir para uma pessoa buscar um papel, ler o endereço nesse papel, e só então ir buscar a segunda coisa. O primeiro método é claramente mais eficiente.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2" name="Google Shape;172;g39c7c1739d6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c7c1739d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Faça a analogia: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&lt;link&gt;</a:t>
            </a:r>
            <a:r>
              <a:rPr lang="en-US">
                <a:solidFill>
                  <a:schemeClr val="dk1"/>
                </a:solidFill>
              </a:rPr>
              <a:t> é como pedir para duas pessoas buscarem duas coisas ao mesmo tempo.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@import</a:t>
            </a:r>
            <a:r>
              <a:rPr lang="en-US">
                <a:solidFill>
                  <a:schemeClr val="dk1"/>
                </a:solidFill>
              </a:rPr>
              <a:t> é como pedir para uma pessoa buscar um papel, ler o endereço nesse papel, e só então ir buscar a segunda coisa. O primeiro método é claramente mais eficiente.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7" name="Google Shape;187;g39c7c1739d6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c7c1739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Faça o processo ao vivo com os alunos. Mostre como selecionar a fonte no site do Google Fonts, como copiar o link e a regra CSS. É um passo prático que eles usarão em todos os projetos futuros.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2" name="Google Shape;202;g39c7c1739d6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c7c1739d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20" name="Google Shape;220;g39c7c1739d6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c7c1739d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5" name="Google Shape;235;g39c7c1739d6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c7c1739d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</a:t>
            </a:r>
            <a:r>
              <a:rPr lang="en-US">
                <a:solidFill>
                  <a:schemeClr val="dk1"/>
                </a:solidFill>
              </a:rPr>
              <a:t> é o padrão da indústria hoje. "Se eles forem aprender uma unidade para usar na maior parte do tempo, que seja esta. Ela combina o melhor dos dois mundos: a previsibilidade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n-US">
                <a:solidFill>
                  <a:schemeClr val="dk1"/>
                </a:solidFill>
              </a:rPr>
              <a:t> com a acessibilidade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n-US">
                <a:solidFill>
                  <a:schemeClr val="dk1"/>
                </a:solidFill>
              </a:rPr>
              <a:t>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50" name="Google Shape;250;g39c7c1739d6_0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c7c1739d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9c7c1739d6_0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c7c1739d6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</a:t>
            </a:r>
            <a:r>
              <a:rPr lang="en-US">
                <a:solidFill>
                  <a:schemeClr val="dk1"/>
                </a:solidFill>
              </a:rPr>
              <a:t> é o padrão da indústria hoje. "Se eles forem aprender uma unidade para usar na maior parte do tempo, que seja esta. Ela combina o melhor dos dois mundos: a previsibilidade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n-US">
                <a:solidFill>
                  <a:schemeClr val="dk1"/>
                </a:solidFill>
              </a:rPr>
              <a:t> com a acessibilidade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n-US">
                <a:solidFill>
                  <a:schemeClr val="dk1"/>
                </a:solidFill>
              </a:rPr>
              <a:t>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74" name="Google Shape;274;g39c7c1739d6_0_2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c7c1739d6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</a:t>
            </a:r>
            <a:r>
              <a:rPr lang="en-US">
                <a:solidFill>
                  <a:schemeClr val="dk1"/>
                </a:solidFill>
              </a:rPr>
              <a:t> é o padrão da indústria hoje. "Se eles forem aprender uma unidade para usar na maior parte do tempo, que seja esta. Ela combina o melhor dos dois mundos: a previsibilidade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n-US">
                <a:solidFill>
                  <a:schemeClr val="dk1"/>
                </a:solidFill>
              </a:rPr>
              <a:t> com a acessibilidade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n-US">
                <a:solidFill>
                  <a:schemeClr val="dk1"/>
                </a:solidFill>
              </a:rPr>
              <a:t>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88" name="Google Shape;288;g39c7c1739d6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c7c1739d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9c7c1739d6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c7c1739d6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</a:t>
            </a:r>
            <a:r>
              <a:rPr lang="en-US">
                <a:solidFill>
                  <a:schemeClr val="dk1"/>
                </a:solidFill>
              </a:rPr>
              <a:t> é o padrão da indústria hoje. "Se eles forem aprender uma unidade para usar na maior parte do tempo, que seja esta. Ela combina o melhor dos dois mundos: a previsibilidade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n-US">
                <a:solidFill>
                  <a:schemeClr val="dk1"/>
                </a:solidFill>
              </a:rPr>
              <a:t> com a acessibilidade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n-US">
                <a:solidFill>
                  <a:schemeClr val="dk1"/>
                </a:solidFill>
              </a:rPr>
              <a:t>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11" name="Google Shape;311;g39c7c1739d6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c7c1739d6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</a:t>
            </a:r>
            <a:r>
              <a:rPr lang="en-US">
                <a:solidFill>
                  <a:schemeClr val="dk1"/>
                </a:solidFill>
              </a:rPr>
              <a:t> é o padrão da indústria hoje. "Se eles forem aprender uma unidade para usar na maior parte do tempo, que seja esta. Ela combina o melhor dos dois mundos: a previsibilidade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n-US">
                <a:solidFill>
                  <a:schemeClr val="dk1"/>
                </a:solidFill>
              </a:rPr>
              <a:t> com a acessibilidade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n-US">
                <a:solidFill>
                  <a:schemeClr val="dk1"/>
                </a:solidFill>
              </a:rPr>
              <a:t>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25" name="Google Shape;325;g39c7c1739d6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c7c1739d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9c7c1739d6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c7c1739d6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</a:t>
            </a:r>
            <a:r>
              <a:rPr lang="en-US">
                <a:solidFill>
                  <a:schemeClr val="dk1"/>
                </a:solidFill>
              </a:rPr>
              <a:t> é o padrão da indústria hoje. "Se eles forem aprender uma unidade para usar na maior parte do tempo, que seja esta. Ela combina o melhor dos dois mundos: a previsibilidade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n-US">
                <a:solidFill>
                  <a:schemeClr val="dk1"/>
                </a:solidFill>
              </a:rPr>
              <a:t> com a acessibilidade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n-US">
                <a:solidFill>
                  <a:schemeClr val="dk1"/>
                </a:solidFill>
              </a:rPr>
              <a:t>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48" name="Google Shape;348;g39c7c1739d6_0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c7c1739d6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9c7c1739d6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c7c1739d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</a:t>
            </a:r>
            <a:r>
              <a:rPr lang="en-US">
                <a:solidFill>
                  <a:schemeClr val="dk1"/>
                </a:solidFill>
              </a:rPr>
              <a:t> é o padrão da indústria hoje. "Se eles forem aprender uma unidade para usar na maior parte do tempo, que seja esta. Ela combina o melhor dos dois mundos: a previsibilidade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n-US">
                <a:solidFill>
                  <a:schemeClr val="dk1"/>
                </a:solidFill>
              </a:rPr>
              <a:t> com a acessibilidade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n-US">
                <a:solidFill>
                  <a:schemeClr val="dk1"/>
                </a:solidFill>
              </a:rPr>
              <a:t>."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72" name="Google Shape;372;g39c7c1739d6_0_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c7c1739d6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Mostre o antes e depois de uma tabela com e sem "zebra stripes". O efeito visual é imediato e os alunos entenderão o valor da técnica na hora.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87" name="Google Shape;387;g39c7c1739d6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717af378f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2" name="Google Shape;402;g3717af378f7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17af378f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g3717af378f7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hyperlink" Target="https://fonts.google.com" TargetMode="External"/><Relationship Id="rId6" Type="http://schemas.openxmlformats.org/officeDocument/2006/relationships/hyperlink" Target="https://fonts.google.com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hyperlink" Target="https://www.google.com/search?q=https://www.w3schools.com/css/css_shorthand.asp" TargetMode="External"/><Relationship Id="rId9" Type="http://schemas.openxmlformats.org/officeDocument/2006/relationships/hyperlink" Target="https://www.google.com/search?q=https://www.w3schools.com/css/css_shorthand.asp" TargetMode="External"/><Relationship Id="rId5" Type="http://schemas.openxmlformats.org/officeDocument/2006/relationships/hyperlink" Target="https://developer.mozilla.org/pt-BR/docs/Web/CSS/CSS_Selectors" TargetMode="External"/><Relationship Id="rId6" Type="http://schemas.openxmlformats.org/officeDocument/2006/relationships/hyperlink" Target="https://developer.mozilla.org/pt-BR/docs/Web/CSS/CSS_Selectors" TargetMode="External"/><Relationship Id="rId7" Type="http://schemas.openxmlformats.org/officeDocument/2006/relationships/hyperlink" Target="https://developer.mozilla.org/en-US/docs/Web/CSS/Specificity" TargetMode="External"/><Relationship Id="rId8" Type="http://schemas.openxmlformats.org/officeDocument/2006/relationships/hyperlink" Target="https://developer.mozilla.org/en-US/docs/Web/CSS/Specific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75550" y="3882000"/>
            <a:ext cx="141369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Estilizando Textos, Imagens, Listas, Tabelas e Links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677c6114c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6677c6114c_0_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6677c6114c_0_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6677c6114c_0_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97" name="Google Shape;97;g36677c6114c_0_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6677c6114c_0_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6677c6114c_0_4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Introdução à Formatação de Elementos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6677c6114c_0_4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6677c6114c_0_4"/>
          <p:cNvSpPr txBox="1"/>
          <p:nvPr/>
        </p:nvSpPr>
        <p:spPr>
          <a:xfrm>
            <a:off x="1814700" y="3430275"/>
            <a:ext cx="15438000" cy="4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Agora que sabemos selecionar elementos, vamos aprender a estilizá-los profissionalmente.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Nesta aula (dividida em duas partes), vamos focar em como formatar os elementos mais comuns de qualquer página, indo além do básico.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Parte 1: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Textos: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Controle total sobre fontes, tamanhos, cores e alinhamento.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Âncoras (Links):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Estilização de seus diferentes estados.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Parte 2: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Imagens: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Alinhamento, bordas e responsividade.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Personalização de marcadores.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Tabelas: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Design para melhor legibilidade.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g36677c6114c_0_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c7c1739d6_0_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9c7c1739d6_0_2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9c7c1739d6_0_2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9c7c1739d6_0_2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11" name="Google Shape;111;g39c7c1739d6_0_2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9c7c1739d6_0_2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9c7c1739d6_0_27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Setup para a Aula Prática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9c7c1739d6_0_27"/>
          <p:cNvSpPr txBox="1"/>
          <p:nvPr/>
        </p:nvSpPr>
        <p:spPr>
          <a:xfrm>
            <a:off x="2043299" y="962025"/>
            <a:ext cx="54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9c7c1739d6_0_27"/>
          <p:cNvSpPr txBox="1"/>
          <p:nvPr/>
        </p:nvSpPr>
        <p:spPr>
          <a:xfrm>
            <a:off x="1814700" y="3430275"/>
            <a:ext cx="154380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usar um arquivo HTML base para aplicar todos os nossos estilos. Garanta que você tem a estrutura de pastas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aula14-formatacao/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com os arquivos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index.html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style.css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(e uma pasta i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Copie o código base que já usamos na aula passada para o seu </a:t>
            </a:r>
            <a:r>
              <a:rPr b="1"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index.html.</a:t>
            </a:r>
            <a:endParaRPr b="1" i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9c7c1739d6_0_2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g39c7c1739d6_0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1313" y="5806875"/>
            <a:ext cx="7085362" cy="36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c7c1739d6_0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9c7c1739d6_0_3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9c7c1739d6_0_3"/>
          <p:cNvSpPr txBox="1"/>
          <p:nvPr/>
        </p:nvSpPr>
        <p:spPr>
          <a:xfrm>
            <a:off x="2022550" y="4411938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Formatação de Textos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g39c7c1739d6_0_3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g39c7c1739d6_0_3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c7c1739d6_0_4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9c7c1739d6_0_4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g39c7c1739d6_0_4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4" name="Google Shape;134;g39c7c1739d6_0_4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35" name="Google Shape;135;g39c7c1739d6_0_4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g39c7c1739d6_0_4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g39c7c1739d6_0_47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Principais propriedades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9c7c1739d6_0_47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g39c7c1739d6_0_47"/>
          <p:cNvSpPr txBox="1"/>
          <p:nvPr/>
        </p:nvSpPr>
        <p:spPr>
          <a:xfrm>
            <a:off x="1814700" y="3430275"/>
            <a:ext cx="15438000" cy="6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CSS oferece um controle granular sobre como o texto aparece.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Propriedades Comuns: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font-family: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 de fonte (ex: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Arial, sans-serif;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font-size: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Tamanho da fonte (ex: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16px, 1.2em, 120%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Cor do texto (ex: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red, #333, rgb(0,0,0)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font-weight: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Negrito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bold, normal, 700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font-style: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Itálico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italic, normal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text-align: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Alinhamento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left, center, right, justify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text-decoration: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Linhas no texto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none, underline, overline, line-through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line-height: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Espaçamento entre as linhas.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letter-spacing: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Espaçamento entre as letras.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word-spacing: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Espaçamento entre as palavras.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text-transform: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Caixa alta/baixa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uppercase, lowercase, capitalize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g39c7c1739d6_0_4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c7c1739d6_0_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9c7c1739d6_0_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g39c7c1739d6_0_11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g39c7c1739d6_0_11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49" name="Google Shape;149;g39c7c1739d6_0_1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g39c7c1739d6_0_1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g39c7c1739d6_0_11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 Propriedade font-family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9c7c1739d6_0_11"/>
          <p:cNvSpPr txBox="1"/>
          <p:nvPr/>
        </p:nvSpPr>
        <p:spPr>
          <a:xfrm>
            <a:off x="1814700" y="3430275"/>
            <a:ext cx="154380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Esta propriedade define a família da fonte (o "desenho" da letra) para um elemento.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uma boa prática fornecer uma "pilha de fontes" (font stack) com alternativas, caso a primeira fonte não esteja instalada no computador do usuário. A última opção é sempre uma família genérica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serif, sans-serif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g39c7c1739d6_0_1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9c7c1739d6_0_11"/>
          <p:cNvSpPr txBox="1"/>
          <p:nvPr/>
        </p:nvSpPr>
        <p:spPr>
          <a:xfrm>
            <a:off x="2833950" y="6364750"/>
            <a:ext cx="133995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O navegador tentará usar a 'Roboto'. Se não encontrar, tentará a 'Helvetica', depois a 'Arial', e por fim, qualquer fonte sem serifa disponível.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font-family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A3151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'Roboto'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Helvetica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Arial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sans-serif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g39c7c1739d6_0_11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c7c1739d6_0_1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9c7c1739d6_0_1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9c7c1739d6_0_111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" name="Google Shape;163;g39c7c1739d6_0_111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64" name="Google Shape;164;g39c7c1739d6_0_11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9c7c1739d6_0_11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9c7c1739d6_0_111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Usando Fontes Externas com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Google Fonts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9c7c1739d6_0_111"/>
          <p:cNvSpPr txBox="1"/>
          <p:nvPr/>
        </p:nvSpPr>
        <p:spPr>
          <a:xfrm>
            <a:off x="1814700" y="3430275"/>
            <a:ext cx="154380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Raramente usamos apenas as fontes padrão do sistema. O Google Fonts oferece um catálogo imenso de fontes gratuitas e de alta qualidade. Para usá-las, precisamos "importar" a fonte para o nosso projeto.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Existem duas maneiras principais de fazer isso: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tag &lt;link&gt;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HTML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(Método Recomendado)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a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regra @import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CSS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ver como cada uma funciona.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g39c7c1739d6_0_11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9c7c1739d6_0_111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c7c1739d6_0_1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9c7c1739d6_0_12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39c7c1739d6_0_129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7" name="Google Shape;177;g39c7c1739d6_0_129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78" name="Google Shape;178;g39c7c1739d6_0_12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g39c7c1739d6_0_12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g39c7c1739d6_0_129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Importando Fontes: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&lt;link&gt; vs. @import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c7c1739d6_0_129"/>
          <p:cNvSpPr txBox="1"/>
          <p:nvPr/>
        </p:nvSpPr>
        <p:spPr>
          <a:xfrm>
            <a:off x="1814700" y="3430275"/>
            <a:ext cx="154380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Método 1: &lt;link&gt; no HTML (RECOMENDADO)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Google Fonts fornece uma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&lt;link&gt;.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Você a copia e cola dentro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&lt;head&gt;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seu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de preferência antes do seu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style.css.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Vantagem: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mais rápido. O navegador pode baixar o arquivo da fonte e o seu arquivo CSS ao mesmo tempo (em paralelo), o que melhora o tempo de carregamento da página.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 (&lt;head&gt;):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39c7c1739d6_0_12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9c7c1739d6_0_129"/>
          <p:cNvSpPr txBox="1"/>
          <p:nvPr/>
        </p:nvSpPr>
        <p:spPr>
          <a:xfrm>
            <a:off x="1611025" y="7042450"/>
            <a:ext cx="15782400" cy="14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&lt;link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rel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2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"preconnect"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href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2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"https://fonts.googleapis.com"</a:t>
            </a:r>
            <a:r>
              <a:rPr lang="en-US" sz="22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2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&lt;link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rel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2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"preconnect"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href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2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"https://fonts.gstatic.com"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crossorigin</a:t>
            </a:r>
            <a:r>
              <a:rPr lang="en-US" sz="22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2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&lt;link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href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2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"https://fonts.googleapis.com/css2?family=Roboto:wght@400;700&amp;display=swap"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rel</a:t>
            </a: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200">
                <a:solidFill>
                  <a:srgbClr val="0000FF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"stylesheet"</a:t>
            </a:r>
            <a:r>
              <a:rPr lang="en-US" sz="22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9c7c1739d6_0_129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c7c1739d6_0_14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9c7c1739d6_0_14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g39c7c1739d6_0_148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2" name="Google Shape;192;g39c7c1739d6_0_148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93" name="Google Shape;193;g39c7c1739d6_0_14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g39c7c1739d6_0_14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g39c7c1739d6_0_148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Importando Fontes: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&lt;link&gt; vs. @import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9c7c1739d6_0_148"/>
          <p:cNvSpPr txBox="1"/>
          <p:nvPr/>
        </p:nvSpPr>
        <p:spPr>
          <a:xfrm>
            <a:off x="1814700" y="3430275"/>
            <a:ext cx="154380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Método 2: @import no CSS (MENOS RECOMENDADO)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Google Fonts também fornece uma regra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@import.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Você a copia e cola no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topo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seu arquivo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.css.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Desvantagem: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mais lento. O navegador primeiro precisa baixar e ler seu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style.css.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Só então ele encontra a regra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@import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começa a baixar o arquivo da fonte. Isso bloqueia o carregamento e pode deixar a página mais lenta.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(style.css):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g39c7c1739d6_0_14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9c7c1739d6_0_148"/>
          <p:cNvSpPr txBox="1"/>
          <p:nvPr/>
        </p:nvSpPr>
        <p:spPr>
          <a:xfrm>
            <a:off x="1929000" y="7229625"/>
            <a:ext cx="1578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@import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795E26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url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400">
                <a:solidFill>
                  <a:srgbClr val="A3151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'https://fonts.googleapis.com/css2?family=Roboto:wght@400;700&amp;display=swap'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);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9c7c1739d6_0_148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c7c1739d6_0_7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9c7c1739d6_0_7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g39c7c1739d6_0_7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7" name="Google Shape;207;g39c7c1739d6_0_7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08" name="Google Shape;208;g39c7c1739d6_0_7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g39c7c1739d6_0_7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g39c7c1739d6_0_72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fazer a inserção?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9c7c1739d6_0_72"/>
          <p:cNvSpPr txBox="1"/>
          <p:nvPr/>
        </p:nvSpPr>
        <p:spPr>
          <a:xfrm>
            <a:off x="1536662" y="3482501"/>
            <a:ext cx="7685400" cy="6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Escolha a Fonte: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Acesse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fonts.google.com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escolha uma fonte (ex: "Roboto") e os pesos que deseja usar (ex: Regular 400, Bold 700).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Copie o Link: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Google fornecerá um link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&lt;link&gt;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Copie e cole este código dentro da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&lt;head&gt;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seu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acima do seu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style.css.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no CSS: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Google também fornecerá a regra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font-family.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Copie e use-a nos seletores do seu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deseje importar pelo CSS, ao invés de copiar as tags para linkar via HTML, basta mudar para opção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copiar o conteúdo que será colado no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arquivo 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g39c7c1739d6_0_7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g39c7c1739d6_0_72"/>
          <p:cNvPicPr preferRelativeResize="0"/>
          <p:nvPr/>
        </p:nvPicPr>
        <p:blipFill rotWithShape="1">
          <a:blip r:embed="rId8">
            <a:alphaModFix/>
          </a:blip>
          <a:srcRect b="0" l="42889" r="0" t="42709"/>
          <a:stretch/>
        </p:blipFill>
        <p:spPr>
          <a:xfrm>
            <a:off x="9339550" y="3645725"/>
            <a:ext cx="8159048" cy="32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9c7c1739d6_0_7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39549" y="6853475"/>
            <a:ext cx="8002582" cy="320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9c7c1739d6_0_72"/>
          <p:cNvSpPr txBox="1"/>
          <p:nvPr/>
        </p:nvSpPr>
        <p:spPr>
          <a:xfrm>
            <a:off x="14098100" y="4371450"/>
            <a:ext cx="147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endParaRPr b="1" sz="3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g39c7c1739d6_0_72"/>
          <p:cNvSpPr txBox="1"/>
          <p:nvPr/>
        </p:nvSpPr>
        <p:spPr>
          <a:xfrm>
            <a:off x="14098100" y="7603550"/>
            <a:ext cx="147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endParaRPr b="1" sz="3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g39c7c1739d6_0_72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c7c1739d6_0_18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9c7c1739d6_0_18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39c7c1739d6_0_183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5" name="Google Shape;225;g39c7c1739d6_0_183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26" name="Google Shape;226;g39c7c1739d6_0_18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g39c7c1739d6_0_18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g39c7c1739d6_0_183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 Propriedade font-size: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Unidades Absolutas (px)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c7c1739d6_0_183"/>
          <p:cNvSpPr txBox="1"/>
          <p:nvPr/>
        </p:nvSpPr>
        <p:spPr>
          <a:xfrm>
            <a:off x="1814700" y="3430275"/>
            <a:ext cx="15438000" cy="3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px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(pixel) é uma unidade de medida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absoluta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Um pixel é um "ponto" na tela.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Vantagem: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Oferece controle total e preciso sobre o tamanho.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16px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terá exatamente 16 pixels de altura.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Desvantagem: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é acessível.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 o usuário tentar aumentar a fonte padrão do navegador, um texto definido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px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irá escalar, prejudicando a leitura.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usar?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Ideal para propriedades que não devem escalar com o texto,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border-width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box-shadow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onde você quer um valor fixo.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g39c7c1739d6_0_18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9c7c1739d6_0_183"/>
          <p:cNvSpPr txBox="1"/>
          <p:nvPr/>
        </p:nvSpPr>
        <p:spPr>
          <a:xfrm>
            <a:off x="5146200" y="6998770"/>
            <a:ext cx="7995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48px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Tamanho fixo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.caixa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solid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black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Borda fixa de 1 pixel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AF00DB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g39c7c1739d6_0_183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c7c1739d6_0_2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9c7c1739d6_0_2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g39c7c1739d6_0_239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g39c7c1739d6_0_239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41" name="Google Shape;241;g39c7c1739d6_0_2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9c7c1739d6_0_2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g39c7c1739d6_0_239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 Propriedade font-size: Unidades Relativas (em e %)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9c7c1739d6_0_239"/>
          <p:cNvSpPr txBox="1"/>
          <p:nvPr/>
        </p:nvSpPr>
        <p:spPr>
          <a:xfrm>
            <a:off x="1814700" y="3430275"/>
            <a:ext cx="15438000" cy="4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%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unidades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relativas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elemento pai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1em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100%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 Mesmo tamanho da fonte do pai.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1.5em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150%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50% maior que a fonte do pai.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0.8em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80%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 20% menor que a fonte do pai.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Vantagem: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São escaláveis e acessíveis.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Desvantagem: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Podem criar um efeito "bola de neve". Se um elemento com 1.2em está dentro de outro com 1.2em, o tamanho final será 1.44em, o que pode dificultar o controle em estruturas complexas.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9c7c1739d6_0_2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9c7c1739d6_0_239"/>
          <p:cNvSpPr txBox="1"/>
          <p:nvPr/>
        </p:nvSpPr>
        <p:spPr>
          <a:xfrm>
            <a:off x="4366050" y="8335625"/>
            <a:ext cx="95559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div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20px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0.8em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}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O parágrafo terá 16px (20 * 0.8)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g39c7c1739d6_0_239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c7c1739d6_0_2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9c7c1739d6_0_20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g39c7c1739d6_0_201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5" name="Google Shape;255;g39c7c1739d6_0_201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56" name="Google Shape;256;g39c7c1739d6_0_20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g39c7c1739d6_0_20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g39c7c1739d6_0_201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 Melhor Unidade Relativa: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rem (Root EM)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9c7c1739d6_0_201"/>
          <p:cNvSpPr txBox="1"/>
          <p:nvPr/>
        </p:nvSpPr>
        <p:spPr>
          <a:xfrm>
            <a:off x="1814700" y="3430275"/>
            <a:ext cx="15438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uma unidade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relativa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elemento raiz (&lt;html&gt;)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navegador define a fonte raiz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16px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por padrão. Portanto,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1rem = 16px.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Vantagem Principal: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escalável, acessível E previsível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Ele não tem o efeito "bola de neve"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pois é sempre relativo à mesma base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&lt;html&gt;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), não ao elemento pai.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usar?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melhor prática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 web moderna. Também é excelente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margin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width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componentes que devem escalar de forma consistente.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g39c7c1739d6_0_20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9c7c1739d6_0_201"/>
          <p:cNvSpPr txBox="1"/>
          <p:nvPr/>
        </p:nvSpPr>
        <p:spPr>
          <a:xfrm>
            <a:off x="3130200" y="6854995"/>
            <a:ext cx="12807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html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16px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Padrão do navegador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3rem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}  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Resultado: 48px (16 * 3)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{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}  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Resultado: 16px (16 * 1)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.pequeno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0.875rem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}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Resultado: 14px (16 * 0.875) *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9c7c1739d6_0_201"/>
          <p:cNvSpPr txBox="1"/>
          <p:nvPr/>
        </p:nvSpPr>
        <p:spPr>
          <a:xfrm>
            <a:off x="2043300" y="962025"/>
            <a:ext cx="810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c7c1739d6_0_2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9c7c1739d6_0_258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9c7c1739d6_0_258"/>
          <p:cNvSpPr txBox="1"/>
          <p:nvPr/>
        </p:nvSpPr>
        <p:spPr>
          <a:xfrm>
            <a:off x="2022550" y="4411938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Formatação de Links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g39c7c1739d6_0_258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g39c7c1739d6_0_258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c7c1739d6_0_26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9c7c1739d6_0_26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9c7c1739d6_0_266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9" name="Google Shape;279;g39c7c1739d6_0_26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80" name="Google Shape;280;g39c7c1739d6_0_26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g39c7c1739d6_0_26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g39c7c1739d6_0_266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Foco em Links (&lt;a&gt;):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Estilizando Estados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9c7c1739d6_0_266"/>
          <p:cNvSpPr txBox="1"/>
          <p:nvPr/>
        </p:nvSpPr>
        <p:spPr>
          <a:xfrm>
            <a:off x="2043300" y="962025"/>
            <a:ext cx="815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Links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g39c7c1739d6_0_266"/>
          <p:cNvSpPr txBox="1"/>
          <p:nvPr/>
        </p:nvSpPr>
        <p:spPr>
          <a:xfrm>
            <a:off x="1814700" y="3430275"/>
            <a:ext cx="15438000" cy="6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Links são especiais porque são interativos. Podemos (e devemos) estilizar seus diferentes estados para dar feedback visual ao usuário. Para isso, usamos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pseudo-classes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4 pseudo-classes principais para links são: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:link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Um link normal, não visitado.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:visited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Um link que o usuário já clicou.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:hover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Quando o cursor do mouse está sobre o link.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:active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No momento exato em que o link está sendo clicado.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 de Ouro (mnemônica): 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 (Amor e Ódio) -&gt;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ink,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isited,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over,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ctive. A ordem no CSS importa!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g39c7c1739d6_0_26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c7c1739d6_0_28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9c7c1739d6_0_28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g39c7c1739d6_0_28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3" name="Google Shape;293;g39c7c1739d6_0_28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94" name="Google Shape;294;g39c7c1739d6_0_28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g39c7c1739d6_0_28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g39c7c1739d6_0_284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Foco em Links (&lt;a&gt;):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9c7c1739d6_0_284"/>
          <p:cNvSpPr txBox="1"/>
          <p:nvPr/>
        </p:nvSpPr>
        <p:spPr>
          <a:xfrm>
            <a:off x="1787963" y="3376801"/>
            <a:ext cx="15438000" cy="6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	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Estilo base para todos os links */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#007bff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text-decoration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none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Remove o sublinhado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a:visited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#6a0572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Roxo para links já visitados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a:hover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#0056b3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text-decoration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underline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Adiciona sublinhado apenas no hover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a:active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Vermelho enquanto o link está sendo pressionado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g39c7c1739d6_0_28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9c7c1739d6_0_284"/>
          <p:cNvSpPr txBox="1"/>
          <p:nvPr/>
        </p:nvSpPr>
        <p:spPr>
          <a:xfrm>
            <a:off x="2043300" y="962025"/>
            <a:ext cx="815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Links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c7c1739d6_0_29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9c7c1739d6_0_298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9c7c1739d6_0_298"/>
          <p:cNvSpPr txBox="1"/>
          <p:nvPr/>
        </p:nvSpPr>
        <p:spPr>
          <a:xfrm>
            <a:off x="2022550" y="4411938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Formatação de Imagens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g39c7c1739d6_0_298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g39c7c1739d6_0_298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c7c1739d6_0_30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9c7c1739d6_0_30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g39c7c1739d6_0_30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6" name="Google Shape;316;g39c7c1739d6_0_30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17" name="Google Shape;317;g39c7c1739d6_0_30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g39c7c1739d6_0_30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g39c7c1739d6_0_307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Formatação de Imagens &lt;img&gt;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9c7c1739d6_0_307"/>
          <p:cNvSpPr txBox="1"/>
          <p:nvPr/>
        </p:nvSpPr>
        <p:spPr>
          <a:xfrm>
            <a:off x="2043300" y="962025"/>
            <a:ext cx="807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Imagens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g39c7c1739d6_0_307"/>
          <p:cNvSpPr txBox="1"/>
          <p:nvPr/>
        </p:nvSpPr>
        <p:spPr>
          <a:xfrm>
            <a:off x="1787963" y="3376801"/>
            <a:ext cx="15438000" cy="53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Imagens são elementos cruciais no design. O CSS nos permite controlar seu tamanho, aparência e como elas interagem com o texto.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Propriedades Essenciais: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width / height: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o tamanho.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max-width: 100%;: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propriedade mais importante para responsividade básica.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Garante que a imagem nunca ultrapasse a largura do seu contêiner.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display: block;: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Transforma a imagem em um elemento de bloco, facilitando a aplicação de margens.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border-radius: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Arredonda os cantos da imagem. Um valor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50%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torna perfeitamente redonda.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box-shadow: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Adiciona uma sombra para dar profundidade.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opacity: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Controla a transparência da imagem (de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0.0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1.0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g39c7c1739d6_0_30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c7c1739d6_0_3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9c7c1739d6_0_32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g39c7c1739d6_0_32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0" name="Google Shape;330;g39c7c1739d6_0_32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31" name="Google Shape;331;g39c7c1739d6_0_32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g39c7c1739d6_0_32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g39c7c1739d6_0_322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Formatação de Imagens &lt;img&gt;: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g39c7c1739d6_0_322"/>
          <p:cNvSpPr txBox="1"/>
          <p:nvPr/>
        </p:nvSpPr>
        <p:spPr>
          <a:xfrm>
            <a:off x="1787963" y="3376801"/>
            <a:ext cx="15438000" cy="6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.imagem-post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max-width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100%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height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auto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display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block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margin-bottom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Usa rem para espaçamento consistente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border-radius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8px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Cantos suavemente arredondados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box-shadow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4px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8px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795E26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rgba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0.1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Sombra sutil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.avatar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width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100px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height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100px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border-radius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50%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3px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solid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white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box-shadow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10px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795E26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rgba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0.2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); }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g39c7c1739d6_0_32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9c7c1739d6_0_322"/>
          <p:cNvSpPr txBox="1"/>
          <p:nvPr/>
        </p:nvSpPr>
        <p:spPr>
          <a:xfrm>
            <a:off x="2043300" y="962025"/>
            <a:ext cx="807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Imagens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c7c1739d6_0_3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9c7c1739d6_0_338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9c7c1739d6_0_338"/>
          <p:cNvSpPr txBox="1"/>
          <p:nvPr/>
        </p:nvSpPr>
        <p:spPr>
          <a:xfrm>
            <a:off x="2022550" y="4411938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Formatação de Listas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g39c7c1739d6_0_338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g39c7c1739d6_0_338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c7c1739d6_0_34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9c7c1739d6_0_34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g39c7c1739d6_0_34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3" name="Google Shape;353;g39c7c1739d6_0_34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54" name="Google Shape;354;g39c7c1739d6_0_34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g39c7c1739d6_0_34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g39c7c1739d6_0_347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Formatação de Listas &lt;ul&gt; e &lt;ol&gt;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g39c7c1739d6_0_347"/>
          <p:cNvSpPr txBox="1"/>
          <p:nvPr/>
        </p:nvSpPr>
        <p:spPr>
          <a:xfrm>
            <a:off x="2043300" y="962025"/>
            <a:ext cx="82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Listas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g39c7c1739d6_0_347"/>
          <p:cNvSpPr txBox="1"/>
          <p:nvPr/>
        </p:nvSpPr>
        <p:spPr>
          <a:xfrm>
            <a:off x="1787968" y="3376800"/>
            <a:ext cx="6532500" cy="6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Listas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&lt;ul&gt;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&lt;ol&gt;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podem ser muito mais do que simples pontos ou números.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Propriedades Comuns: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list-style-type: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Altera o tipo de marcador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square, circle, none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ul; decimal, upper-roman, lower-alpha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ol)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padding-left: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Controla o recuo da lista. Navegadores aplicam 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padrão que talvez você queira remover ou ajustar.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 → 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g39c7c1739d6_0_34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9c7c1739d6_0_347"/>
          <p:cNvSpPr txBox="1"/>
          <p:nvPr/>
        </p:nvSpPr>
        <p:spPr>
          <a:xfrm>
            <a:off x="8565300" y="3383808"/>
            <a:ext cx="9031800" cy="6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ul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list-style-type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none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3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Remove os marcadores padrão */</a:t>
            </a:r>
            <a:endParaRPr sz="23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padding-left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ul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0.5rem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border-bottom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solid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#eee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Linha separadora entre os itens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ol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list-style-type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decimal-leading-zero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01, 02, 03...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padding-left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c7c1739d6_0_36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9c7c1739d6_0_365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9c7c1739d6_0_365"/>
          <p:cNvSpPr txBox="1"/>
          <p:nvPr/>
        </p:nvSpPr>
        <p:spPr>
          <a:xfrm>
            <a:off x="2022550" y="4411938"/>
            <a:ext cx="141369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Formatação de Tabelas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g39c7c1739d6_0_365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g39c7c1739d6_0_365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c7c1739d6_0_3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9c7c1739d6_0_3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g39c7c1739d6_0_37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7" name="Google Shape;377;g39c7c1739d6_0_37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78" name="Google Shape;378;g39c7c1739d6_0_3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g39c7c1739d6_0_3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g39c7c1739d6_0_374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Formatação de Tabelas &lt;table&gt;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g39c7c1739d6_0_374"/>
          <p:cNvSpPr txBox="1"/>
          <p:nvPr/>
        </p:nvSpPr>
        <p:spPr>
          <a:xfrm>
            <a:off x="2043301" y="962025"/>
            <a:ext cx="824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Tabelas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g39c7c1739d6_0_374"/>
          <p:cNvSpPr txBox="1"/>
          <p:nvPr/>
        </p:nvSpPr>
        <p:spPr>
          <a:xfrm>
            <a:off x="1681021" y="3243116"/>
            <a:ext cx="6532500" cy="7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Tabelas HTML "cruas" são confusas. O CSS é essencial para torná-las legíveis.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Propriedades Essenciais: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border-collapse: collapse;: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propriedade mais importante. Ela une as bordas das células, criando um visual limpo de grade.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width: 100%;: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Faz a tabela ocupar toda a largura disponível.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Adiciona espaço interno nas células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&lt;th&gt;, &lt;td&gt;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), evitando que o texto "grude" nas bordas.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text-align: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Alinha o conteúdo das células.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border-bottom: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criar linhas separadoras horizontais.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g39c7c1739d6_0_3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9c7c1739d6_0_374"/>
          <p:cNvSpPr txBox="1"/>
          <p:nvPr/>
        </p:nvSpPr>
        <p:spPr>
          <a:xfrm>
            <a:off x="8565300" y="3250124"/>
            <a:ext cx="9031800" cy="7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table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width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100%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border-collapse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collapse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margin-top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1.5rem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0.75rem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Usa rem para espaçamento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text-align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left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border-bottom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1px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solid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#ddd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background-color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#f2f2f2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font-weight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bold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c7c1739d6_0_39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9c7c1739d6_0_39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g39c7c1739d6_0_39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2" name="Google Shape;392;g39c7c1739d6_0_39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93" name="Google Shape;393;g39c7c1739d6_0_39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g39c7c1739d6_0_39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g39c7c1739d6_0_392"/>
          <p:cNvSpPr txBox="1"/>
          <p:nvPr/>
        </p:nvSpPr>
        <p:spPr>
          <a:xfrm>
            <a:off x="2043300" y="1189050"/>
            <a:ext cx="1555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Melhorando a Legibilidade: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"Zebra Stripes"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Google Shape;396;g39c7c1739d6_0_392"/>
          <p:cNvSpPr txBox="1"/>
          <p:nvPr/>
        </p:nvSpPr>
        <p:spPr>
          <a:xfrm>
            <a:off x="1681031" y="3243125"/>
            <a:ext cx="155538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técnica muito comum para melhorar a leitura de tabelas grandes é alternar a cor de fundo das linhas. Isso é chamado de "Zebra Stripes".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Fazemos isso com a pseudo-classe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:nth-child()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:nth-child(even)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Seleciona os filhos pares (2ª, 4ª, 6ª linha...).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:nth-child(odd)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Seleciona os filhos ímpares (1ª, 3ª, 5ª linha...).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g39c7c1739d6_0_39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9c7c1739d6_0_392"/>
          <p:cNvSpPr txBox="1"/>
          <p:nvPr/>
        </p:nvSpPr>
        <p:spPr>
          <a:xfrm>
            <a:off x="2976275" y="5875250"/>
            <a:ext cx="12963300" cy="4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background-color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#f2f2f2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font-weight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bold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Adicione esta regra ao CSS da tabela anterior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tbody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8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tr:nth-child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(even)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00">
                <a:solidFill>
                  <a:srgbClr val="E5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background-color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rgbClr val="0451A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#f9f9f9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; 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/* Um cinza muito claro para as linhas pares */</a:t>
            </a:r>
            <a:endParaRPr sz="2400">
              <a:solidFill>
                <a:srgbClr val="008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}</a:t>
            </a:r>
            <a:endParaRPr sz="2400">
              <a:solidFill>
                <a:srgbClr val="8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g39c7c1739d6_0_392"/>
          <p:cNvSpPr txBox="1"/>
          <p:nvPr/>
        </p:nvSpPr>
        <p:spPr>
          <a:xfrm>
            <a:off x="2043301" y="962025"/>
            <a:ext cx="824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Estilização com CSS - Formatação de Tabelas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717af378f7_0_10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717af378f7_0_10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g3717af378f7_0_10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7" name="Google Shape;407;g3717af378f7_0_10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408" name="Google Shape;408;g3717af378f7_0_10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g3717af378f7_0_10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g3717af378f7_0_104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Resumo: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g3717af378f7_0_104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717af378f7_0_104"/>
          <p:cNvSpPr txBox="1"/>
          <p:nvPr/>
        </p:nvSpPr>
        <p:spPr>
          <a:xfrm>
            <a:off x="1814700" y="3430275"/>
            <a:ext cx="15553800" cy="4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Tipografia: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font-family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 fallbacks, importe fontes externas (Google Fonts) e dê preferência à unidade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font-size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sua acessibilidade e previsibilidade.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Links: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Estilize os quatro estados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:link, :visited, :hover, :active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para dar um bom feedback de interatividade ao usuário.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Imagens: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max-width: 100%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responsividade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border-radius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criar efeitos visuais como imagens redondas.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Remova ou personalize marcadores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list-style-type.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Controle o recuo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padding-left.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Tabelas: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border-collapse: collapse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; para um design limpo. 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nas células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:nth-child(even)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criar "zebra stripes" e melhorar a legibilidade.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" name="Google Shape;413;g3717af378f7_0_1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717af378f7_0_137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g3717af378f7_0_137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8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g3717af378f7_0_137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g3717af378f7_0_137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717af378f7_0_1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" name="Google Shape;423;g3717af378f7_0_137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424" name="Google Shape;424;g3717af378f7_0_13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g3717af378f7_0_13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g3717af378f7_0_137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Etapas: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717af378f7_0_137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717af378f7_0_137"/>
          <p:cNvSpPr txBox="1"/>
          <p:nvPr/>
        </p:nvSpPr>
        <p:spPr>
          <a:xfrm>
            <a:off x="3611453" y="3212963"/>
            <a:ext cx="14109000" cy="6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Aplicar os conceitos avançados de formatação para criar uma página de um mini-blog simples, estilizando todos os elementos que vimos com mais profundidade.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Instruções: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a estrutura de arquivos da aula anterior.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HTML base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"Mini-Blog".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Modifique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style.css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aplicar os novos estilos.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Desafios Adicionais: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Importe e use a fonte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"Montserrat"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Google Fonts para os títulos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h1, h2, h3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e a fonte "Lora" para os parágrafos (p).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Converta todos 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font-size, padding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margin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a unidade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Faça a imagem do post ficar redonda usando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border-radius.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Transforme a lista ordenada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&lt;ol&gt;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em um ranking com números romanos maiúsculos.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Adicione o efeito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"zebra stripes"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tabela (você precisará adicionar uma tabela ao HTML para praticar).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g3717af378f7_0_137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g3717af378f7_0_137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717af378f7_0_137"/>
          <p:cNvSpPr txBox="1"/>
          <p:nvPr/>
        </p:nvSpPr>
        <p:spPr>
          <a:xfrm>
            <a:off x="3611449" y="1189050"/>
            <a:ext cx="1440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Criando um Mini-Blog</a:t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15"/>
          <p:cNvCxnSpPr/>
          <p:nvPr/>
        </p:nvCxnSpPr>
        <p:spPr>
          <a:xfrm rot="10800000">
            <a:off x="1330128" y="16307"/>
            <a:ext cx="0" cy="226811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9" name="Google Shape;439;p15"/>
          <p:cNvGrpSpPr/>
          <p:nvPr/>
        </p:nvGrpSpPr>
        <p:grpSpPr>
          <a:xfrm>
            <a:off x="1396388" y="2987159"/>
            <a:ext cx="16211550" cy="7595338"/>
            <a:chOff x="0" y="-38100"/>
            <a:chExt cx="4269709" cy="2000418"/>
          </a:xfrm>
        </p:grpSpPr>
        <p:sp>
          <p:nvSpPr>
            <p:cNvPr id="440" name="Google Shape;440;p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5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15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2043296" y="962025"/>
            <a:ext cx="458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p15"/>
          <p:cNvSpPr txBox="1"/>
          <p:nvPr/>
        </p:nvSpPr>
        <p:spPr>
          <a:xfrm>
            <a:off x="1814700" y="3277875"/>
            <a:ext cx="152922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Selectors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4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https://developer.mozilla.org/pt-BR/docs/Web/CSS/CSS_Selectors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09 out. 2025.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Specificity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4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https://developer.mozilla.org/en-US/docs/Web/CSS/Specificity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09 out. 2025.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SCHOOLS.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 Shorthand Properties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4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https://www.w3schools.com/css/css_shorthand.asp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09 out. 2025.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