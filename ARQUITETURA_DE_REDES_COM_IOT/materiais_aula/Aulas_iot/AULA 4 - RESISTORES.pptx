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0287000" cx="18288000"/>
  <p:notesSz cx="6858000" cy="9144000"/>
  <p:embeddedFontLst>
    <p:embeddedFont>
      <p:font typeface="Poppi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hihVmDk/Ug2/+B9CzCsxnofJek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F1AC28-530A-40B7-A769-1E3355F34145}">
  <a:tblStyle styleId="{63F1AC28-530A-40B7-A769-1E3355F3414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regular.fntdata"/><Relationship Id="rId21" Type="http://schemas.openxmlformats.org/officeDocument/2006/relationships/slide" Target="slides/slide15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6fcbf3874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56fcbf3874_0_3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55c2d1d0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555c2d1d01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55c2d1d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555c2d1d0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55c2d1d0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555c2d1d01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55c2d1d0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555c2d1d01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55c2d1d01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555c2d1d01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55c2d1d0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555c2d1d01_0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55c2d1d01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555c2d1d01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55c2d1d0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555c2d1d01_0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55c2d1d01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555c2d1d01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555c2d1d01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555c2d1d01_0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494324d29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3494324d29f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494324d29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g3494324d29f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hyperlink" Target="https://br.mouser.com/technical-resources/conversion-calculators/resistor-color-code-calculator?srsltid=AfmBOorQmB-YbtztCyjiNyzXD9wFjJMp0XuuecFQ7UfkQzNmplMSzpzV" TargetMode="External"/><Relationship Id="rId7" Type="http://schemas.openxmlformats.org/officeDocument/2006/relationships/hyperlink" Target="https://www.proesi.com.br/calculadora-e-tabela-de-resistores?srsltid=AfmBOoqrK-vDye54QRxpszYxlB29t11_scdNrH0vmsUqBsW3RT3_OiyY" TargetMode="External"/><Relationship Id="rId8" Type="http://schemas.openxmlformats.org/officeDocument/2006/relationships/hyperlink" Target="https://www.calculator.net/resistor-calculator.htm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374310" y="4480500"/>
            <a:ext cx="96918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6fcbf3874_0_33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56fcbf3874_0_33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g356fcbf3874_0_33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g356fcbf3874_0_33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g356fcbf3874_0_33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g356fcbf3874_0_33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g356fcbf3874_0_339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são?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g356fcbf3874_0_339"/>
          <p:cNvSpPr txBox="1"/>
          <p:nvPr/>
        </p:nvSpPr>
        <p:spPr>
          <a:xfrm>
            <a:off x="1685075" y="3542150"/>
            <a:ext cx="15405300" cy="2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são componentes que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limitam a passagem de corrente elétrica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em um circuito. Servem para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proteger componentes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ajustar sinais e controlar tensão e corrente. Sua resistência é 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medida em ohms (Ω)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cada valor é indicado por faixas coloridas no corpo do resistor.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g356fcbf3874_0_33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56fcbf3874_0_339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g356fcbf3874_0_339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g356fcbf3874_0_3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43675" y="5013306"/>
            <a:ext cx="7439376" cy="51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55c2d1d01_0_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555c2d1d01_0_1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g3555c2d1d01_0_1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g3555c2d1d01_0_1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3" name="Google Shape;113;g3555c2d1d01_0_1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g3555c2d1d01_0_1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g3555c2d1d01_0_18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Código das cores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g3555c2d1d01_0_18"/>
          <p:cNvSpPr txBox="1"/>
          <p:nvPr/>
        </p:nvSpPr>
        <p:spPr>
          <a:xfrm>
            <a:off x="1685075" y="3542150"/>
            <a:ext cx="15405300" cy="65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código de cores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geralmente tem 4 faixas de cores no resistor: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Primeira faixa: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primeira cor indica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primeiro dígito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valor da resistência.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Segunda faixa: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segunda cor indica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segundo dígito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Terceira faixa: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terceira cor indica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multiplicador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(como você deve multiplicar os dois primeiros dígitos).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Quarta faixa: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quarta cor indica 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tolerância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 resistor, ou seja, o quanto 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resistência pode variar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relação ao valor nominal.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g3555c2d1d01_0_1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555c2d1d01_0_18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g3555c2d1d01_0_18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55c2d1d01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555c2d1d01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g3555c2d1d01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g3555c2d1d01_0_0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Tabela de Cores dos Resistores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g3555c2d1d01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555c2d1d01_0_0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g3555c2d1d01_0_0"/>
          <p:cNvPicPr preferRelativeResize="0"/>
          <p:nvPr/>
        </p:nvPicPr>
        <p:blipFill rotWithShape="1">
          <a:blip r:embed="rId6">
            <a:alphaModFix/>
          </a:blip>
          <a:srcRect b="960" l="0" r="980" t="0"/>
          <a:stretch/>
        </p:blipFill>
        <p:spPr>
          <a:xfrm>
            <a:off x="4047775" y="2151900"/>
            <a:ext cx="8278900" cy="797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55c2d1d01_0_4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555c2d1d01_0_4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g3555c2d1d01_0_4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8" name="Google Shape;138;g3555c2d1d01_0_4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39" name="Google Shape;139;g3555c2d1d01_0_4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g3555c2d1d01_0_4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g3555c2d1d01_0_4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555c2d1d01_0_45"/>
          <p:cNvSpPr txBox="1"/>
          <p:nvPr/>
        </p:nvSpPr>
        <p:spPr>
          <a:xfrm>
            <a:off x="2043300" y="1112850"/>
            <a:ext cx="154053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Exemplo Prático para Calcular Resistor (4 faixas)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3555c2d1d01_0_45"/>
          <p:cNvSpPr txBox="1"/>
          <p:nvPr/>
        </p:nvSpPr>
        <p:spPr>
          <a:xfrm>
            <a:off x="1685075" y="3542150"/>
            <a:ext cx="154053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Suponha um resistor com as seguintes cores: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🔴 Vermelho – 🟠 Laranja –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🟡 Amarelo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🟡 Dourado (ouro)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3555c2d1d01_0_45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5" name="Google Shape;145;g3555c2d1d01_0_45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g3555c2d1d01_0_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7995" y="5151895"/>
            <a:ext cx="8632000" cy="467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55c2d1d01_0_6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555c2d1d01_0_6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g3555c2d1d01_0_6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4" name="Google Shape;154;g3555c2d1d01_0_6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55" name="Google Shape;155;g3555c2d1d01_0_6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g3555c2d1d01_0_6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g3555c2d1d01_0_6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555c2d1d01_0_66"/>
          <p:cNvSpPr txBox="1"/>
          <p:nvPr/>
        </p:nvSpPr>
        <p:spPr>
          <a:xfrm>
            <a:off x="2043300" y="1112850"/>
            <a:ext cx="154053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Exemplo Prático para Calcular Resistor (4 faixas)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g3555c2d1d01_0_66"/>
          <p:cNvSpPr txBox="1"/>
          <p:nvPr/>
        </p:nvSpPr>
        <p:spPr>
          <a:xfrm>
            <a:off x="1685075" y="3542150"/>
            <a:ext cx="1540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1º Passo: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Entender o que cada faixa significa (padrão de 4 faixas):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g3555c2d1d01_0_66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g3555c2d1d01_0_66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2" name="Google Shape;162;g3555c2d1d01_0_66"/>
          <p:cNvGraphicFramePr/>
          <p:nvPr/>
        </p:nvGraphicFramePr>
        <p:xfrm>
          <a:off x="1685075" y="4798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{63F1AC28-530A-40B7-A769-1E3355F34145}</a:tableStyleId>
              </a:tblPr>
              <a:tblGrid>
                <a:gridCol w="1186150"/>
                <a:gridCol w="7205875"/>
              </a:tblGrid>
              <a:tr h="877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Faixa</a:t>
                      </a:r>
                      <a:endParaRPr b="1" sz="24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Significado</a:t>
                      </a:r>
                      <a:endParaRPr b="1" sz="24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9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1ª</a:t>
                      </a:r>
                      <a:endParaRPr sz="24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1º Dígito</a:t>
                      </a:r>
                      <a:endParaRPr sz="24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2ª</a:t>
                      </a:r>
                      <a:endParaRPr sz="24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2º Dígito</a:t>
                      </a:r>
                      <a:endParaRPr sz="24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3ª</a:t>
                      </a:r>
                      <a:endParaRPr sz="24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Multiplicador (quantos zeros colocar)</a:t>
                      </a:r>
                      <a:endParaRPr sz="24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4ª</a:t>
                      </a:r>
                      <a:endParaRPr sz="24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Tolerância (precisão)</a:t>
                      </a:r>
                      <a:endParaRPr sz="24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g3555c2d1d01_0_66"/>
          <p:cNvSpPr txBox="1"/>
          <p:nvPr/>
        </p:nvSpPr>
        <p:spPr>
          <a:xfrm>
            <a:off x="10247375" y="5344500"/>
            <a:ext cx="10297200" cy="3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No exemplo: </a:t>
            </a:r>
            <a:endParaRPr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🔴 Vermelho -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Primeiro dígito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🟠 Laranja -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Segundo dígito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🟡 Amarelo -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Multiplicador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🟡 Dourado (ouro) -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Tolerância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55c2d1d01_0_8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555c2d1d01_0_8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g3555c2d1d01_0_8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1" name="Google Shape;171;g3555c2d1d01_0_8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72" name="Google Shape;172;g3555c2d1d01_0_8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g3555c2d1d01_0_8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g3555c2d1d01_0_8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555c2d1d01_0_89"/>
          <p:cNvSpPr txBox="1"/>
          <p:nvPr/>
        </p:nvSpPr>
        <p:spPr>
          <a:xfrm>
            <a:off x="2043300" y="1112850"/>
            <a:ext cx="154053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Exemplo Prático para Calcular Resistor (4 faixas)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g3555c2d1d01_0_89"/>
          <p:cNvSpPr txBox="1"/>
          <p:nvPr/>
        </p:nvSpPr>
        <p:spPr>
          <a:xfrm>
            <a:off x="1441350" y="3556950"/>
            <a:ext cx="15405300" cy="60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º Passo: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Usar a tabela de cores - Na tabela de cores basta validar: Valores, Multiplicador e tolerância.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 u="sng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Como Saber de Que Lado Começar a Ler o Resistor (4 faixas)</a:t>
            </a:r>
            <a:endParaRPr b="1" sz="2400" u="sng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faixa de tolerância é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separada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das outras (mais afastada):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Normalmente é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dourada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prateada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Ela fica no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final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 leitura (à direita)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três primeiras faixas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ficam mais próximas entre si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Comece a leitura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lado onde as faixas estão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mais próximas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umas das outras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Tolerância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nunca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vem primeiro!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uma das faixas for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dourada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prata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nunca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comece por ela.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Ela sempre será a última (direita)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g3555c2d1d01_0_89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g3555c2d1d01_0_89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55c2d1d01_0_14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555c2d1d01_0_14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g3555c2d1d01_0_14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6" name="Google Shape;186;g3555c2d1d01_0_14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87" name="Google Shape;187;g3555c2d1d01_0_14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g3555c2d1d01_0_14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g3555c2d1d01_0_14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555c2d1d01_0_142"/>
          <p:cNvSpPr txBox="1"/>
          <p:nvPr/>
        </p:nvSpPr>
        <p:spPr>
          <a:xfrm>
            <a:off x="2043300" y="1112850"/>
            <a:ext cx="154053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Exemplo Prático para Calcular Resistor (4 faixas)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g3555c2d1d01_0_142"/>
          <p:cNvSpPr txBox="1"/>
          <p:nvPr/>
        </p:nvSpPr>
        <p:spPr>
          <a:xfrm>
            <a:off x="1685075" y="3542150"/>
            <a:ext cx="154053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3º Passo: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Aplicar a leitura das cores: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No exemplo: </a:t>
            </a:r>
            <a:endParaRPr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🔴 Vermelho - 			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Valor: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🟠 Laranja 	    -				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Valor: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🟡 Amarelo    - 			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Multiplicador: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10.000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🟡 Dourado (ouro) - 	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Tolerância: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±5%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g3555c2d1d01_0_142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g3555c2d1d01_0_142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55c2d1d01_0_1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555c2d1d01_0_12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g3555c2d1d01_0_12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1" name="Google Shape;201;g3555c2d1d01_0_12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02" name="Google Shape;202;g3555c2d1d01_0_12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g3555c2d1d01_0_12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g3555c2d1d01_0_12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555c2d1d01_0_124"/>
          <p:cNvSpPr txBox="1"/>
          <p:nvPr/>
        </p:nvSpPr>
        <p:spPr>
          <a:xfrm>
            <a:off x="2043300" y="1112850"/>
            <a:ext cx="154053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Exemplo Prático para Calcular Resistor (4 faixas)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g3555c2d1d01_0_124"/>
          <p:cNvSpPr txBox="1"/>
          <p:nvPr/>
        </p:nvSpPr>
        <p:spPr>
          <a:xfrm>
            <a:off x="1685075" y="3542150"/>
            <a:ext cx="15405300" cy="83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º Passo: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Montar o número: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23 × 10.000 =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230.000 ohms = 230 kΩ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º Passo: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Tolerância (±5%):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Variação =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230.000 × 0,05 = 11.500 Ω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±5% de 230.000 ohms →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pode variar entre: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Variação =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230.000 × 0,05 = 11.500 Ω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Mínimo: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230.000 - 11.500 = 218.500 Ω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Máximo: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230.000 + 11.500 = 241.500 Ω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g3555c2d1d01_0_124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g3555c2d1d01_0_124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55c2d1d01_0_16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555c2d1d01_0_16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g3555c2d1d01_0_16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6" name="Google Shape;216;g3555c2d1d01_0_16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17" name="Google Shape;217;g3555c2d1d01_0_16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g3555c2d1d01_0_16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g3555c2d1d01_0_16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555c2d1d01_0_161"/>
          <p:cNvSpPr txBox="1"/>
          <p:nvPr/>
        </p:nvSpPr>
        <p:spPr>
          <a:xfrm>
            <a:off x="2043300" y="1112850"/>
            <a:ext cx="154053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Exemplo Prático para Calcular Resistor (5 faixas)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g3555c2d1d01_0_161"/>
          <p:cNvSpPr txBox="1"/>
          <p:nvPr/>
        </p:nvSpPr>
        <p:spPr>
          <a:xfrm>
            <a:off x="1685075" y="3542150"/>
            <a:ext cx="15405300" cy="65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</a:t>
            </a: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resistores de 5 faixas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 lógica é quase igual, mas agora temos: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2" name="Google Shape;222;g3555c2d1d01_0_161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3" name="Google Shape;223;g3555c2d1d01_0_161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4" name="Google Shape;224;g3555c2d1d01_0_161"/>
          <p:cNvGraphicFramePr/>
          <p:nvPr/>
        </p:nvGraphicFramePr>
        <p:xfrm>
          <a:off x="1685075" y="443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{63F1AC28-530A-40B7-A769-1E3355F34145}</a:tableStyleId>
              </a:tblPr>
              <a:tblGrid>
                <a:gridCol w="2298825"/>
                <a:gridCol w="2179100"/>
              </a:tblGrid>
              <a:tr h="4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Faixa</a:t>
                      </a:r>
                      <a:endParaRPr b="1"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Função</a:t>
                      </a:r>
                      <a:endParaRPr b="1"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1ª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1º dígito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2ª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2º dígito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3ª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3º dígito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4ª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Multiplicador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5ª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Tolerância (±%)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g3555c2d1d01_0_161"/>
          <p:cNvSpPr txBox="1"/>
          <p:nvPr/>
        </p:nvSpPr>
        <p:spPr>
          <a:xfrm>
            <a:off x="6473725" y="4380375"/>
            <a:ext cx="5040000" cy="3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 </a:t>
            </a: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cores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🟤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Marrom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⚫ Preto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⚫ Preto 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🔴 Vermelho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🟤 Marrom</a:t>
            </a:r>
            <a:endParaRPr b="1"/>
          </a:p>
        </p:txBody>
      </p:sp>
      <p:pic>
        <p:nvPicPr>
          <p:cNvPr id="226" name="Google Shape;226;g3555c2d1d01_0_1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87000" y="4438650"/>
            <a:ext cx="6530584" cy="30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55c2d1d01_0_19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555c2d1d01_0_19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g3555c2d1d01_0_19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4" name="Google Shape;234;g3555c2d1d01_0_19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35" name="Google Shape;235;g3555c2d1d01_0_19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g3555c2d1d01_0_19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g3555c2d1d01_0_19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555c2d1d01_0_190"/>
          <p:cNvSpPr txBox="1"/>
          <p:nvPr/>
        </p:nvSpPr>
        <p:spPr>
          <a:xfrm>
            <a:off x="2043300" y="1112850"/>
            <a:ext cx="154053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Exemplo Prático para Calcular Resistor (5 faixas)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9" name="Google Shape;239;g3555c2d1d01_0_190"/>
          <p:cNvSpPr txBox="1"/>
          <p:nvPr/>
        </p:nvSpPr>
        <p:spPr>
          <a:xfrm>
            <a:off x="1685075" y="3542150"/>
            <a:ext cx="5498100" cy="52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Leitura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rápida: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🟤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Marrom =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(1º dígito)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⚫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Preto =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 (2º dígito)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⚫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Preto =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 (3º dígito)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🔴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Vermelho =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x100 (multiplicador)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🟤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Marrom =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±1% (tolerância)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g3555c2d1d01_0_190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g3555c2d1d01_0_190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555c2d1d01_0_190"/>
          <p:cNvSpPr txBox="1"/>
          <p:nvPr/>
        </p:nvSpPr>
        <p:spPr>
          <a:xfrm>
            <a:off x="8705500" y="3429000"/>
            <a:ext cx="8321400" cy="3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</a:rPr>
              <a:t>Cálculo</a:t>
            </a:r>
            <a:r>
              <a:rPr b="1" lang="en-US" sz="2400">
                <a:solidFill>
                  <a:schemeClr val="dk1"/>
                </a:solidFill>
              </a:rPr>
              <a:t>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Valor nominal</a:t>
            </a:r>
            <a:r>
              <a:rPr lang="en-US" sz="2400">
                <a:solidFill>
                  <a:schemeClr val="dk1"/>
                </a:solidFill>
              </a:rPr>
              <a:t>: 100 × 100 = </a:t>
            </a:r>
            <a:r>
              <a:rPr b="1" lang="en-US" sz="2400">
                <a:solidFill>
                  <a:schemeClr val="dk1"/>
                </a:solidFill>
              </a:rPr>
              <a:t>10.000 ohms (10 kΩ)</a:t>
            </a:r>
            <a:br>
              <a:rPr b="1" lang="en-US" sz="2400">
                <a:solidFill>
                  <a:schemeClr val="dk1"/>
                </a:solidFill>
              </a:rPr>
            </a:b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Tolerância de ±1%</a:t>
            </a:r>
            <a:r>
              <a:rPr lang="en-US" sz="2400">
                <a:solidFill>
                  <a:schemeClr val="dk1"/>
                </a:solidFill>
              </a:rPr>
              <a:t>:</a:t>
            </a:r>
            <a:br>
              <a:rPr lang="en-US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</a:rPr>
              <a:t>Variação: </a:t>
            </a:r>
            <a:r>
              <a:rPr lang="en-US" sz="2400">
                <a:solidFill>
                  <a:schemeClr val="dk1"/>
                </a:solidFill>
              </a:rPr>
              <a:t>10.000 × 0,01 = </a:t>
            </a:r>
            <a:r>
              <a:rPr b="1" lang="en-US" sz="2400">
                <a:solidFill>
                  <a:schemeClr val="dk1"/>
                </a:solidFill>
              </a:rPr>
              <a:t>100 ohms</a:t>
            </a:r>
            <a:br>
              <a:rPr b="1" lang="en-US" sz="2400">
                <a:solidFill>
                  <a:schemeClr val="dk1"/>
                </a:solidFill>
              </a:rPr>
            </a:br>
            <a:endParaRPr b="1"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</a:rPr>
              <a:t>Intervalo real: </a:t>
            </a:r>
            <a:r>
              <a:rPr lang="en-US" sz="2400">
                <a:solidFill>
                  <a:schemeClr val="dk1"/>
                </a:solidFill>
              </a:rPr>
              <a:t>9.900 Ω a 10.100 Ω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55c2d1d01_0_2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555c2d1d01_0_21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g3555c2d1d01_0_21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0" name="Google Shape;250;g3555c2d1d01_0_21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51" name="Google Shape;251;g3555c2d1d01_0_21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g3555c2d1d01_0_21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g3555c2d1d01_0_21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555c2d1d01_0_213"/>
          <p:cNvSpPr txBox="1"/>
          <p:nvPr/>
        </p:nvSpPr>
        <p:spPr>
          <a:xfrm>
            <a:off x="2043300" y="1112850"/>
            <a:ext cx="1540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Calculadora de resistores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g3555c2d1d01_0_213"/>
          <p:cNvSpPr txBox="1"/>
          <p:nvPr/>
        </p:nvSpPr>
        <p:spPr>
          <a:xfrm>
            <a:off x="1685075" y="3542150"/>
            <a:ext cx="15120000" cy="7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Caso você tenha dúvidas de como executar o cálculo, ou talvez não esteja conseguindo atingir o valor correto para o resistor que deseja utilizar. Pode recorrer a calculadora de resistores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MOUSER: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https://br.mouser.com/technical-resources/conversion-calculators/resistor-color-code-calculator?srsltid=AfmBOorQmB-YbtztCyjiNyzXD9wFjJMp0XuuecFQ7UfkQzNmplMSzpzV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PROESI: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7"/>
              </a:rPr>
              <a:t>https://www.proesi.com.br/calculadora-e-tabela-de-resistores?srsltid=AfmBOoqrK-vDye54QRxpszYxlB29t11_scdNrH0vmsUqBsW3RT3_OiyY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Calculator.net: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https://www.calculator.net/resistor-calculator.html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g3555c2d1d01_0_213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g3555c2d1d01_0_213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494324d29f_0_18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494324d29f_0_18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g3494324d29f_0_18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5" name="Google Shape;265;g3494324d29f_0_18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66" name="Google Shape;266;g3494324d29f_0_18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g3494324d29f_0_18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g3494324d29f_0_18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g3494324d29f_0_182"/>
          <p:cNvSpPr txBox="1"/>
          <p:nvPr/>
        </p:nvSpPr>
        <p:spPr>
          <a:xfrm>
            <a:off x="1456475" y="3313550"/>
            <a:ext cx="15614700" cy="6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Resistores = </a:t>
            </a: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Componentes que limitam a corrente elétrica, protegendo os demais componentes e controlando o fluxo de energia.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✅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 Código de cores =</a:t>
            </a: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 Sistema usado para identificar o valor do resistor com base nas faixas coloridas.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4 faixas =</a:t>
            </a: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 1º dígito, 2º dígito, multiplicador, tolerância.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5 faixas = </a:t>
            </a: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1º dígito, 2º dígito, 3º dígito, multiplicador, tolerância.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Tolerância =</a:t>
            </a: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 Margem de erro do valor real, geralmente indicada por dourado (±5%) ou marrom (±1%).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Leitura correta =</a:t>
            </a: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 Comece pelo lado com faixas mais próximas; a faixa mais afastada é a tolerância.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Valor total =</a:t>
            </a: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 Multiplica os dígitos pelo multiplicador (ex: 23 × 10.000 = 230.000 Ω).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Variação = </a:t>
            </a: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Calculada pela porcentagem da tolerância (ex: 5% de 230.000 = ±11.500 Ω).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Faixa prática =</a:t>
            </a: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 O resistor pode operar dentro do intervalo calculado (ex: 218.500 Ω a 241.500 Ω).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Aplicação = </a:t>
            </a: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Usado para controlar corrente em LEDs, sensores, divisores de tensão, entre outros.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sz="2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g3494324d29f_0_18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494324d29f_0_182"/>
          <p:cNvSpPr txBox="1"/>
          <p:nvPr/>
        </p:nvSpPr>
        <p:spPr>
          <a:xfrm>
            <a:off x="2043303" y="962025"/>
            <a:ext cx="446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494324d29f_0_3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494324d29f_0_3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g3494324d29f_0_34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9" name="Google Shape;279;g3494324d29f_0_34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80" name="Google Shape;280;g3494324d29f_0_3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g3494324d29f_0_3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2" name="Google Shape;282;g3494324d29f_0_34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g3494324d29f_0_343"/>
          <p:cNvSpPr txBox="1"/>
          <p:nvPr/>
        </p:nvSpPr>
        <p:spPr>
          <a:xfrm>
            <a:off x="1685075" y="3542150"/>
            <a:ext cx="15307500" cy="6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RASPBERRY PI FOUNDATION.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Raspberry Pi Pico Documentation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Cambridge, UK: Raspberry Pi Ltd., 2023. Disponível em: https://www.raspberrypi.com/documentation/microcontrollers/pico.html. Acesso em: 3 maio 2025.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MICROPYTHON.ORG.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machine – functions related to the hardware.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MicroPython Documentation, 2024. Disponível em: https://docs.micropython.org/en/latest/library/machine.html. Acesso em: 3 maio 2025.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MICROPYTHON.ORG.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utime – time-related functions.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MicroPython Documentation, 2024. Disponível em: https://docs.micropython.org/en/latest/library/utime.html. Acesso em: 3 maio 2025.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BARENDSE, Ben.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Exploring Raspberry Pi Pico with MicroPython: A Hands-on Guide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1. ed. Independently published, 2022.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" name="Google Shape;284;g3494324d29f_0_3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494324d29f_0_343"/>
          <p:cNvSpPr txBox="1"/>
          <p:nvPr/>
        </p:nvSpPr>
        <p:spPr>
          <a:xfrm>
            <a:off x="2043305" y="962025"/>
            <a:ext cx="559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" name="Google Shape;293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294" name="Google Shape;294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5" name="Google Shape;295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6" name="Google Shape;296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297" name="Google Shape;297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300" name="Google Shape;300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2" name="Google Shape;302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303" name="Google Shape;303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05" name="Google Shape;305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6" name="Google Shape;306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307" name="Google Shape;307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