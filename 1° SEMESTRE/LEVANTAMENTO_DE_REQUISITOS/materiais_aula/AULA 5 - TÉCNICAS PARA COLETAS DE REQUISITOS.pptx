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10287000" cx="18288000"/>
  <p:notesSz cx="6858000" cy="9144000"/>
  <p:embeddedFontLst>
    <p:embeddedFont>
      <p:font typeface="Poppi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hxg5kSJTbaLSJz9FUXFV492nqp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11" Type="http://schemas.openxmlformats.org/officeDocument/2006/relationships/slide" Target="slides/slide6.xml"/><Relationship Id="rId22" Type="http://schemas.openxmlformats.org/officeDocument/2006/relationships/font" Target="fonts/Poppins-italic.fntdata"/><Relationship Id="rId10" Type="http://schemas.openxmlformats.org/officeDocument/2006/relationships/slide" Target="slides/slide5.xml"/><Relationship Id="rId21" Type="http://schemas.openxmlformats.org/officeDocument/2006/relationships/font" Target="fonts/Poppins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bcfcf72a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4bcfcf72a9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bcfcf72a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4bcfcf72a9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4bcfcf72a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4bcfcf72a9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bcfcf72a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4bcfcf72a9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bcfcf72a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4bcfcf72a9_0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bcfcf72a9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g34bcfcf72a9_0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4bcfcf72a9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4bcfcf72a9_0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4bcfcf72a9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g34bcfcf72a9_0_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4bcfcf72a9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g34bcfcf72a9_0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494324d29f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g3494324d29f_0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494324d29f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g3494324d29f_0_3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52801" y="4556700"/>
            <a:ext cx="17173500" cy="44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TÉCNICAS PARA COLETA DE REQUISITOS</a:t>
            </a:r>
            <a:endParaRPr b="1" sz="762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t/>
            </a:r>
            <a:endParaRPr b="1" sz="762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977797" y="1499350"/>
            <a:ext cx="63324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p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97" name="Google Shape;97;p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6"/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6"/>
          <p:cNvSpPr txBox="1"/>
          <p:nvPr/>
        </p:nvSpPr>
        <p:spPr>
          <a:xfrm>
            <a:off x="2043296" y="1189042"/>
            <a:ext cx="7100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que são?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1685075" y="3542153"/>
            <a:ext cx="14443800" cy="76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A coleta de requisitos é uma etapa fundamental no desenvolvimento de sistemas, pois é através dela que se compreende o que o cliente realmente precisa.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Para que essa coleta seja eficaz, existem diversas técnicas que podem ser aplicadas: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Briefing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Levantamento Orientado a Pontos de Vista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Etnografia (Observação Direta)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Entrevistas e Questionários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Brainstorming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2043308" y="962025"/>
            <a:ext cx="6921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TÉCNICAS PARA COLETA DE REQUISITOS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bcfcf72a9_0_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4bcfcf72a9_0_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g34bcfcf72a9_0_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0" name="Google Shape;110;g34bcfcf72a9_0_9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11" name="Google Shape;111;g34bcfcf72a9_0_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g34bcfcf72a9_0_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g34bcfcf72a9_0_9"/>
          <p:cNvSpPr txBox="1"/>
          <p:nvPr/>
        </p:nvSpPr>
        <p:spPr>
          <a:xfrm>
            <a:off x="2043296" y="1189042"/>
            <a:ext cx="7100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Briefing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4bcfcf72a9_0_9"/>
          <p:cNvSpPr txBox="1"/>
          <p:nvPr/>
        </p:nvSpPr>
        <p:spPr>
          <a:xfrm>
            <a:off x="1685075" y="3542153"/>
            <a:ext cx="14443800" cy="4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Reunião inicial com o cliente para entender os objetivos, necessidades e expectativas do projeto. Serve como ponto de partida para todas as decisões futuras.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Exemplo: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Reunião com o dono de uma clínica para definir o que o sistema de agendamento deve fazer.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g34bcfcf72a9_0_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4bcfcf72a9_0_9"/>
          <p:cNvSpPr txBox="1"/>
          <p:nvPr/>
        </p:nvSpPr>
        <p:spPr>
          <a:xfrm>
            <a:off x="2043308" y="962025"/>
            <a:ext cx="6921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TÉCNICAS PARA COLETA DE REQUISITOS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bcfcf72a9_0_2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4bcfcf72a9_0_2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g34bcfcf72a9_0_2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4" name="Google Shape;124;g34bcfcf72a9_0_2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25" name="Google Shape;125;g34bcfcf72a9_0_2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g34bcfcf72a9_0_2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g34bcfcf72a9_0_26"/>
          <p:cNvSpPr txBox="1"/>
          <p:nvPr/>
        </p:nvSpPr>
        <p:spPr>
          <a:xfrm>
            <a:off x="2043305" y="1189050"/>
            <a:ext cx="1567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Levantamento por Pontos de Vista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4bcfcf72a9_0_26"/>
          <p:cNvSpPr txBox="1"/>
          <p:nvPr/>
        </p:nvSpPr>
        <p:spPr>
          <a:xfrm>
            <a:off x="1685075" y="3542153"/>
            <a:ext cx="14443800" cy="3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Ouvir diferentes setores da empresa que irão usar o sistema. Cada área tem sua própria realidade e necessidades.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Exemplo: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Secretaria quer relatórios financeiros, enquanto professores precisam de lançamentos de notas.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g34bcfcf72a9_0_2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4bcfcf72a9_0_26"/>
          <p:cNvSpPr txBox="1"/>
          <p:nvPr/>
        </p:nvSpPr>
        <p:spPr>
          <a:xfrm>
            <a:off x="2043308" y="962025"/>
            <a:ext cx="6921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TÉCNICAS PARA COLETA DE REQUISITOS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bcfcf72a9_0_4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4bcfcf72a9_0_4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g34bcfcf72a9_0_4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8" name="Google Shape;138;g34bcfcf72a9_0_4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39" name="Google Shape;139;g34bcfcf72a9_0_4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g34bcfcf72a9_0_4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g34bcfcf72a9_0_42"/>
          <p:cNvSpPr txBox="1"/>
          <p:nvPr/>
        </p:nvSpPr>
        <p:spPr>
          <a:xfrm>
            <a:off x="2043305" y="1189050"/>
            <a:ext cx="1567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Etnografia (Observação Direta)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4bcfcf72a9_0_42"/>
          <p:cNvSpPr txBox="1"/>
          <p:nvPr/>
        </p:nvSpPr>
        <p:spPr>
          <a:xfrm>
            <a:off x="1685075" y="3542153"/>
            <a:ext cx="14443800" cy="3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Observar os usuários no ambiente de trabalho, sem interferir. Revela comportamentos e dificuldades que não são ditos nas entrevistas.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Exemplo: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Ver que um vendedor preenche a mesma planilha manualmente pode indicar algo a ser automatizado.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g34bcfcf72a9_0_4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4bcfcf72a9_0_42"/>
          <p:cNvSpPr txBox="1"/>
          <p:nvPr/>
        </p:nvSpPr>
        <p:spPr>
          <a:xfrm>
            <a:off x="2043308" y="962025"/>
            <a:ext cx="6921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TÉCNICAS PARA COLETA DE REQUISITOS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4bcfcf72a9_0_5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4bcfcf72a9_0_5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g34bcfcf72a9_0_5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2" name="Google Shape;152;g34bcfcf72a9_0_58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53" name="Google Shape;153;g34bcfcf72a9_0_5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g34bcfcf72a9_0_5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g34bcfcf72a9_0_58"/>
          <p:cNvSpPr txBox="1"/>
          <p:nvPr/>
        </p:nvSpPr>
        <p:spPr>
          <a:xfrm>
            <a:off x="2043305" y="1189050"/>
            <a:ext cx="1567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Entrevistas e Questionários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4bcfcf72a9_0_58"/>
          <p:cNvSpPr txBox="1"/>
          <p:nvPr/>
        </p:nvSpPr>
        <p:spPr>
          <a:xfrm>
            <a:off x="1685075" y="3542153"/>
            <a:ext cx="144438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Coleta de informações através de perguntas diretas e organizadas. Entrevistas são mais específicas e profundas; questionários servem para alcançar mais pessoas.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Exemplo: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Perguntar ao gerente: "Você precisa controlar permissões por tipo de usuário?"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7" name="Google Shape;157;g34bcfcf72a9_0_5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4bcfcf72a9_0_58"/>
          <p:cNvSpPr txBox="1"/>
          <p:nvPr/>
        </p:nvSpPr>
        <p:spPr>
          <a:xfrm>
            <a:off x="2043308" y="962025"/>
            <a:ext cx="6921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TÉCNICAS PARA COLETA DE REQUISITOS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4bcfcf72a9_0_7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4bcfcf72a9_0_7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g34bcfcf72a9_0_7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6" name="Google Shape;166;g34bcfcf72a9_0_73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67" name="Google Shape;167;g34bcfcf72a9_0_7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g34bcfcf72a9_0_7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g34bcfcf72a9_0_73"/>
          <p:cNvSpPr txBox="1"/>
          <p:nvPr/>
        </p:nvSpPr>
        <p:spPr>
          <a:xfrm>
            <a:off x="2043305" y="1189050"/>
            <a:ext cx="1567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Brainstorming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4bcfcf72a9_0_73"/>
          <p:cNvSpPr txBox="1"/>
          <p:nvPr/>
        </p:nvSpPr>
        <p:spPr>
          <a:xfrm>
            <a:off x="1685075" y="3542153"/>
            <a:ext cx="144438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Reunião livre para gerar ideias, sem críticas ou filtro. Estimula a criatividade e pode revelar funcionalidades inesperadas.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Exemplo: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Em um app de delivery, surgem ideias como cupons automáticos ou ranking de entregadores.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" name="Google Shape;171;g34bcfcf72a9_0_7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4bcfcf72a9_0_73"/>
          <p:cNvSpPr txBox="1"/>
          <p:nvPr/>
        </p:nvSpPr>
        <p:spPr>
          <a:xfrm>
            <a:off x="2043308" y="962025"/>
            <a:ext cx="6921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TÉCNICAS PARA COLETA DE REQUISITOS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4bcfcf72a9_0_10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4bcfcf72a9_0_10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g34bcfcf72a9_0_101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0" name="Google Shape;180;g34bcfcf72a9_0_101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81" name="Google Shape;181;g34bcfcf72a9_0_10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g34bcfcf72a9_0_10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g34bcfcf72a9_0_101"/>
          <p:cNvSpPr txBox="1"/>
          <p:nvPr/>
        </p:nvSpPr>
        <p:spPr>
          <a:xfrm>
            <a:off x="2043305" y="1189050"/>
            <a:ext cx="1567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Stakeholders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4bcfcf72a9_0_101"/>
          <p:cNvSpPr txBox="1"/>
          <p:nvPr/>
        </p:nvSpPr>
        <p:spPr>
          <a:xfrm>
            <a:off x="1685075" y="3542153"/>
            <a:ext cx="144438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O que são Stakeholders?</a:t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São todas as pessoas ou grupos afetados ou interessados no projeto.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Podem ser internos ou externos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, e sua identificação correta é essencial para o sucesso do sistema.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" name="Google Shape;185;g34bcfcf72a9_0_101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4bcfcf72a9_0_101"/>
          <p:cNvSpPr txBox="1"/>
          <p:nvPr/>
        </p:nvSpPr>
        <p:spPr>
          <a:xfrm>
            <a:off x="2043308" y="962025"/>
            <a:ext cx="6921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TÉCNICAS PARA COLETA DE REQUISITOS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4bcfcf72a9_0_1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4bcfcf72a9_0_11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g34bcfcf72a9_0_11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4" name="Google Shape;194;g34bcfcf72a9_0_119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95" name="Google Shape;195;g34bcfcf72a9_0_11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g34bcfcf72a9_0_11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Google Shape;197;g34bcfcf72a9_0_119"/>
          <p:cNvSpPr txBox="1"/>
          <p:nvPr/>
        </p:nvSpPr>
        <p:spPr>
          <a:xfrm>
            <a:off x="2043305" y="1189050"/>
            <a:ext cx="1567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Stakeholders Internos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4bcfcf72a9_0_119"/>
          <p:cNvSpPr txBox="1"/>
          <p:nvPr/>
        </p:nvSpPr>
        <p:spPr>
          <a:xfrm>
            <a:off x="1685075" y="3542153"/>
            <a:ext cx="144438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Aqueles que fazem parte da própria organização desenvolvedora.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Gerente de Projeto: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Planeja e acompanha o progresso.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Equipe Técnica: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Desenvolvedores, designers, testadores.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Executivos: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Interessados no sucesso estratégico do sistema.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Desenvolvedores do sistema e o gestor da equipe técnica.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9" name="Google Shape;199;g34bcfcf72a9_0_11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4bcfcf72a9_0_119"/>
          <p:cNvSpPr txBox="1"/>
          <p:nvPr/>
        </p:nvSpPr>
        <p:spPr>
          <a:xfrm>
            <a:off x="2043308" y="962025"/>
            <a:ext cx="6921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TÉCNICAS PARA COLETA DE REQUISITOS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4bcfcf72a9_0_13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4bcfcf72a9_0_13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g34bcfcf72a9_0_13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8" name="Google Shape;208;g34bcfcf72a9_0_134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09" name="Google Shape;209;g34bcfcf72a9_0_13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g34bcfcf72a9_0_13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g34bcfcf72a9_0_134"/>
          <p:cNvSpPr txBox="1"/>
          <p:nvPr/>
        </p:nvSpPr>
        <p:spPr>
          <a:xfrm>
            <a:off x="2043305" y="1189050"/>
            <a:ext cx="1567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Stakeholders Externos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4bcfcf72a9_0_134"/>
          <p:cNvSpPr txBox="1"/>
          <p:nvPr/>
        </p:nvSpPr>
        <p:spPr>
          <a:xfrm>
            <a:off x="1685075" y="3542153"/>
            <a:ext cx="14443800" cy="5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Pessoas ou entidades de fora da equipe que influenciam ou são impactadas pelo projeto.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Clientes: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Usuários finais ou compradores.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Fornecedores: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Prestam serviços, vendem ferramentas ou recursos.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Reguladores: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Definem regras legais (leis, normas técnicas).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Investidores: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Esperam retorno financeiro com o projeto.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Cliente que vai usar o sistema de vendas; órgão fiscalizador que exige emissão de nota fiscal.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" name="Google Shape;213;g34bcfcf72a9_0_13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4bcfcf72a9_0_134"/>
          <p:cNvSpPr txBox="1"/>
          <p:nvPr/>
        </p:nvSpPr>
        <p:spPr>
          <a:xfrm>
            <a:off x="2043308" y="962025"/>
            <a:ext cx="6921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TÉCNICAS PARA COLETA DE REQUISITOS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4bcfcf72a9_0_15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4bcfcf72a9_0_15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g34bcfcf72a9_0_151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2" name="Google Shape;222;g34bcfcf72a9_0_151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23" name="Google Shape;223;g34bcfcf72a9_0_15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g34bcfcf72a9_0_15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" name="Google Shape;225;g34bcfcf72a9_0_151"/>
          <p:cNvSpPr txBox="1"/>
          <p:nvPr/>
        </p:nvSpPr>
        <p:spPr>
          <a:xfrm>
            <a:off x="2043305" y="1189050"/>
            <a:ext cx="1567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Importância dos Stakeholders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4bcfcf72a9_0_151"/>
          <p:cNvSpPr txBox="1"/>
          <p:nvPr/>
        </p:nvSpPr>
        <p:spPr>
          <a:xfrm>
            <a:off x="1685075" y="3542153"/>
            <a:ext cx="14443800" cy="4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Entender os stakeholders permite: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✔️ Atender suas expectativas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✔️ Evitar retrabalho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✔️ Priorizar o que realmente importa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✔️ Melhorar a comunicação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Todo projeto de sucesso considera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quem realmente será impactado.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7" name="Google Shape;227;g34bcfcf72a9_0_151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4bcfcf72a9_0_151"/>
          <p:cNvSpPr txBox="1"/>
          <p:nvPr/>
        </p:nvSpPr>
        <p:spPr>
          <a:xfrm>
            <a:off x="2043308" y="962025"/>
            <a:ext cx="6921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TÉCNICAS PARA COLETA DE REQUISITOS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494324d29f_0_18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494324d29f_0_18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g3494324d29f_0_18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6" name="Google Shape;236;g3494324d29f_0_18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37" name="Google Shape;237;g3494324d29f_0_18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g3494324d29f_0_18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" name="Google Shape;239;g3494324d29f_0_182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Resumo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0" name="Google Shape;240;g3494324d29f_0_182"/>
          <p:cNvSpPr txBox="1"/>
          <p:nvPr/>
        </p:nvSpPr>
        <p:spPr>
          <a:xfrm>
            <a:off x="1685075" y="3542151"/>
            <a:ext cx="14443800" cy="11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i="0" lang="en-US" sz="3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Requisitos =</a:t>
            </a:r>
            <a:r>
              <a:rPr b="0" i="0" lang="en-US" sz="3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 que o sistema precisa fazer.</a:t>
            </a:r>
            <a:endParaRPr b="0" i="0" sz="3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i="0" lang="en-US" sz="3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Funcionais =</a:t>
            </a:r>
            <a:r>
              <a:rPr b="0" i="0" lang="en-US" sz="3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Ações do sistema (ex.: cadastrar, calcular).</a:t>
            </a:r>
            <a:endParaRPr b="0" i="0" sz="3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i="0" lang="en-US" sz="3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Não Funcionais =</a:t>
            </a:r>
            <a:r>
              <a:rPr b="0" i="0" lang="en-US" sz="3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Qualidade (rápido, seguro, fácil de usar).</a:t>
            </a:r>
            <a:endParaRPr b="0" i="0" sz="3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i="0" lang="en-US" sz="3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Regras de Negócio =</a:t>
            </a:r>
            <a:r>
              <a:rPr b="0" i="0" lang="en-US" sz="3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Normas específicas, empresa ou projeto</a:t>
            </a:r>
            <a:endParaRPr b="0" i="0" sz="3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i="0" lang="en-US" sz="3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Restrições = </a:t>
            </a:r>
            <a:r>
              <a:rPr b="0" i="0" lang="en-US" sz="3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Limitações específicas da empresa ou projeto.</a:t>
            </a:r>
            <a:endParaRPr b="0" i="0" sz="3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1" name="Google Shape;241;g3494324d29f_0_18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494324d29f_0_182"/>
          <p:cNvSpPr txBox="1"/>
          <p:nvPr/>
        </p:nvSpPr>
        <p:spPr>
          <a:xfrm>
            <a:off x="2043309" y="962025"/>
            <a:ext cx="760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TÉCNICAS PARA COLETA DE REQUISITOS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494324d29f_0_34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494324d29f_0_34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" name="Google Shape;249;g3494324d29f_0_34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0" name="Google Shape;250;g3494324d29f_0_343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51" name="Google Shape;251;g3494324d29f_0_34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g3494324d29f_0_34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3" name="Google Shape;253;g3494324d29f_0_343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4" name="Google Shape;254;g3494324d29f_0_343"/>
          <p:cNvSpPr txBox="1"/>
          <p:nvPr/>
        </p:nvSpPr>
        <p:spPr>
          <a:xfrm>
            <a:off x="1685075" y="3542151"/>
            <a:ext cx="14443800" cy="13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SOMMERVILLE, Ian.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Engenharia de Software. 10. ed. São Paulo: Pearson, 2020.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Capítulo 4: Requisitos de Software (p. 67-98).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18288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PRESSMAN, Roger S.; MAXIM, Bruce R.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Engenharia de Software: Uma Abordagem Profissional. 8. ed. Porto Alegre: AMGH, 2016.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Seção 5.3: Levantamento de Requisitos (p. 120-135).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Associação Brasileira de Normas Técnicas (ABNT).</a:t>
            </a:r>
            <a:endParaRPr b="1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NBR ISO/IEC 12207:2021 – Processos de Ciclo de Vida de Software.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NBR ISO/IEC/IEEE 29148:2018 – Engenharia de Requisitos.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IBM.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Requirements Engineering: Best Practices. 2023.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Disponível em: https://www.ibm.com/br-pt/topics/requirements-engineering.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5" name="Google Shape;255;g3494324d29f_0_34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494324d29f_0_343"/>
          <p:cNvSpPr txBox="1"/>
          <p:nvPr/>
        </p:nvSpPr>
        <p:spPr>
          <a:xfrm>
            <a:off x="2043309" y="962025"/>
            <a:ext cx="769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TÉCNICAS PARA COLETA DE REQUISITOS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p16"/>
          <p:cNvCxnSpPr/>
          <p:nvPr/>
        </p:nvCxnSpPr>
        <p:spPr>
          <a:xfrm rot="10800000">
            <a:off x="9645833" y="4419143"/>
            <a:ext cx="18900" cy="20583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16"/>
          <p:cNvSpPr txBox="1"/>
          <p:nvPr/>
        </p:nvSpPr>
        <p:spPr>
          <a:xfrm>
            <a:off x="10341007" y="4336637"/>
            <a:ext cx="2440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Telefone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(11) 2396-1999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4" name="Google Shape;264;p16"/>
          <p:cNvGrpSpPr/>
          <p:nvPr/>
        </p:nvGrpSpPr>
        <p:grpSpPr>
          <a:xfrm>
            <a:off x="10340993" y="2885700"/>
            <a:ext cx="5951925" cy="1458644"/>
            <a:chOff x="-19" y="-85717"/>
            <a:chExt cx="7935900" cy="1944859"/>
          </a:xfrm>
        </p:grpSpPr>
        <p:sp>
          <p:nvSpPr>
            <p:cNvPr id="265" name="Google Shape;265;p16"/>
            <p:cNvSpPr txBox="1"/>
            <p:nvPr/>
          </p:nvSpPr>
          <p:spPr>
            <a:xfrm>
              <a:off x="0" y="677142"/>
              <a:ext cx="3902700" cy="11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Av. Goiás, 139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6" name="Google Shape;266;p16"/>
            <p:cNvSpPr txBox="1"/>
            <p:nvPr/>
          </p:nvSpPr>
          <p:spPr>
            <a:xfrm>
              <a:off x="-19" y="-85717"/>
              <a:ext cx="79359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D93831"/>
                  </a:solidFill>
                  <a:latin typeface="Poppins"/>
                  <a:ea typeface="Poppins"/>
                  <a:cs typeface="Poppins"/>
                  <a:sym typeface="Poppins"/>
                </a:rPr>
                <a:t>ESCOLA SENAI ÍTALO BOLOGNA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7" name="Google Shape;267;p16"/>
          <p:cNvGrpSpPr/>
          <p:nvPr/>
        </p:nvGrpSpPr>
        <p:grpSpPr>
          <a:xfrm>
            <a:off x="10340999" y="5663950"/>
            <a:ext cx="2283308" cy="846825"/>
            <a:chOff x="-11" y="-66670"/>
            <a:chExt cx="3044411" cy="1129101"/>
          </a:xfrm>
        </p:grpSpPr>
        <p:sp>
          <p:nvSpPr>
            <p:cNvPr id="268" name="Google Shape;268;p16"/>
            <p:cNvSpPr txBox="1"/>
            <p:nvPr/>
          </p:nvSpPr>
          <p:spPr>
            <a:xfrm>
              <a:off x="-11" y="-66670"/>
              <a:ext cx="2667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Instagram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6"/>
            <p:cNvSpPr txBox="1"/>
            <p:nvPr/>
          </p:nvSpPr>
          <p:spPr>
            <a:xfrm>
              <a:off x="0" y="569831"/>
              <a:ext cx="3044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@senai.itu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0" name="Google Shape;270;p16"/>
          <p:cNvGrpSpPr/>
          <p:nvPr/>
        </p:nvGrpSpPr>
        <p:grpSpPr>
          <a:xfrm>
            <a:off x="10340997" y="7046976"/>
            <a:ext cx="5697225" cy="804499"/>
            <a:chOff x="-13" y="-66675"/>
            <a:chExt cx="7596300" cy="1072665"/>
          </a:xfrm>
        </p:grpSpPr>
        <p:sp>
          <p:nvSpPr>
            <p:cNvPr id="271" name="Google Shape;271;p16"/>
            <p:cNvSpPr txBox="1"/>
            <p:nvPr/>
          </p:nvSpPr>
          <p:spPr>
            <a:xfrm>
              <a:off x="0" y="-66675"/>
              <a:ext cx="1655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16"/>
            <p:cNvSpPr txBox="1"/>
            <p:nvPr/>
          </p:nvSpPr>
          <p:spPr>
            <a:xfrm>
              <a:off x="-13" y="513390"/>
              <a:ext cx="7596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https://sp.senai.br/unidade/itu/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3" name="Google Shape;273;p16"/>
          <p:cNvGrpSpPr/>
          <p:nvPr/>
        </p:nvGrpSpPr>
        <p:grpSpPr>
          <a:xfrm>
            <a:off x="13422228" y="5663946"/>
            <a:ext cx="2133000" cy="845495"/>
            <a:chOff x="0" y="-66675"/>
            <a:chExt cx="2844000" cy="1127326"/>
          </a:xfrm>
        </p:grpSpPr>
        <p:sp>
          <p:nvSpPr>
            <p:cNvPr id="274" name="Google Shape;274;p16"/>
            <p:cNvSpPr txBox="1"/>
            <p:nvPr/>
          </p:nvSpPr>
          <p:spPr>
            <a:xfrm>
              <a:off x="0" y="-66675"/>
              <a:ext cx="2039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Facebok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6"/>
            <p:cNvSpPr txBox="1"/>
            <p:nvPr/>
          </p:nvSpPr>
          <p:spPr>
            <a:xfrm>
              <a:off x="0" y="568051"/>
              <a:ext cx="2844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/senaisp.itu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76" name="Google Shape;276;p16"/>
          <p:cNvSpPr/>
          <p:nvPr/>
        </p:nvSpPr>
        <p:spPr>
          <a:xfrm>
            <a:off x="14706022" y="599788"/>
            <a:ext cx="3200983" cy="833009"/>
          </a:xfrm>
          <a:custGeom>
            <a:rect b="b" l="l" r="r" t="t"/>
            <a:pathLst>
              <a:path extrusionOk="0" h="1015865" w="3988764">
                <a:moveTo>
                  <a:pt x="0" y="0"/>
                </a:moveTo>
                <a:lnTo>
                  <a:pt x="3988765" y="0"/>
                </a:lnTo>
                <a:lnTo>
                  <a:pt x="3988765" y="1015866"/>
                </a:lnTo>
                <a:lnTo>
                  <a:pt x="0" y="1015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7" name="Google Shape;277;p16"/>
          <p:cNvGrpSpPr/>
          <p:nvPr/>
        </p:nvGrpSpPr>
        <p:grpSpPr>
          <a:xfrm>
            <a:off x="1534959" y="2851188"/>
            <a:ext cx="7762810" cy="5194221"/>
            <a:chOff x="1648350" y="1982600"/>
            <a:chExt cx="6664501" cy="4459324"/>
          </a:xfrm>
        </p:grpSpPr>
        <p:pic>
          <p:nvPicPr>
            <p:cNvPr id="278" name="Google Shape;278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8350" y="1982600"/>
              <a:ext cx="6664501" cy="4459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" name="Google Shape;279;p16"/>
            <p:cNvSpPr/>
            <p:nvPr/>
          </p:nvSpPr>
          <p:spPr>
            <a:xfrm>
              <a:off x="1648350" y="1982603"/>
              <a:ext cx="6664500" cy="445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FOTO DA ESCOLA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