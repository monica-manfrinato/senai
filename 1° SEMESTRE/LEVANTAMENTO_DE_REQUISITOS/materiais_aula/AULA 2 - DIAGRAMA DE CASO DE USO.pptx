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10287000" cx="18288000"/>
  <p:notesSz cx="6858000" cy="9144000"/>
  <p:embeddedFontLst>
    <p:embeddedFont>
      <p:font typeface="Poppi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iCAx8b8WPJh6xfPGEcnuIL9AbU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9be8474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49be84749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9be84749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49be847499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9be84749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49be847499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94324d29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494324d29f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9be84749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49be847499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9be84749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49be847499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9be84749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Características da Generalização em Casos de Uso: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US" sz="1200">
                <a:solidFill>
                  <a:schemeClr val="dk1"/>
                </a:solidFill>
              </a:rPr>
              <a:t>Herança de Comportamento: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O caso de uso filho herda as funcionalidades do caso de uso pai.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O filho pode adicionar novos comportamentos ou modificar os existentes.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US" sz="1200">
                <a:solidFill>
                  <a:schemeClr val="dk1"/>
                </a:solidFill>
              </a:rPr>
              <a:t>Notação: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Representado por uma seta com linha contínua e ponta aberta (→) apontando do caso de uso filho para o pai.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US" sz="1200">
                <a:solidFill>
                  <a:schemeClr val="dk1"/>
                </a:solidFill>
              </a:rPr>
              <a:t>Propósito: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Evitar repetição de funcionalidades comuns.</a:t>
            </a: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Organizar casos de uso de forma hierárquica, facilitando a compreensão.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49be847499_0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4d3e4135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04d3e4135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9be84749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49be847499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a2eed6cf8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4a2eed6cf8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4a0340e62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4a0340e626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a0340e62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34a0340e626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4a0340e62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4a0340e626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494324d29f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494324d29f_0_3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494324d29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3494324d29f_0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494324d29f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g3494324d29f_0_2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494324d29f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g3494324d29f_0_2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494324d29f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g3494324d29f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hyperlink" Target="https://app.diagrams.net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hyperlink" Target="https://miro.com/pt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hyperlink" Target="https://lucid.app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298100" y="4173500"/>
            <a:ext cx="96918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9be847499_0_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49be847499_0_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49be847499_0_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g349be847499_0_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g349be847499_0_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349be847499_0_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349be847499_0_5"/>
          <p:cNvSpPr txBox="1"/>
          <p:nvPr/>
        </p:nvSpPr>
        <p:spPr>
          <a:xfrm>
            <a:off x="2043302" y="1189050"/>
            <a:ext cx="102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49be847499_0_5"/>
          <p:cNvSpPr txBox="1"/>
          <p:nvPr/>
        </p:nvSpPr>
        <p:spPr>
          <a:xfrm>
            <a:off x="1685075" y="3542150"/>
            <a:ext cx="14859600" cy="59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É uma representação visual que mostra quem interage com o sistema (atores) e 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que esses atores podem fazer (casos de uso).É como um mapa das principais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funcionalidades do sistema do ponto de vista do usuário.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Por que usar?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● Identifica todas as funcionalidades principais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● Mostra claramente quem usa cada parte do sistema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● Ajuda a descobrir requisitos ocultos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g349be847499_0_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49be847499_0_5"/>
          <p:cNvSpPr txBox="1"/>
          <p:nvPr/>
        </p:nvSpPr>
        <p:spPr>
          <a:xfrm>
            <a:off x="2043304" y="962025"/>
            <a:ext cx="482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9be847499_0_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49be847499_0_2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g349be847499_0_2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" name="Google Shape;110;g349be847499_0_2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1" name="Google Shape;111;g349be847499_0_2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49be847499_0_2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g349be847499_0_21"/>
          <p:cNvSpPr txBox="1"/>
          <p:nvPr/>
        </p:nvSpPr>
        <p:spPr>
          <a:xfrm>
            <a:off x="2043300" y="1189050"/>
            <a:ext cx="102294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Elementos Fundamentais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4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g349be847499_0_21"/>
          <p:cNvSpPr txBox="1"/>
          <p:nvPr/>
        </p:nvSpPr>
        <p:spPr>
          <a:xfrm>
            <a:off x="1685075" y="3861950"/>
            <a:ext cx="14859600" cy="59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 Atores:	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									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asos de uso:	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								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Sistema: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49be847499_0_2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49be847499_0_21"/>
          <p:cNvSpPr txBox="1"/>
          <p:nvPr/>
        </p:nvSpPr>
        <p:spPr>
          <a:xfrm>
            <a:off x="2043305" y="962025"/>
            <a:ext cx="5519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" name="Google Shape;117;g349be847499_0_21"/>
          <p:cNvPicPr preferRelativeResize="0"/>
          <p:nvPr/>
        </p:nvPicPr>
        <p:blipFill rotWithShape="1">
          <a:blip r:embed="rId6">
            <a:alphaModFix/>
          </a:blip>
          <a:srcRect b="53656" l="0" r="0" t="0"/>
          <a:stretch/>
        </p:blipFill>
        <p:spPr>
          <a:xfrm>
            <a:off x="12398475" y="4590550"/>
            <a:ext cx="4615369" cy="401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49be847499_0_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40412" y="4862388"/>
            <a:ext cx="5081334" cy="26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49be847499_0_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96750" y="4437900"/>
            <a:ext cx="2859795" cy="48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9be847499_0_4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49be847499_0_4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g349be847499_0_4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7" name="Google Shape;127;g349be847499_0_4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8" name="Google Shape;128;g349be847499_0_4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g349be847499_0_4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g349be847499_0_40"/>
          <p:cNvSpPr txBox="1"/>
          <p:nvPr/>
        </p:nvSpPr>
        <p:spPr>
          <a:xfrm>
            <a:off x="2043300" y="1189050"/>
            <a:ext cx="102294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Relacionamentos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4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g349be847499_0_40"/>
          <p:cNvSpPr txBox="1"/>
          <p:nvPr/>
        </p:nvSpPr>
        <p:spPr>
          <a:xfrm>
            <a:off x="1685075" y="3905250"/>
            <a:ext cx="14859600" cy="9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                       Seta Reta (Contínua)									     Seta Tracejada (Linha Tracejada)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18288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Associação															Dependência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g349be847499_0_4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49be847499_0_40"/>
          <p:cNvSpPr txBox="1"/>
          <p:nvPr/>
        </p:nvSpPr>
        <p:spPr>
          <a:xfrm>
            <a:off x="2043304" y="962025"/>
            <a:ext cx="4809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4" name="Google Shape;134;g349be847499_0_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3300" y="5070338"/>
            <a:ext cx="525780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49be847499_0_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4675" y="4879400"/>
            <a:ext cx="5950000" cy="223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94324d29f_0_4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494324d29f_0_4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g3494324d29f_0_4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g3494324d29f_0_4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44" name="Google Shape;144;g3494324d29f_0_4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g3494324d29f_0_4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g3494324d29f_0_41"/>
          <p:cNvSpPr txBox="1"/>
          <p:nvPr/>
        </p:nvSpPr>
        <p:spPr>
          <a:xfrm>
            <a:off x="2043304" y="1189050"/>
            <a:ext cx="13403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 relacionamento (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ssociação)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494324d29f_0_4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494324d29f_0_41"/>
          <p:cNvSpPr txBox="1"/>
          <p:nvPr/>
        </p:nvSpPr>
        <p:spPr>
          <a:xfrm>
            <a:off x="2043304" y="962025"/>
            <a:ext cx="4638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g3494324d29f_0_41"/>
          <p:cNvSpPr txBox="1"/>
          <p:nvPr/>
        </p:nvSpPr>
        <p:spPr>
          <a:xfrm>
            <a:off x="1685075" y="3539900"/>
            <a:ext cx="14859600" cy="59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Sistema de vendas: 2 atores, 2 casos de uso, 2 ligações por associação 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0" name="Google Shape;150;g3494324d29f_0_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2575" y="4329450"/>
            <a:ext cx="15887699" cy="49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9be847499_0_7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49be847499_0_7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g349be847499_0_7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8" name="Google Shape;158;g349be847499_0_7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9" name="Google Shape;159;g349be847499_0_7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g349be847499_0_7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g349be847499_0_7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49be847499_0_70"/>
          <p:cNvSpPr txBox="1"/>
          <p:nvPr/>
        </p:nvSpPr>
        <p:spPr>
          <a:xfrm>
            <a:off x="2043300" y="1189050"/>
            <a:ext cx="136800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Relacionamentos (Dependência)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g349be847499_0_70"/>
          <p:cNvSpPr txBox="1"/>
          <p:nvPr/>
        </p:nvSpPr>
        <p:spPr>
          <a:xfrm>
            <a:off x="2043305" y="962025"/>
            <a:ext cx="5420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349be847499_0_70"/>
          <p:cNvSpPr txBox="1"/>
          <p:nvPr/>
        </p:nvSpPr>
        <p:spPr>
          <a:xfrm>
            <a:off x="1685075" y="3370300"/>
            <a:ext cx="14859600" cy="8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INCLUDE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Quando um caso de uso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precisa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outro para funcionar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5" name="Google Shape;165;g349be847499_0_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5075" y="4914900"/>
            <a:ext cx="14859600" cy="5161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9be847499_0_8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49be847499_0_8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g349be847499_0_8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3" name="Google Shape;173;g349be847499_0_8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74" name="Google Shape;174;g349be847499_0_8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g349be847499_0_8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g349be847499_0_8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49be847499_0_87"/>
          <p:cNvSpPr txBox="1"/>
          <p:nvPr/>
        </p:nvSpPr>
        <p:spPr>
          <a:xfrm>
            <a:off x="2043304" y="1189050"/>
            <a:ext cx="134034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Relacionamentos (Dependência) 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g349be847499_0_87"/>
          <p:cNvSpPr txBox="1"/>
          <p:nvPr/>
        </p:nvSpPr>
        <p:spPr>
          <a:xfrm>
            <a:off x="2043305" y="962025"/>
            <a:ext cx="5619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g349be847499_0_87"/>
          <p:cNvSpPr txBox="1"/>
          <p:nvPr/>
        </p:nvSpPr>
        <p:spPr>
          <a:xfrm>
            <a:off x="1685075" y="3370300"/>
            <a:ext cx="14859600" cy="9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EXTEND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Funcionalidade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opcional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 pode acontecer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0" name="Google Shape;180;g349be847499_0_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5063" y="4739200"/>
            <a:ext cx="14384375" cy="534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9be847499_0_14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49be847499_0_14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g349be847499_0_14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8" name="Google Shape;188;g349be847499_0_14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89" name="Google Shape;189;g349be847499_0_14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g349be847499_0_14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g349be847499_0_14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49be847499_0_142"/>
          <p:cNvSpPr txBox="1"/>
          <p:nvPr/>
        </p:nvSpPr>
        <p:spPr>
          <a:xfrm>
            <a:off x="2043304" y="1189050"/>
            <a:ext cx="134034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Generalização (Herança)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g349be847499_0_142"/>
          <p:cNvSpPr txBox="1"/>
          <p:nvPr/>
        </p:nvSpPr>
        <p:spPr>
          <a:xfrm>
            <a:off x="2043300" y="962025"/>
            <a:ext cx="5619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g349be847499_0_142"/>
          <p:cNvSpPr txBox="1"/>
          <p:nvPr/>
        </p:nvSpPr>
        <p:spPr>
          <a:xfrm>
            <a:off x="1685075" y="3370300"/>
            <a:ext cx="14859600" cy="14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Definição: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representa um relacionamento entre um caso de uso mais genérico (pai) e um caso de uso mais específico (filho), onde o caso de uso filho herda e estende o comportamento do caso de uso pai. (pode também ser chamado de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HERANÇA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Herança de Comportamento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Notação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04d3e4135c_0_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04d3e4135c_0_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g304d3e4135c_0_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2" name="Google Shape;202;g304d3e4135c_0_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03" name="Google Shape;203;g304d3e4135c_0_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g304d3e4135c_0_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304d3e4135c_0_4"/>
          <p:cNvSpPr txBox="1"/>
          <p:nvPr/>
        </p:nvSpPr>
        <p:spPr>
          <a:xfrm>
            <a:off x="2043304" y="1189050"/>
            <a:ext cx="13403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Exemplo </a:t>
            </a: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Generalização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(Herança)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g304d3e4135c_0_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04d3e4135c_0_4"/>
          <p:cNvSpPr txBox="1"/>
          <p:nvPr/>
        </p:nvSpPr>
        <p:spPr>
          <a:xfrm>
            <a:off x="2043304" y="962025"/>
            <a:ext cx="4638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g304d3e4135c_0_4"/>
          <p:cNvSpPr txBox="1"/>
          <p:nvPr/>
        </p:nvSpPr>
        <p:spPr>
          <a:xfrm>
            <a:off x="1356575" y="3539900"/>
            <a:ext cx="15568200" cy="59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Sistema de vendas: 2 atores, 3  casos de uso, 2 ligações por associação, 2 ligações por herança 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9" name="Google Shape;209;g304d3e4135c_0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7525" y="4302824"/>
            <a:ext cx="8714932" cy="59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9be847499_0_10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49be847499_0_10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g349be847499_0_10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7" name="Google Shape;217;g349be847499_0_10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18" name="Google Shape;218;g349be847499_0_10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g349be847499_0_10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g349be847499_0_104"/>
          <p:cNvSpPr txBox="1"/>
          <p:nvPr/>
        </p:nvSpPr>
        <p:spPr>
          <a:xfrm>
            <a:off x="2043304" y="1189050"/>
            <a:ext cx="134034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Erros comuns (e como evitar)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g349be847499_0_10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49be847499_0_104"/>
          <p:cNvSpPr txBox="1"/>
          <p:nvPr/>
        </p:nvSpPr>
        <p:spPr>
          <a:xfrm>
            <a:off x="2043304" y="962025"/>
            <a:ext cx="4709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g349be847499_0_104"/>
          <p:cNvSpPr txBox="1"/>
          <p:nvPr/>
        </p:nvSpPr>
        <p:spPr>
          <a:xfrm>
            <a:off x="1685075" y="3370300"/>
            <a:ext cx="14859600" cy="59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1. Muitos casos de uso no mesmo diagrama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Solução: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Divida em sub diagramas por módulo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2. Atores que não interagem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Solução: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Remova ou mostre relação real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3. Casos de uso muito vagos</a:t>
            </a:r>
            <a:endParaRPr b="1" sz="24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Solução: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Antes: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"Gerenciar usuários"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13716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○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Depois: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"Cadastrar usuário", "Resetar senha"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a2eed6cf8_2_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4a2eed6cf8_2_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g34a2eed6cf8_2_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1" name="Google Shape;231;g34a2eed6cf8_2_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32" name="Google Shape;232;g34a2eed6cf8_2_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g34a2eed6cf8_2_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g34a2eed6cf8_2_3"/>
          <p:cNvSpPr txBox="1"/>
          <p:nvPr/>
        </p:nvSpPr>
        <p:spPr>
          <a:xfrm>
            <a:off x="2043304" y="1189050"/>
            <a:ext cx="134034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Posicionamento dos atores</a:t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g34a2eed6cf8_2_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4a2eed6cf8_2_3"/>
          <p:cNvSpPr txBox="1"/>
          <p:nvPr/>
        </p:nvSpPr>
        <p:spPr>
          <a:xfrm>
            <a:off x="2043304" y="962025"/>
            <a:ext cx="4709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g34a2eed6cf8_2_3"/>
          <p:cNvSpPr txBox="1"/>
          <p:nvPr/>
        </p:nvSpPr>
        <p:spPr>
          <a:xfrm>
            <a:off x="1685075" y="3370300"/>
            <a:ext cx="14859600" cy="13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Atores à </a:t>
            </a:r>
            <a:r>
              <a:rPr b="1" lang="en-US" sz="2400" u="sng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ESQUERDA</a:t>
            </a:r>
            <a:endParaRPr b="1" sz="2400" u="sng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Usuários ativos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(humanos ou sistemas que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iniciam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ação).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Atores à </a:t>
            </a:r>
            <a:r>
              <a:rPr b="1" lang="en-US" sz="2400" u="sng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DIREITA</a:t>
            </a:r>
            <a:endParaRPr b="1" sz="2400" u="sng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Sistemas passivos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respondem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ações, mas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iniciam).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Exceções:</a:t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houver muitos atores, posicione os mais relevantes à esquerda.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Atores secundários (ex.: "Gateway de Pagamento - pagseguro ") podem ficar abaixo do caso de uso.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9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9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611441" y="962025"/>
            <a:ext cx="2865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3611475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Login simples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3611450" y="1545475"/>
            <a:ext cx="2477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(Modelo)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3611475" y="3117700"/>
            <a:ext cx="14476200" cy="7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Elementos: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Atores: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Usuário, Sistema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Casos de uso: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"Fazer login", "Recuperar senha", “Enviar e-mail para recuperar senha”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1" name="Google Shape;251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3925" y="4685100"/>
            <a:ext cx="9658800" cy="545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4a0340e626_0_37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4a0340e626_0_37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8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g34a0340e626_0_37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g34a0340e626_0_37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4a0340e626_0_37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4a0340e626_0_3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4a0340e626_0_37"/>
          <p:cNvSpPr txBox="1"/>
          <p:nvPr/>
        </p:nvSpPr>
        <p:spPr>
          <a:xfrm>
            <a:off x="3611472" y="2570775"/>
            <a:ext cx="14003700" cy="6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91440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●"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DRAW.IO: </a:t>
            </a:r>
            <a:r>
              <a:rPr lang="en-US" sz="2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https://app.diagrams.net/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Orientações Lucid: 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1113"/>
              </a:buClr>
              <a:buSzPts val="2800"/>
              <a:buFont typeface="Poppins"/>
              <a:buChar char="●"/>
            </a:pP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Escolha qual o método que deseja salvar seus arquivos (pode ser pelo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drive</a:t>
            </a: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ou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aparelho</a:t>
            </a: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1113"/>
              </a:buClr>
              <a:buSzPts val="2800"/>
              <a:buFont typeface="Poppins"/>
              <a:buChar char="●"/>
            </a:pP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Criar novo diagrama</a:t>
            </a:r>
            <a:endParaRPr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1113"/>
              </a:buClr>
              <a:buSzPts val="2800"/>
              <a:buFont typeface="Poppins"/>
              <a:buChar char="●"/>
            </a:pP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Escolha um nome para o arquivo</a:t>
            </a:r>
            <a:endParaRPr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1113"/>
              </a:buClr>
              <a:buSzPts val="2800"/>
              <a:buFont typeface="Poppins"/>
              <a:buChar char="●"/>
            </a:pP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Deixe a opção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DIAGRAMA EM BRANCO </a:t>
            </a: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 pode criar o arquivo</a:t>
            </a:r>
            <a:endParaRPr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g34a0340e626_0_37"/>
          <p:cNvSpPr txBox="1"/>
          <p:nvPr/>
        </p:nvSpPr>
        <p:spPr>
          <a:xfrm>
            <a:off x="3611450" y="2996700"/>
            <a:ext cx="1440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4a0340e626_0_37"/>
          <p:cNvSpPr txBox="1"/>
          <p:nvPr/>
        </p:nvSpPr>
        <p:spPr>
          <a:xfrm>
            <a:off x="3611450" y="1545475"/>
            <a:ext cx="2477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Ferramentas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a0340e626_0_9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4a0340e626_0_9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8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g34a0340e626_0_9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g34a0340e626_0_9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4a0340e626_0_9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4a0340e626_0_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4a0340e626_0_9"/>
          <p:cNvSpPr txBox="1"/>
          <p:nvPr/>
        </p:nvSpPr>
        <p:spPr>
          <a:xfrm>
            <a:off x="3611472" y="2570775"/>
            <a:ext cx="14003700" cy="58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91440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E1113"/>
              </a:buClr>
              <a:buSzPts val="2800"/>
              <a:buFont typeface="Poppins"/>
              <a:buChar char="●"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MIRO:</a:t>
            </a:r>
            <a:r>
              <a:rPr b="1" lang="en-US" sz="37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https://miro.com/pt/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Orientações MIRO: 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1113"/>
              </a:buClr>
              <a:buSzPts val="2800"/>
              <a:buFont typeface="Poppins"/>
              <a:buChar char="●"/>
            </a:pP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Fazer login pelo gmail (conta do SENAI)</a:t>
            </a:r>
            <a:endParaRPr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1113"/>
              </a:buClr>
              <a:buSzPts val="2800"/>
              <a:buFont typeface="Poppins"/>
              <a:buChar char="●"/>
            </a:pP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Ao acessar clique em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Blank Board </a:t>
            </a: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(você será direcionado a uma tela e um pop up abrirá)</a:t>
            </a:r>
            <a:endParaRPr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1113"/>
              </a:buClr>
              <a:buSzPts val="2800"/>
              <a:buFont typeface="Poppins"/>
              <a:buChar char="●"/>
            </a:pP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Nesse pop up que abriu busque por: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Use case, </a:t>
            </a: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selecione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UML Use case diagram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" name="Google Shape;276;g34a0340e626_0_9"/>
          <p:cNvSpPr txBox="1"/>
          <p:nvPr/>
        </p:nvSpPr>
        <p:spPr>
          <a:xfrm>
            <a:off x="3611450" y="2996700"/>
            <a:ext cx="1440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4a0340e626_0_9"/>
          <p:cNvSpPr txBox="1"/>
          <p:nvPr/>
        </p:nvSpPr>
        <p:spPr>
          <a:xfrm>
            <a:off x="3611450" y="1545475"/>
            <a:ext cx="2477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Ferramentas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4a0340e626_0_25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4a0340e626_0_25"/>
          <p:cNvSpPr/>
          <p:nvPr/>
        </p:nvSpPr>
        <p:spPr>
          <a:xfrm rot="5374217">
            <a:off x="-3628510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8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g34a0340e626_0_25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g34a0340e626_0_25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4a0340e626_0_25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4a0340e626_0_2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4a0340e626_0_25"/>
          <p:cNvSpPr txBox="1"/>
          <p:nvPr/>
        </p:nvSpPr>
        <p:spPr>
          <a:xfrm>
            <a:off x="3611472" y="2570775"/>
            <a:ext cx="14003700" cy="77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91440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●"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LUCID: </a:t>
            </a:r>
            <a:r>
              <a:rPr lang="en-US" sz="2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https://lucid.app/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Orientações Lucid: 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1113"/>
              </a:buClr>
              <a:buSzPts val="2800"/>
              <a:buFont typeface="Poppins"/>
              <a:buChar char="●"/>
            </a:pP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Fazer login pelo gmail (conta do SENAI)</a:t>
            </a:r>
            <a:endParaRPr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1113"/>
              </a:buClr>
              <a:buSzPts val="2800"/>
              <a:buFont typeface="Poppins"/>
              <a:buChar char="●"/>
            </a:pP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NOVO &gt; LucidChart &gt; Criar a Partir de modelo</a:t>
            </a:r>
            <a:endParaRPr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1113"/>
              </a:buClr>
              <a:buSzPts val="2800"/>
              <a:buFont typeface="Poppins"/>
              <a:buChar char="●"/>
            </a:pP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Buscar por: </a:t>
            </a: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Observações: </a:t>
            </a:r>
            <a:r>
              <a:rPr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Limitado a 3 casos de uso editáveis, a cada nova criação os anteriores ficarão apenas para visualização</a:t>
            </a:r>
            <a:endParaRPr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g34a0340e626_0_25"/>
          <p:cNvSpPr txBox="1"/>
          <p:nvPr/>
        </p:nvSpPr>
        <p:spPr>
          <a:xfrm>
            <a:off x="3611450" y="2996700"/>
            <a:ext cx="1440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4a0340e626_0_25"/>
          <p:cNvSpPr txBox="1"/>
          <p:nvPr/>
        </p:nvSpPr>
        <p:spPr>
          <a:xfrm>
            <a:off x="3611450" y="1545475"/>
            <a:ext cx="2477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Ferramentas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494324d29f_0_304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494324d29f_0_304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g3494324d29f_0_304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g3494324d29f_0_304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494324d29f_0_304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494324d29f_0_30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1" name="Google Shape;301;g3494324d29f_0_304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302" name="Google Shape;302;g3494324d29f_0_30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g3494324d29f_0_30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g3494324d29f_0_304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E-commerce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5" name="Google Shape;305;g3494324d29f_0_304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494324d29f_0_304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g3494324d29f_0_304"/>
          <p:cNvSpPr txBox="1"/>
          <p:nvPr/>
        </p:nvSpPr>
        <p:spPr>
          <a:xfrm>
            <a:off x="3611475" y="3651100"/>
            <a:ext cx="144762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Atores: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Cliente, Sistema de Pagamento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Casos de uso: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Finalizar compra (inclui: Selecionar método de pagamento)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Adicionar ao carrinho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Calcular frete (inclui: Verificar CEP)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Avaliar produto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494324d29f_0_209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494324d29f_0_209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g3494324d29f_0_209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g3494324d29f_0_209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494324d29f_0_209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494324d29f_0_20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8" name="Google Shape;318;g3494324d29f_0_209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319" name="Google Shape;319;g3494324d29f_0_20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g3494324d29f_0_20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g3494324d29f_0_209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Plataforma de Vídeos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g3494324d29f_0_209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494324d29f_0_209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4" name="Google Shape;324;g3494324d29f_0_209"/>
          <p:cNvSpPr txBox="1"/>
          <p:nvPr/>
        </p:nvSpPr>
        <p:spPr>
          <a:xfrm>
            <a:off x="3611475" y="3651100"/>
            <a:ext cx="14476200" cy="3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Atores: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Assinante, Administrador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Casos de uso: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Reproduzir vídeo (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estendido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Ativar legenda)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Fazer download (estendido: Verificar assinatura premium)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Comentar vídeo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Reportar conteúdo inadequado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494324d29f_0_238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494324d29f_0_238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" name="Google Shape;331;g3494324d29f_0_238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g3494324d29f_0_238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494324d29f_0_238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494324d29f_0_23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" name="Google Shape;335;g3494324d29f_0_238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336" name="Google Shape;336;g3494324d29f_0_2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g3494324d29f_0_23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" name="Google Shape;338;g3494324d29f_0_238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Biblioteca Universitária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g3494324d29f_0_238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494324d29f_0_238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1" name="Google Shape;341;g3494324d29f_0_238"/>
          <p:cNvSpPr txBox="1"/>
          <p:nvPr/>
        </p:nvSpPr>
        <p:spPr>
          <a:xfrm>
            <a:off x="3611475" y="3651100"/>
            <a:ext cx="144762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Atores: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Usuário - generalização de Aluno, Professor,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bibliotecária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Casos de uso: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Emprestar livro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Renovar empréstimo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Reservar livro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devolução com atraso (pagar multa)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Atualizar livros (novos e devolvidos)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494324d29f_0_255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494324d29f_0_255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g3494324d29f_0_255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g3494324d29f_0_255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494324d29f_0_255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494324d29f_0_25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" name="Google Shape;352;g3494324d29f_0_255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353" name="Google Shape;353;g3494324d29f_0_25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g3494324d29f_0_25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g3494324d29f_0_255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Banco Digital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g3494324d29f_0_255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494324d29f_0_255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g3494324d29f_0_255"/>
          <p:cNvSpPr txBox="1"/>
          <p:nvPr/>
        </p:nvSpPr>
        <p:spPr>
          <a:xfrm>
            <a:off x="3611475" y="3651100"/>
            <a:ext cx="14476200" cy="3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Atores: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Cliente (generalização de Pessoa Física e PJ), Sistema Anti-Fraude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Casos de uso: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Transferência (inclui: Validar saldo)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Investir (estendido: Recomendar perfil de risco)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Contratar empréstimo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Gerar extrato (inclui: Filtrar por período)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494324d29f_0_272"/>
          <p:cNvSpPr/>
          <p:nvPr/>
        </p:nvSpPr>
        <p:spPr>
          <a:xfrm>
            <a:off x="89899" y="2568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494324d29f_0_272"/>
          <p:cNvSpPr/>
          <p:nvPr/>
        </p:nvSpPr>
        <p:spPr>
          <a:xfrm rot="5374217">
            <a:off x="-3628509" y="3673600"/>
            <a:ext cx="10291961" cy="2958053"/>
          </a:xfrm>
          <a:custGeom>
            <a:rect b="b" l="l" r="r" t="t"/>
            <a:pathLst>
              <a:path extrusionOk="0" h="2957970" w="10291672">
                <a:moveTo>
                  <a:pt x="0" y="0"/>
                </a:moveTo>
                <a:lnTo>
                  <a:pt x="10291672" y="0"/>
                </a:lnTo>
                <a:lnTo>
                  <a:pt x="10291672" y="2957970"/>
                </a:lnTo>
                <a:lnTo>
                  <a:pt x="0" y="2957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g3494324d29f_0_272"/>
          <p:cNvCxnSpPr/>
          <p:nvPr/>
        </p:nvCxnSpPr>
        <p:spPr>
          <a:xfrm rot="10800000">
            <a:off x="3130080" y="16417"/>
            <a:ext cx="49800" cy="22680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g3494324d29f_0_272"/>
          <p:cNvSpPr txBox="1"/>
          <p:nvPr/>
        </p:nvSpPr>
        <p:spPr>
          <a:xfrm>
            <a:off x="3611441" y="1189042"/>
            <a:ext cx="71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494324d29f_0_272"/>
          <p:cNvSpPr txBox="1"/>
          <p:nvPr/>
        </p:nvSpPr>
        <p:spPr>
          <a:xfrm>
            <a:off x="3611441" y="962025"/>
            <a:ext cx="286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ATIVIDADE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494324d29f_0_27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9" name="Google Shape;369;g3494324d29f_0_272"/>
          <p:cNvGrpSpPr/>
          <p:nvPr/>
        </p:nvGrpSpPr>
        <p:grpSpPr>
          <a:xfrm>
            <a:off x="2503914" y="2355893"/>
            <a:ext cx="921228" cy="921228"/>
            <a:chOff x="0" y="0"/>
            <a:chExt cx="812800" cy="812800"/>
          </a:xfrm>
        </p:grpSpPr>
        <p:sp>
          <p:nvSpPr>
            <p:cNvPr id="370" name="Google Shape;370;g3494324d29f_0_27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g3494324d29f_0_27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2" name="Google Shape;372;g3494324d29f_0_272"/>
          <p:cNvSpPr txBox="1"/>
          <p:nvPr/>
        </p:nvSpPr>
        <p:spPr>
          <a:xfrm>
            <a:off x="3611472" y="2570775"/>
            <a:ext cx="140037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Sistema de RH</a:t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" name="Google Shape;373;g3494324d29f_0_272"/>
          <p:cNvSpPr txBox="1"/>
          <p:nvPr/>
        </p:nvSpPr>
        <p:spPr>
          <a:xfrm>
            <a:off x="2907197" y="2570767"/>
            <a:ext cx="1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494324d29f_0_272"/>
          <p:cNvSpPr txBox="1"/>
          <p:nvPr/>
        </p:nvSpPr>
        <p:spPr>
          <a:xfrm>
            <a:off x="3611450" y="1393075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g3494324d29f_0_272"/>
          <p:cNvSpPr txBox="1"/>
          <p:nvPr/>
        </p:nvSpPr>
        <p:spPr>
          <a:xfrm>
            <a:off x="3611475" y="3651100"/>
            <a:ext cx="14476200" cy="4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Atores: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Funcionário (generalização de Gerente e Estagiário)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Casos de uso: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Solicitar férias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Aprovar férias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Registrar ponto (estendido: Justificar atraso)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olicitar treinamento (inclui: Verificar orçamento)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Gerar relatório (inclui: Exportar para PDF)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Avaliar desempenho (apenas para Gerente)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3" name="Google Shape;383;g3494324d29f_0_18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84" name="Google Shape;384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7" name="Google Shape;387;g3494324d29f_0_182"/>
          <p:cNvSpPr txBox="1"/>
          <p:nvPr/>
        </p:nvSpPr>
        <p:spPr>
          <a:xfrm>
            <a:off x="1685075" y="3542151"/>
            <a:ext cx="14443800" cy="13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Atores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Quem interage com o sistema (ex.: Usuário, Admin, CaixaEletronico).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Casos de Uso =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Funcionalidades do sistema (ex.: "Cadastrar Cliente", "Emitir Relatório").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Associação (seta contínua)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Ligação direta entre ator e caso de uso (quem faz o quê).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Dependência (seta tracejada)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Relação entre casos de uso: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&lt;&lt;include&gt;&gt;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Obrigatório (ex.: "Pagar" inclui "Autenticar").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&lt;&lt;extend&gt;&gt;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Opcional (ex.: "Cancelar Compra" estende "Finalizar Compra").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Generalização (seta contínua oca) =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Herança (ex.: Ator "Gerente" é um "Funcionário").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Lado dos Atores =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Sempre conectados por associação (linha contínua, sem seta ou com seta se houver direção clara).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8" name="Google Shape;388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494324d29f_0_182"/>
          <p:cNvSpPr txBox="1"/>
          <p:nvPr/>
        </p:nvSpPr>
        <p:spPr>
          <a:xfrm>
            <a:off x="2043305" y="962025"/>
            <a:ext cx="544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7" name="Google Shape;397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398" name="Google Shape;398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1" name="Google Shape;401;g3494324d29f_0_343"/>
          <p:cNvSpPr txBox="1"/>
          <p:nvPr/>
        </p:nvSpPr>
        <p:spPr>
          <a:xfrm>
            <a:off x="1685075" y="3542151"/>
            <a:ext cx="14443800" cy="10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GUEDES, Gilleanes T. A.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UML: Guia Prático. 2. ed. São Paulo: Novatec, 2012. Aborda conceitos básicos a avançados de UML, incluindo diagramas de caso de uso.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18288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OMG (Object Management Group)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. UML Specification. Disponível em: https://www.omg.org/spec/UML/. Acesso em: 02/03/2025.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Lucidchart.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Guia de Diagramas de Caso de Uso. Disponível em: https://www.lucidchart.com/pages/pt/diagrama-de-caso-de-uso-uml. Acesso em: 02/04/2025.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IBM Developer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. Modelagem de Casos de Uso. Disponível em: https://developer.ibm.com/. Acesso em: 01/02/2025.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2" name="Google Shape;402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494324d29f_0_343"/>
          <p:cNvSpPr txBox="1"/>
          <p:nvPr/>
        </p:nvSpPr>
        <p:spPr>
          <a:xfrm>
            <a:off x="2043305" y="962025"/>
            <a:ext cx="544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DIAGRAMA DE CASO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9" name="Google Shape;409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1" name="Google Shape;411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412" name="Google Shape;412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3" name="Google Shape;413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4" name="Google Shape;414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415" name="Google Shape;415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418" name="Google Shape;418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0" name="Google Shape;420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421" name="Google Shape;421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23" name="Google Shape;423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" name="Google Shape;424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425" name="Google Shape;42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