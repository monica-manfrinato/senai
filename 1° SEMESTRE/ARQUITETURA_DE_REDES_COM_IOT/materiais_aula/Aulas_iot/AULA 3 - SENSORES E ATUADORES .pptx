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10287000" cx="18288000"/>
  <p:notesSz cx="6858000" cy="9144000"/>
  <p:embeddedFontLst>
    <p:embeddedFont>
      <p:font typeface="Poppi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iszek8jkzXP+BTOd2TFHQg/F4B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bold.fntdata"/><Relationship Id="rId25" Type="http://schemas.openxmlformats.org/officeDocument/2006/relationships/font" Target="fonts/Poppins-regular.fntdata"/><Relationship Id="rId28" Type="http://schemas.openxmlformats.org/officeDocument/2006/relationships/font" Target="fonts/Poppins-boldItalic.fntdata"/><Relationship Id="rId27" Type="http://schemas.openxmlformats.org/officeDocument/2006/relationships/font" Target="fonts/Poppi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6b6bb2bf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g356b6bb2bfc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6fcbf3874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g356fcbf3874_0_1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56fcbf3874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🔻 Cátodo Comum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Todos os cátodos (terminais negativos) dos LEDs estão conectados juntos ao GND (terra).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Para acender uma cor, você deve enviar um sinal HIGH (1) no pino correspondente.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Ligado com nível alto.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👉 É o tipo mais usado com Raspberry Pi Pico.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🔺 Ânodo Comum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Todos os ânodos (terminais positivos) dos LEDs estão conectados juntos ao VCC (3.3V).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Para acender uma cor, você deve enviar um sinal LOW (0) no pino correspondente.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Ligado com nível baixo.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👉 Usado quando se quer controle inverso ou em projetos específicos.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🧠 Resumo rápido: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Tipo	Terminal comum	Para acender o LED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Cátodo Comum	GND	Enviar 1 (HIGH)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Ânodo Comum	VCC	Enviar 0 (LOW)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g356fcbf3874_0_2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56fcbf3874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g356fcbf3874_0_2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56fcbf3874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g356fcbf3874_0_2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56fcbf3874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356fcbf3874_0_2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6fcbf3874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g356fcbf3874_0_2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56fcbf3874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g356fcbf3874_0_3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56fcbf3874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g356fcbf3874_0_3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56fcbf3874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g356fcbf3874_0_3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56fcbf387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" name="Google Shape;244;g356fcbf3874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56fcbf3874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2" name="Google Shape;262;g356fcbf3874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56fcbf3874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1" name="Google Shape;281;g356fcbf3874_0_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56fcbf3874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9" name="Google Shape;299;g356fcbf3874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56fcbf3874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7" name="Google Shape;317;g356fcbf3874_0_1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494324d29f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5" name="Google Shape;335;g3494324d29f_0_1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494324d29f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9" name="Google Shape;349;g3494324d29f_0_3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3" name="Google Shape;363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9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6.png"/><Relationship Id="rId7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Relationship Id="rId4" Type="http://schemas.openxmlformats.org/officeDocument/2006/relationships/image" Target="../media/image3.png"/><Relationship Id="rId5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4374310" y="3794700"/>
            <a:ext cx="9691800" cy="3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SENSORES </a:t>
            </a:r>
            <a:endParaRPr b="1" sz="7624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endParaRPr b="1" sz="7624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ATUADORES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422396" y="962025"/>
            <a:ext cx="333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Professores:</a:t>
            </a:r>
            <a:endParaRPr b="1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5977797" y="1499350"/>
            <a:ext cx="63324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Celso Giusti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Daniel Manoel Filho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Marlon Palata Fanger Rodrigues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56b6bb2bfc_0_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56b6bb2bfc_0_1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g356b6bb2bfc_0_12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6" name="Google Shape;96;g356b6bb2bfc_0_12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97" name="Google Shape;97;g356b6bb2bfc_0_1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g356b6bb2bfc_0_1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g356b6bb2bfc_0_12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Atuadores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" name="Google Shape;100;g356b6bb2bfc_0_12"/>
          <p:cNvSpPr txBox="1"/>
          <p:nvPr/>
        </p:nvSpPr>
        <p:spPr>
          <a:xfrm>
            <a:off x="1685075" y="3542153"/>
            <a:ext cx="14443800" cy="61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O que são?</a:t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São dispositivos que executam uma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ação física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em resposta a um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comando eletrônico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Para que servem?</a:t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ão utilizados para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transformar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um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sinal elétrico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em movimento ou outra forma de energia.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Exemplos: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LEDs, motores, displays, entre o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utros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" name="Google Shape;101;g356b6bb2bfc_0_1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56b6bb2bfc_0_12"/>
          <p:cNvSpPr txBox="1"/>
          <p:nvPr/>
        </p:nvSpPr>
        <p:spPr>
          <a:xfrm>
            <a:off x="2043306" y="962025"/>
            <a:ext cx="57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SENSORES E ATUADORES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6fcbf3874_0_19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56fcbf3874_0_19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g356fcbf3874_0_194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0" name="Google Shape;110;g356fcbf3874_0_194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11" name="Google Shape;111;g356fcbf3874_0_19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g356fcbf3874_0_19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g356fcbf3874_0_194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Atuadores: LED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4" name="Google Shape;114;g356fcbf3874_0_194"/>
          <p:cNvSpPr txBox="1"/>
          <p:nvPr/>
        </p:nvSpPr>
        <p:spPr>
          <a:xfrm>
            <a:off x="1685075" y="3542153"/>
            <a:ext cx="14443800" cy="21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LED (Light Emitting Diode)</a:t>
            </a:r>
            <a:r>
              <a:rPr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é um dispositivo que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emite luz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quando uma corrente elétrica passa por ele. Ele é usado para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indicar estados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(ligado/desligado) ou até mesmo para fornecer feedback visual.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g356fcbf3874_0_19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56fcbf3874_0_194"/>
          <p:cNvSpPr txBox="1"/>
          <p:nvPr/>
        </p:nvSpPr>
        <p:spPr>
          <a:xfrm>
            <a:off x="2043306" y="962025"/>
            <a:ext cx="57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SENSORES E ATUADORES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7" name="Google Shape;117;g356fcbf3874_0_194" title="projeto-sem_foro-led.jpg"/>
          <p:cNvPicPr preferRelativeResize="0"/>
          <p:nvPr/>
        </p:nvPicPr>
        <p:blipFill rotWithShape="1">
          <a:blip r:embed="rId6">
            <a:alphaModFix/>
          </a:blip>
          <a:srcRect b="0" l="56606" r="0" t="0"/>
          <a:stretch/>
        </p:blipFill>
        <p:spPr>
          <a:xfrm>
            <a:off x="10563300" y="4825900"/>
            <a:ext cx="3439100" cy="51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g356fcbf3874_0_194" title="projeto-sem_foro-led.jpg"/>
          <p:cNvPicPr preferRelativeResize="0"/>
          <p:nvPr/>
        </p:nvPicPr>
        <p:blipFill rotWithShape="1">
          <a:blip r:embed="rId6">
            <a:alphaModFix/>
          </a:blip>
          <a:srcRect b="54485" l="0" r="46816" t="0"/>
          <a:stretch/>
        </p:blipFill>
        <p:spPr>
          <a:xfrm>
            <a:off x="4572000" y="6116200"/>
            <a:ext cx="4214776" cy="234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6fcbf3874_0_24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56fcbf3874_0_248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g356fcbf3874_0_248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6" name="Google Shape;126;g356fcbf3874_0_248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27" name="Google Shape;127;g356fcbf3874_0_248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g356fcbf3874_0_248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9" name="Google Shape;129;g356fcbf3874_0_248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Atuadores: LED RGB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" name="Google Shape;130;g356fcbf3874_0_248"/>
          <p:cNvSpPr txBox="1"/>
          <p:nvPr/>
        </p:nvSpPr>
        <p:spPr>
          <a:xfrm>
            <a:off x="1685075" y="3542150"/>
            <a:ext cx="15307500" cy="21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LED RGB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é um LED que pode emitir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diferentes cores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combinando luz vermelha, verde e azul (RGB). Ele é usado para exibir uma variedade de cores ao controlar 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intensidade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 cada cor primária.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1" name="Google Shape;131;g356fcbf3874_0_248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56fcbf3874_0_248"/>
          <p:cNvSpPr txBox="1"/>
          <p:nvPr/>
        </p:nvSpPr>
        <p:spPr>
          <a:xfrm>
            <a:off x="2043306" y="962025"/>
            <a:ext cx="57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SENSORES E ATUADORES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3" name="Google Shape;133;g356fcbf3874_0_248" title="led-rgb-arduino-pg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94400" y="5462624"/>
            <a:ext cx="9699200" cy="382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6fcbf3874_0_26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56fcbf3874_0_268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g356fcbf3874_0_268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1" name="Google Shape;141;g356fcbf3874_0_268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42" name="Google Shape;142;g356fcbf3874_0_268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g356fcbf3874_0_268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4" name="Google Shape;144;g356fcbf3874_0_268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Sensores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5" name="Google Shape;145;g356fcbf3874_0_268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56fcbf3874_0_268"/>
          <p:cNvSpPr txBox="1"/>
          <p:nvPr/>
        </p:nvSpPr>
        <p:spPr>
          <a:xfrm>
            <a:off x="2043306" y="962025"/>
            <a:ext cx="57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SENSORES E ATUADORES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7" name="Google Shape;147;g356fcbf3874_0_268"/>
          <p:cNvSpPr txBox="1"/>
          <p:nvPr/>
        </p:nvSpPr>
        <p:spPr>
          <a:xfrm>
            <a:off x="1685075" y="3542153"/>
            <a:ext cx="14443800" cy="56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O que são?</a:t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São dispositivos que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captam informações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do ambiente físico e as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transformam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 sinais elétricos que podem ser lidos por um microcontrolador.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Para que servem?</a:t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Permitem que o sistema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detecte 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interprete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variáveis do ambiente, como luz, temperatura, umidade, movimento, toque e muito mais.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Exemplos: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Potenciômetro, sensor de temperatura, LDR, sensor ultrassônico, botão, entre outros.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56fcbf3874_0_2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56fcbf3874_0_21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g356fcbf3874_0_21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5" name="Google Shape;155;g356fcbf3874_0_210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56" name="Google Shape;156;g356fcbf3874_0_21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g356fcbf3874_0_21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8" name="Google Shape;158;g356fcbf3874_0_210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Sensores</a:t>
            </a: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Pushbutton (Botão)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9" name="Google Shape;159;g356fcbf3874_0_210"/>
          <p:cNvSpPr txBox="1"/>
          <p:nvPr/>
        </p:nvSpPr>
        <p:spPr>
          <a:xfrm>
            <a:off x="1685075" y="3542153"/>
            <a:ext cx="14443800" cy="21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Pushbutton (Ou botão)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é um tipo de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interruptor momentâneo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que fecha o circuito quando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pressionado e o abre quando solto. Ele é usado para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ativar ou desativar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algo no sistema.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" name="Google Shape;160;g356fcbf3874_0_21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56fcbf3874_0_210"/>
          <p:cNvSpPr txBox="1"/>
          <p:nvPr/>
        </p:nvSpPr>
        <p:spPr>
          <a:xfrm>
            <a:off x="2043306" y="962025"/>
            <a:ext cx="57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SENSORES E ATUADORES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2" name="Google Shape;162;g356fcbf3874_0_2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01725" y="5339900"/>
            <a:ext cx="4813150" cy="3434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356fcbf3874_0_210"/>
          <p:cNvSpPr txBox="1"/>
          <p:nvPr/>
        </p:nvSpPr>
        <p:spPr>
          <a:xfrm>
            <a:off x="7773300" y="5481000"/>
            <a:ext cx="8912100" cy="3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Pull-Up: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Resistor mantém o pino em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nível alto (3.3V)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quando o botão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não está pressionado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Ao pressionar, o pino é conectado ao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GND.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Pull-Down: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Resistor mantém o pino em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nível baixo (0V)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quando o botão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não está pressionado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Ao pressionar, o pino é conectado ao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3.3V.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56fcbf3874_0_23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56fcbf3874_0_23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g356fcbf3874_0_231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1" name="Google Shape;171;g356fcbf3874_0_231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72" name="Google Shape;172;g356fcbf3874_0_231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g356fcbf3874_0_231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4" name="Google Shape;174;g356fcbf3874_0_231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Sensores</a:t>
            </a: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Potenciômetro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5" name="Google Shape;175;g356fcbf3874_0_231"/>
          <p:cNvSpPr txBox="1"/>
          <p:nvPr/>
        </p:nvSpPr>
        <p:spPr>
          <a:xfrm>
            <a:off x="1685075" y="3542150"/>
            <a:ext cx="15000300" cy="30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Potenciômetro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é um tipo de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resistor variável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que permite ajustar a resistência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anualmente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Ele altera a tensão de saída conforme o eixo é girado, sendo muito usado para controlar valores analógicos como brilho, volume ou velocidade.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6" name="Google Shape;176;g356fcbf3874_0_231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56fcbf3874_0_231"/>
          <p:cNvSpPr txBox="1"/>
          <p:nvPr/>
        </p:nvSpPr>
        <p:spPr>
          <a:xfrm>
            <a:off x="2043306" y="962025"/>
            <a:ext cx="57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SENSORES E ATUADORES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8" name="Google Shape;178;g356fcbf3874_0_2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46525" y="5343675"/>
            <a:ext cx="3986400" cy="398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g356fcbf3874_0_231"/>
          <p:cNvPicPr preferRelativeResize="0"/>
          <p:nvPr/>
        </p:nvPicPr>
        <p:blipFill rotWithShape="1">
          <a:blip r:embed="rId7">
            <a:alphaModFix/>
          </a:blip>
          <a:srcRect b="19825" l="16602" r="26166" t="17830"/>
          <a:stretch/>
        </p:blipFill>
        <p:spPr>
          <a:xfrm>
            <a:off x="10510400" y="5343675"/>
            <a:ext cx="3659730" cy="398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56fcbf3874_0_29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56fcbf3874_0_298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6" name="Google Shape;186;g356fcbf3874_0_298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7" name="Google Shape;187;g356fcbf3874_0_298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88" name="Google Shape;188;g356fcbf3874_0_298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g356fcbf3874_0_298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0" name="Google Shape;190;g356fcbf3874_0_298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Outros componentes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1" name="Google Shape;191;g356fcbf3874_0_298"/>
          <p:cNvSpPr txBox="1"/>
          <p:nvPr/>
        </p:nvSpPr>
        <p:spPr>
          <a:xfrm>
            <a:off x="1685075" y="3542153"/>
            <a:ext cx="14443800" cy="3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Para o desenvolvimento de um projeto com Microcontroladores, além da placa, sensores e atuadores, precisamos de componentes que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dão suporte a prototipação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desses projetos.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Os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principais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são: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Protoboard (ou BreadBoard)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Resistores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Jumpers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2" name="Google Shape;192;g356fcbf3874_0_298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56fcbf3874_0_298"/>
          <p:cNvSpPr txBox="1"/>
          <p:nvPr/>
        </p:nvSpPr>
        <p:spPr>
          <a:xfrm>
            <a:off x="2043306" y="962025"/>
            <a:ext cx="57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SENSORES E ATUADORES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56fcbf3874_0_32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56fcbf3874_0_32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" name="Google Shape;200;g356fcbf3874_0_324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1" name="Google Shape;201;g356fcbf3874_0_324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02" name="Google Shape;202;g356fcbf3874_0_32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g356fcbf3874_0_32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4" name="Google Shape;204;g356fcbf3874_0_324"/>
          <p:cNvSpPr txBox="1"/>
          <p:nvPr/>
        </p:nvSpPr>
        <p:spPr>
          <a:xfrm>
            <a:off x="2043300" y="1112850"/>
            <a:ext cx="123699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Outros componentes: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Protoboard / Breadboard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5" name="Google Shape;205;g356fcbf3874_0_324"/>
          <p:cNvSpPr txBox="1"/>
          <p:nvPr/>
        </p:nvSpPr>
        <p:spPr>
          <a:xfrm>
            <a:off x="1685075" y="3542150"/>
            <a:ext cx="15405300" cy="21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Protoboard / Breadboard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é uma placa usada para montar circuitos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sem precisar soldar.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Possui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furos conectados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internamente por linhas metálicas, permitindo encaixar componentes e fios para criar conexões. Muito útil para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testar e prototipar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projetos eletrônicos de forma rápida e segura.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6" name="Google Shape;206;g356fcbf3874_0_32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56fcbf3874_0_324"/>
          <p:cNvSpPr txBox="1"/>
          <p:nvPr/>
        </p:nvSpPr>
        <p:spPr>
          <a:xfrm>
            <a:off x="2043306" y="962025"/>
            <a:ext cx="57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SENSORES E ATUADORES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8" name="Google Shape;208;g356fcbf3874_0_324"/>
          <p:cNvPicPr preferRelativeResize="0"/>
          <p:nvPr/>
        </p:nvPicPr>
        <p:blipFill rotWithShape="1">
          <a:blip r:embed="rId6">
            <a:alphaModFix/>
          </a:blip>
          <a:srcRect b="11066" l="6881" r="7633" t="9663"/>
          <a:stretch/>
        </p:blipFill>
        <p:spPr>
          <a:xfrm>
            <a:off x="4572000" y="4951564"/>
            <a:ext cx="9070274" cy="5085236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356fcbf3874_0_324"/>
          <p:cNvSpPr/>
          <p:nvPr/>
        </p:nvSpPr>
        <p:spPr>
          <a:xfrm>
            <a:off x="12119050" y="9362875"/>
            <a:ext cx="1661700" cy="7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56fcbf3874_0_33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56fcbf3874_0_339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" name="Google Shape;216;g356fcbf3874_0_339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17" name="Google Shape;217;g356fcbf3874_0_339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18" name="Google Shape;218;g356fcbf3874_0_339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g356fcbf3874_0_339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0" name="Google Shape;220;g356fcbf3874_0_339"/>
          <p:cNvSpPr txBox="1"/>
          <p:nvPr/>
        </p:nvSpPr>
        <p:spPr>
          <a:xfrm>
            <a:off x="2043300" y="1112850"/>
            <a:ext cx="123699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Outros componentes: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Resistores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1" name="Google Shape;221;g356fcbf3874_0_339"/>
          <p:cNvSpPr txBox="1"/>
          <p:nvPr/>
        </p:nvSpPr>
        <p:spPr>
          <a:xfrm>
            <a:off x="1685075" y="3542150"/>
            <a:ext cx="15405300" cy="21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Resistores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são componentes que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limitam a passagem de corrente elétrica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em um circuito. Servem para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proteger componentes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ajustar sinais e controlar tensão e corrente. Sua resistência é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medida em ohms (Ω)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 cada valor é indicado por faixas coloridas no corpo do resistor.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2" name="Google Shape;222;g356fcbf3874_0_33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56fcbf3874_0_339"/>
          <p:cNvSpPr txBox="1"/>
          <p:nvPr/>
        </p:nvSpPr>
        <p:spPr>
          <a:xfrm>
            <a:off x="2043306" y="962025"/>
            <a:ext cx="57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SENSORES E ATUADORES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4" name="Google Shape;224;g356fcbf3874_0_339"/>
          <p:cNvSpPr/>
          <p:nvPr/>
        </p:nvSpPr>
        <p:spPr>
          <a:xfrm>
            <a:off x="12119050" y="9362875"/>
            <a:ext cx="1661700" cy="7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g356fcbf3874_0_3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43675" y="5013306"/>
            <a:ext cx="7439376" cy="511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56fcbf3874_0_35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56fcbf3874_0_35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" name="Google Shape;232;g356fcbf3874_0_356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33" name="Google Shape;233;g356fcbf3874_0_356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34" name="Google Shape;234;g356fcbf3874_0_35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g356fcbf3874_0_356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6" name="Google Shape;236;g356fcbf3874_0_356"/>
          <p:cNvSpPr txBox="1"/>
          <p:nvPr/>
        </p:nvSpPr>
        <p:spPr>
          <a:xfrm>
            <a:off x="2043300" y="1112850"/>
            <a:ext cx="123699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Outros componentes: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Jumpers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7" name="Google Shape;237;g356fcbf3874_0_356"/>
          <p:cNvSpPr txBox="1"/>
          <p:nvPr/>
        </p:nvSpPr>
        <p:spPr>
          <a:xfrm>
            <a:off x="1685075" y="3542150"/>
            <a:ext cx="15405300" cy="21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Jumpers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ão fios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flexíveis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 com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ponta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metálica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usados para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fazer as conexões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entre os componentes na protoboard. Basicamente, funcionam como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pontes de ligação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entre os pinos da protoboard, componentes e microcontroladores.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8" name="Google Shape;238;g356fcbf3874_0_35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56fcbf3874_0_356"/>
          <p:cNvSpPr txBox="1"/>
          <p:nvPr/>
        </p:nvSpPr>
        <p:spPr>
          <a:xfrm>
            <a:off x="2043306" y="962025"/>
            <a:ext cx="57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SENSORES E ATUADORES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0" name="Google Shape;240;g356fcbf3874_0_356"/>
          <p:cNvSpPr/>
          <p:nvPr/>
        </p:nvSpPr>
        <p:spPr>
          <a:xfrm>
            <a:off x="12119050" y="9362875"/>
            <a:ext cx="1661700" cy="7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g356fcbf3874_0_3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71325" y="4965175"/>
            <a:ext cx="5166300" cy="516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56fcbf3874_0_32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56fcbf3874_0_32"/>
          <p:cNvSpPr/>
          <p:nvPr/>
        </p:nvSpPr>
        <p:spPr>
          <a:xfrm rot="5374217">
            <a:off x="-3628510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" name="Google Shape;248;g356fcbf3874_0_32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g356fcbf3874_0_32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56fcbf3874_0_32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356fcbf3874_0_3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2" name="Google Shape;252;g356fcbf3874_0_32"/>
          <p:cNvGrpSpPr/>
          <p:nvPr/>
        </p:nvGrpSpPr>
        <p:grpSpPr>
          <a:xfrm>
            <a:off x="2503914" y="2355893"/>
            <a:ext cx="921228" cy="921228"/>
            <a:chOff x="0" y="0"/>
            <a:chExt cx="812800" cy="812800"/>
          </a:xfrm>
        </p:grpSpPr>
        <p:sp>
          <p:nvSpPr>
            <p:cNvPr id="253" name="Google Shape;253;g356fcbf3874_0_3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g356fcbf3874_0_32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5" name="Google Shape;255;g356fcbf3874_0_32"/>
          <p:cNvSpPr txBox="1"/>
          <p:nvPr/>
        </p:nvSpPr>
        <p:spPr>
          <a:xfrm>
            <a:off x="3611472" y="2570775"/>
            <a:ext cx="140037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Exercício 1 – Piscar LED com intervalo fixo</a:t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6" name="Google Shape;256;g356fcbf3874_0_32"/>
          <p:cNvSpPr txBox="1"/>
          <p:nvPr/>
        </p:nvSpPr>
        <p:spPr>
          <a:xfrm>
            <a:off x="2907197" y="25707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356fcbf3874_0_32"/>
          <p:cNvSpPr txBox="1"/>
          <p:nvPr/>
        </p:nvSpPr>
        <p:spPr>
          <a:xfrm>
            <a:off x="3611450" y="2996700"/>
            <a:ext cx="14409000" cy="8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Objetivo: </a:t>
            </a:r>
            <a:r>
              <a:rPr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Utilizar Pin e utime para piscar um LED</a:t>
            </a:r>
            <a:endParaRPr sz="2400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8" name="Google Shape;258;g356fcbf3874_0_32"/>
          <p:cNvSpPr txBox="1"/>
          <p:nvPr/>
        </p:nvSpPr>
        <p:spPr>
          <a:xfrm>
            <a:off x="3611450" y="1393075"/>
            <a:ext cx="123699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Sensores e Atuadores</a:t>
            </a:r>
            <a:endParaRPr b="1" sz="41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t/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9" name="Google Shape;259;g356fcbf3874_0_32"/>
          <p:cNvSpPr txBox="1"/>
          <p:nvPr/>
        </p:nvSpPr>
        <p:spPr>
          <a:xfrm>
            <a:off x="3611475" y="3651100"/>
            <a:ext cx="14476200" cy="6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Materiais: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LED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resistor 220Ω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Protoboard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Fios jumper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Conceitos: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Pin.OUT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utime.sleep() ou sleep()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Solicitação: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Monte um circuito com um LED na porta GPIO 15. Programe o LED para acender por 1 segundo e apagar por 1 segundo, repetidamente.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56fcbf3874_0_49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356fcbf3874_0_49"/>
          <p:cNvSpPr/>
          <p:nvPr/>
        </p:nvSpPr>
        <p:spPr>
          <a:xfrm rot="5374217">
            <a:off x="-3628510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6" name="Google Shape;266;g356fcbf3874_0_49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7" name="Google Shape;267;g356fcbf3874_0_49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56fcbf3874_0_49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56fcbf3874_0_4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0" name="Google Shape;270;g356fcbf3874_0_49"/>
          <p:cNvGrpSpPr/>
          <p:nvPr/>
        </p:nvGrpSpPr>
        <p:grpSpPr>
          <a:xfrm>
            <a:off x="2503914" y="2355893"/>
            <a:ext cx="921228" cy="921228"/>
            <a:chOff x="0" y="0"/>
            <a:chExt cx="812800" cy="812800"/>
          </a:xfrm>
        </p:grpSpPr>
        <p:sp>
          <p:nvSpPr>
            <p:cNvPr id="271" name="Google Shape;271;g356fcbf3874_0_4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g356fcbf3874_0_49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3" name="Google Shape;273;g356fcbf3874_0_49"/>
          <p:cNvSpPr txBox="1"/>
          <p:nvPr/>
        </p:nvSpPr>
        <p:spPr>
          <a:xfrm>
            <a:off x="3611472" y="2570775"/>
            <a:ext cx="14003700" cy="14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Exercício 2 – Controle de brilho com potenciômetro</a:t>
            </a:r>
            <a:endParaRPr b="1"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4" name="Google Shape;274;g356fcbf3874_0_49"/>
          <p:cNvSpPr txBox="1"/>
          <p:nvPr/>
        </p:nvSpPr>
        <p:spPr>
          <a:xfrm>
            <a:off x="2907197" y="25707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56fcbf3874_0_49"/>
          <p:cNvSpPr txBox="1"/>
          <p:nvPr/>
        </p:nvSpPr>
        <p:spPr>
          <a:xfrm>
            <a:off x="3611450" y="2996700"/>
            <a:ext cx="14409000" cy="8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Objetivo: </a:t>
            </a:r>
            <a:r>
              <a:rPr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Utilizar ADC, PWM, duty_u16 e mapeamento de valor</a:t>
            </a:r>
            <a:endParaRPr sz="2400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6" name="Google Shape;276;g356fcbf3874_0_49"/>
          <p:cNvSpPr txBox="1"/>
          <p:nvPr/>
        </p:nvSpPr>
        <p:spPr>
          <a:xfrm>
            <a:off x="3611450" y="1393075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Sensores e Atuadores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7" name="Google Shape;277;g356fcbf3874_0_49"/>
          <p:cNvSpPr txBox="1"/>
          <p:nvPr/>
        </p:nvSpPr>
        <p:spPr>
          <a:xfrm>
            <a:off x="3611475" y="3422500"/>
            <a:ext cx="14476200" cy="72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Materiais: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LED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resistor 220Ω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potenciômetro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Protoboard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Conceitos: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ADC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PWM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conversão de 0–65535 para 0–100%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Solicitação: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Monte o circuito com: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■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LED ligado na porta GPIO 15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■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Potenciômetro com pino central no GPIO 26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8" name="Google Shape;278;g356fcbf3874_0_49"/>
          <p:cNvSpPr txBox="1"/>
          <p:nvPr/>
        </p:nvSpPr>
        <p:spPr>
          <a:xfrm>
            <a:off x="12151350" y="8617800"/>
            <a:ext cx="53829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Faça o LED variar o brilho conforme o valor lido no potenciômetro.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56fcbf3874_0_67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56fcbf3874_0_67"/>
          <p:cNvSpPr/>
          <p:nvPr/>
        </p:nvSpPr>
        <p:spPr>
          <a:xfrm rot="5374217">
            <a:off x="-3628510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5" name="Google Shape;285;g356fcbf3874_0_67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6" name="Google Shape;286;g356fcbf3874_0_67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356fcbf3874_0_67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56fcbf3874_0_67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9" name="Google Shape;289;g356fcbf3874_0_67"/>
          <p:cNvGrpSpPr/>
          <p:nvPr/>
        </p:nvGrpSpPr>
        <p:grpSpPr>
          <a:xfrm>
            <a:off x="2503914" y="2355893"/>
            <a:ext cx="921228" cy="921228"/>
            <a:chOff x="0" y="0"/>
            <a:chExt cx="812800" cy="812800"/>
          </a:xfrm>
        </p:grpSpPr>
        <p:sp>
          <p:nvSpPr>
            <p:cNvPr id="290" name="Google Shape;290;g356fcbf3874_0_6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g356fcbf3874_0_67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2" name="Google Shape;292;g356fcbf3874_0_67"/>
          <p:cNvSpPr txBox="1"/>
          <p:nvPr/>
        </p:nvSpPr>
        <p:spPr>
          <a:xfrm>
            <a:off x="3611475" y="2570775"/>
            <a:ext cx="147663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Exercício 3 – Mudar estado dos LEDs dependendo do intervalo do potenciômetro</a:t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3" name="Google Shape;293;g356fcbf3874_0_67"/>
          <p:cNvSpPr txBox="1"/>
          <p:nvPr/>
        </p:nvSpPr>
        <p:spPr>
          <a:xfrm>
            <a:off x="2907197" y="25707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g356fcbf3874_0_67"/>
          <p:cNvSpPr txBox="1"/>
          <p:nvPr/>
        </p:nvSpPr>
        <p:spPr>
          <a:xfrm>
            <a:off x="3611450" y="2996700"/>
            <a:ext cx="14409000" cy="8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Objetivo: </a:t>
            </a:r>
            <a:r>
              <a:rPr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Utilizar Pin e ADC para mudar estado dos leds</a:t>
            </a:r>
            <a:endParaRPr sz="2400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5" name="Google Shape;295;g356fcbf3874_0_67"/>
          <p:cNvSpPr txBox="1"/>
          <p:nvPr/>
        </p:nvSpPr>
        <p:spPr>
          <a:xfrm>
            <a:off x="3611450" y="1393075"/>
            <a:ext cx="123699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Sensores e Atuadores</a:t>
            </a:r>
            <a:endParaRPr b="1" sz="41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t/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6" name="Google Shape;296;g356fcbf3874_0_67"/>
          <p:cNvSpPr txBox="1"/>
          <p:nvPr/>
        </p:nvSpPr>
        <p:spPr>
          <a:xfrm>
            <a:off x="3611475" y="3498700"/>
            <a:ext cx="14476200" cy="6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Materiais: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 LED (cores diferentes)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 resistor 220Ω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Potenciômetro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Protoboard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Fios jumper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Conceitos: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Pin.OUT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ADC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conversão de 0–65535 para 0–100%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Solicitação: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Monte um circuito para que de 0% a 30% acenda o LED 1, do 31% ao 60% o LED 2 e do 61% ao 100%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LED 3 (os outros LEDs devem apagar assim que o outro acender). </a:t>
            </a:r>
            <a:endParaRPr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56fcbf3874_0_84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56fcbf3874_0_84"/>
          <p:cNvSpPr/>
          <p:nvPr/>
        </p:nvSpPr>
        <p:spPr>
          <a:xfrm rot="5374217">
            <a:off x="-3628510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3" name="Google Shape;303;g356fcbf3874_0_84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4" name="Google Shape;304;g356fcbf3874_0_84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56fcbf3874_0_84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g356fcbf3874_0_8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7" name="Google Shape;307;g356fcbf3874_0_84"/>
          <p:cNvGrpSpPr/>
          <p:nvPr/>
        </p:nvGrpSpPr>
        <p:grpSpPr>
          <a:xfrm>
            <a:off x="2503914" y="2355893"/>
            <a:ext cx="921228" cy="921228"/>
            <a:chOff x="0" y="0"/>
            <a:chExt cx="812800" cy="812800"/>
          </a:xfrm>
        </p:grpSpPr>
        <p:sp>
          <p:nvSpPr>
            <p:cNvPr id="308" name="Google Shape;308;g356fcbf3874_0_8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g356fcbf3874_0_84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0" name="Google Shape;310;g356fcbf3874_0_84"/>
          <p:cNvSpPr txBox="1"/>
          <p:nvPr/>
        </p:nvSpPr>
        <p:spPr>
          <a:xfrm>
            <a:off x="3611472" y="2570775"/>
            <a:ext cx="140037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Exercício 4 – Mudar estado dos LEDs dependendo do estado do botão</a:t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1" name="Google Shape;311;g356fcbf3874_0_84"/>
          <p:cNvSpPr txBox="1"/>
          <p:nvPr/>
        </p:nvSpPr>
        <p:spPr>
          <a:xfrm>
            <a:off x="2907197" y="25707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356fcbf3874_0_84"/>
          <p:cNvSpPr txBox="1"/>
          <p:nvPr/>
        </p:nvSpPr>
        <p:spPr>
          <a:xfrm>
            <a:off x="3611450" y="2996700"/>
            <a:ext cx="14409000" cy="8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Objetivo: </a:t>
            </a:r>
            <a:r>
              <a:rPr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Ligar um LED ao pressionar um botão com resistência pull-down.</a:t>
            </a:r>
            <a:endParaRPr sz="2400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3" name="Google Shape;313;g356fcbf3874_0_84"/>
          <p:cNvSpPr txBox="1"/>
          <p:nvPr/>
        </p:nvSpPr>
        <p:spPr>
          <a:xfrm>
            <a:off x="3611450" y="1393075"/>
            <a:ext cx="123699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Sensores e Atuadores</a:t>
            </a:r>
            <a:endParaRPr b="1" sz="41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t/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4" name="Google Shape;314;g356fcbf3874_0_84"/>
          <p:cNvSpPr txBox="1"/>
          <p:nvPr/>
        </p:nvSpPr>
        <p:spPr>
          <a:xfrm>
            <a:off x="3611475" y="3651100"/>
            <a:ext cx="14476200" cy="6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Materiais: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 LED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 resistor 220Ω, 2 resistor 10kΩ,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 push button (botão)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Protoboard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Fios jumper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Conceitos: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Pin.IN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PULL_DOWN, PULL_UP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leitura digital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Solicitação: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Monte dois botões e dois LEDs. O LED deve acender apenas quando o botão estiver pressionado. No mesmo código faça o contrário com outro botão e LED.</a:t>
            </a:r>
            <a:endParaRPr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56fcbf3874_0_101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356fcbf3874_0_101"/>
          <p:cNvSpPr/>
          <p:nvPr/>
        </p:nvSpPr>
        <p:spPr>
          <a:xfrm rot="5374217">
            <a:off x="-3628510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1" name="Google Shape;321;g356fcbf3874_0_101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2" name="Google Shape;322;g356fcbf3874_0_101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g356fcbf3874_0_101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g356fcbf3874_0_101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5" name="Google Shape;325;g356fcbf3874_0_101"/>
          <p:cNvGrpSpPr/>
          <p:nvPr/>
        </p:nvGrpSpPr>
        <p:grpSpPr>
          <a:xfrm>
            <a:off x="2503914" y="2355893"/>
            <a:ext cx="921228" cy="921228"/>
            <a:chOff x="0" y="0"/>
            <a:chExt cx="812800" cy="812800"/>
          </a:xfrm>
        </p:grpSpPr>
        <p:sp>
          <p:nvSpPr>
            <p:cNvPr id="326" name="Google Shape;326;g356fcbf3874_0_10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g356fcbf3874_0_101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8" name="Google Shape;328;g356fcbf3874_0_101"/>
          <p:cNvSpPr txBox="1"/>
          <p:nvPr/>
        </p:nvSpPr>
        <p:spPr>
          <a:xfrm>
            <a:off x="3611472" y="2570775"/>
            <a:ext cx="140037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Exercício 5 – Botão que alterna o estado do LED (toggle)</a:t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9" name="Google Shape;329;g356fcbf3874_0_101"/>
          <p:cNvSpPr txBox="1"/>
          <p:nvPr/>
        </p:nvSpPr>
        <p:spPr>
          <a:xfrm>
            <a:off x="2907197" y="25707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56fcbf3874_0_101"/>
          <p:cNvSpPr txBox="1"/>
          <p:nvPr/>
        </p:nvSpPr>
        <p:spPr>
          <a:xfrm>
            <a:off x="3611450" y="2996700"/>
            <a:ext cx="14409000" cy="8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Objetivo: </a:t>
            </a:r>
            <a:r>
              <a:rPr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Mudar o estado do LED a cada clique no botão (sem manter pressionado).</a:t>
            </a:r>
            <a:endParaRPr sz="2400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1" name="Google Shape;331;g356fcbf3874_0_101"/>
          <p:cNvSpPr txBox="1"/>
          <p:nvPr/>
        </p:nvSpPr>
        <p:spPr>
          <a:xfrm>
            <a:off x="3611450" y="1393075"/>
            <a:ext cx="123699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Sensores e Atuadores</a:t>
            </a:r>
            <a:endParaRPr b="1" sz="41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t/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2" name="Google Shape;332;g356fcbf3874_0_101"/>
          <p:cNvSpPr txBox="1"/>
          <p:nvPr/>
        </p:nvSpPr>
        <p:spPr>
          <a:xfrm>
            <a:off x="3611475" y="3574900"/>
            <a:ext cx="14476200" cy="6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Materiais: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LED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resistor 220Ω, 1 resistor 10kΩ,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push button (botão)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Protoboard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Fios jumper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Conceitos: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Pin.IN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Toggle (alterar, trocar - no caso estado)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Debounce simples (eliminação de repiques - evita que o botão dispare várias vezes com um único clique.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Solicitação: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Monte um botão e um LED. A cada clique no botão, o LED deve alternar entre ligado e desligado.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494324d29f_0_18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494324d29f_0_18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9" name="Google Shape;339;g3494324d29f_0_182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40" name="Google Shape;340;g3494324d29f_0_182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341" name="Google Shape;341;g3494324d29f_0_18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g3494324d29f_0_18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3" name="Google Shape;343;g3494324d29f_0_182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Resumo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4" name="Google Shape;344;g3494324d29f_0_182"/>
          <p:cNvSpPr txBox="1"/>
          <p:nvPr/>
        </p:nvSpPr>
        <p:spPr>
          <a:xfrm>
            <a:off x="1532675" y="3694550"/>
            <a:ext cx="15297900" cy="53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✅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 Sensores =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Dispositivos que detectam mudanças no ambiente (luz, temperatura,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ovimento, som, etc.) e transformam em sinais elétricos.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✅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 Atuadores =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Dispositivos que executam ações físicas em resposta a comandos elétricos (ex.: acender LED, girar motor, emitir som).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Protoboard =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Placa que permite montar circuitos sem solda, ideal para testes e prototipação com conexões rápidas.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Resistores =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Componentes que limitam a corrente elétrica, protegendo os demais componentes e controlando o fluxo de energia.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Jumpers =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Cabos usados para ligar os pontos do circuito, conectando pinos da protoboard, sensores e microcontroladores.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5" name="Google Shape;345;g3494324d29f_0_18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g3494324d29f_0_182"/>
          <p:cNvSpPr txBox="1"/>
          <p:nvPr/>
        </p:nvSpPr>
        <p:spPr>
          <a:xfrm>
            <a:off x="2043303" y="962025"/>
            <a:ext cx="446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SENSORES E ATUADORES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494324d29f_0_34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g3494324d29f_0_343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3" name="Google Shape;353;g3494324d29f_0_343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54" name="Google Shape;354;g3494324d29f_0_343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355" name="Google Shape;355;g3494324d29f_0_343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g3494324d29f_0_343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7" name="Google Shape;357;g3494324d29f_0_343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Referências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8" name="Google Shape;358;g3494324d29f_0_343"/>
          <p:cNvSpPr txBox="1"/>
          <p:nvPr/>
        </p:nvSpPr>
        <p:spPr>
          <a:xfrm>
            <a:off x="1685075" y="3542150"/>
            <a:ext cx="15307500" cy="6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RASPBERRY PI FOUNDATION.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Raspberry Pi Pico Documentation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. Cambridge, UK: Raspberry Pi Ltd., 2023. Disponível em: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ttps://www.raspberrypi.com/documentation/microcontrollers/pico.html. Acesso em: 3 maio 2025.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MICROPYTHON.ORG.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machine – functions related to the hardware.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MicroPython Documentation, 2024. Disponível em: https://docs.micropython.org/en/latest/library/machine.html. Acesso em: 3 maio 2025.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MICROPYTHON.ORG.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utime – time-related functions.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MicroPython Documentation, 2024. Disponível em: https://docs.micropython.org/en/latest/library/utime.html. Acesso em: 3 maio 2025.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BARENDSE, Ben.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Exploring Raspberry Pi Pico with MicroPython: A Hands-on Guide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. 1. ed. Independently published, 2022.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9" name="Google Shape;359;g3494324d29f_0_343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3494324d29f_0_343"/>
          <p:cNvSpPr txBox="1"/>
          <p:nvPr/>
        </p:nvSpPr>
        <p:spPr>
          <a:xfrm>
            <a:off x="2043305" y="962025"/>
            <a:ext cx="5597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SENSORES E ATUADORES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6" name="Google Shape;366;p16"/>
          <p:cNvCxnSpPr/>
          <p:nvPr/>
        </p:nvCxnSpPr>
        <p:spPr>
          <a:xfrm rot="10800000">
            <a:off x="9645833" y="4419143"/>
            <a:ext cx="18900" cy="20583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7" name="Google Shape;367;p16"/>
          <p:cNvSpPr txBox="1"/>
          <p:nvPr/>
        </p:nvSpPr>
        <p:spPr>
          <a:xfrm>
            <a:off x="10341007" y="4336637"/>
            <a:ext cx="24402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Telefone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(11) 2396-1999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8" name="Google Shape;368;p16"/>
          <p:cNvGrpSpPr/>
          <p:nvPr/>
        </p:nvGrpSpPr>
        <p:grpSpPr>
          <a:xfrm>
            <a:off x="10340993" y="2885700"/>
            <a:ext cx="5951925" cy="1458644"/>
            <a:chOff x="-19" y="-85717"/>
            <a:chExt cx="7935900" cy="1944859"/>
          </a:xfrm>
        </p:grpSpPr>
        <p:sp>
          <p:nvSpPr>
            <p:cNvPr id="369" name="Google Shape;369;p16"/>
            <p:cNvSpPr txBox="1"/>
            <p:nvPr/>
          </p:nvSpPr>
          <p:spPr>
            <a:xfrm>
              <a:off x="0" y="677142"/>
              <a:ext cx="3902700" cy="118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Av. Goiás, 139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70" name="Google Shape;370;p16"/>
            <p:cNvSpPr txBox="1"/>
            <p:nvPr/>
          </p:nvSpPr>
          <p:spPr>
            <a:xfrm>
              <a:off x="-19" y="-85717"/>
              <a:ext cx="79359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1" i="0" lang="en-US" sz="2799" u="none" cap="none" strike="noStrike">
                  <a:solidFill>
                    <a:srgbClr val="D93831"/>
                  </a:solidFill>
                  <a:latin typeface="Poppins"/>
                  <a:ea typeface="Poppins"/>
                  <a:cs typeface="Poppins"/>
                  <a:sym typeface="Poppins"/>
                </a:rPr>
                <a:t>ESCOLA SENAI ÍTALO BOLOGNA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1" name="Google Shape;371;p16"/>
          <p:cNvGrpSpPr/>
          <p:nvPr/>
        </p:nvGrpSpPr>
        <p:grpSpPr>
          <a:xfrm>
            <a:off x="10340999" y="5663950"/>
            <a:ext cx="2283308" cy="846825"/>
            <a:chOff x="-11" y="-66670"/>
            <a:chExt cx="3044411" cy="1129101"/>
          </a:xfrm>
        </p:grpSpPr>
        <p:sp>
          <p:nvSpPr>
            <p:cNvPr id="372" name="Google Shape;372;p16"/>
            <p:cNvSpPr txBox="1"/>
            <p:nvPr/>
          </p:nvSpPr>
          <p:spPr>
            <a:xfrm>
              <a:off x="-11" y="-66670"/>
              <a:ext cx="2667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Instagram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16"/>
            <p:cNvSpPr txBox="1"/>
            <p:nvPr/>
          </p:nvSpPr>
          <p:spPr>
            <a:xfrm>
              <a:off x="0" y="569831"/>
              <a:ext cx="3044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@senai.itu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4" name="Google Shape;374;p16"/>
          <p:cNvGrpSpPr/>
          <p:nvPr/>
        </p:nvGrpSpPr>
        <p:grpSpPr>
          <a:xfrm>
            <a:off x="10340997" y="7046976"/>
            <a:ext cx="5697225" cy="804499"/>
            <a:chOff x="-13" y="-66675"/>
            <a:chExt cx="7596300" cy="1072665"/>
          </a:xfrm>
        </p:grpSpPr>
        <p:sp>
          <p:nvSpPr>
            <p:cNvPr id="375" name="Google Shape;375;p16"/>
            <p:cNvSpPr txBox="1"/>
            <p:nvPr/>
          </p:nvSpPr>
          <p:spPr>
            <a:xfrm>
              <a:off x="0" y="-66675"/>
              <a:ext cx="1655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16"/>
            <p:cNvSpPr txBox="1"/>
            <p:nvPr/>
          </p:nvSpPr>
          <p:spPr>
            <a:xfrm>
              <a:off x="-13" y="513390"/>
              <a:ext cx="7596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https://sp.senai.br/unidade/itu/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7" name="Google Shape;377;p16"/>
          <p:cNvGrpSpPr/>
          <p:nvPr/>
        </p:nvGrpSpPr>
        <p:grpSpPr>
          <a:xfrm>
            <a:off x="13422228" y="5663946"/>
            <a:ext cx="2133000" cy="845495"/>
            <a:chOff x="0" y="-66675"/>
            <a:chExt cx="2844000" cy="1127326"/>
          </a:xfrm>
        </p:grpSpPr>
        <p:sp>
          <p:nvSpPr>
            <p:cNvPr id="378" name="Google Shape;378;p16"/>
            <p:cNvSpPr txBox="1"/>
            <p:nvPr/>
          </p:nvSpPr>
          <p:spPr>
            <a:xfrm>
              <a:off x="0" y="-66675"/>
              <a:ext cx="2039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Facebok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16"/>
            <p:cNvSpPr txBox="1"/>
            <p:nvPr/>
          </p:nvSpPr>
          <p:spPr>
            <a:xfrm>
              <a:off x="0" y="568051"/>
              <a:ext cx="2844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/senaisp.itu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80" name="Google Shape;380;p16"/>
          <p:cNvSpPr/>
          <p:nvPr/>
        </p:nvSpPr>
        <p:spPr>
          <a:xfrm>
            <a:off x="14706022" y="599788"/>
            <a:ext cx="3200983" cy="833009"/>
          </a:xfrm>
          <a:custGeom>
            <a:rect b="b" l="l" r="r" t="t"/>
            <a:pathLst>
              <a:path extrusionOk="0" h="1015865" w="3988764">
                <a:moveTo>
                  <a:pt x="0" y="0"/>
                </a:moveTo>
                <a:lnTo>
                  <a:pt x="3988765" y="0"/>
                </a:lnTo>
                <a:lnTo>
                  <a:pt x="3988765" y="1015866"/>
                </a:lnTo>
                <a:lnTo>
                  <a:pt x="0" y="1015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1" name="Google Shape;381;p16"/>
          <p:cNvGrpSpPr/>
          <p:nvPr/>
        </p:nvGrpSpPr>
        <p:grpSpPr>
          <a:xfrm>
            <a:off x="1534959" y="2851188"/>
            <a:ext cx="7762810" cy="5194221"/>
            <a:chOff x="1648350" y="1982600"/>
            <a:chExt cx="6664501" cy="4459324"/>
          </a:xfrm>
        </p:grpSpPr>
        <p:pic>
          <p:nvPicPr>
            <p:cNvPr id="382" name="Google Shape;382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48350" y="1982600"/>
              <a:ext cx="6664501" cy="4459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3" name="Google Shape;383;p16"/>
            <p:cNvSpPr/>
            <p:nvPr/>
          </p:nvSpPr>
          <p:spPr>
            <a:xfrm>
              <a:off x="1648350" y="1982603"/>
              <a:ext cx="6664500" cy="445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FOTO DA ESCOLA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0x01010096047AC9DEFB4747B22467A5254572DF</vt:lpwstr>
  </property>
  <property fmtid="{D5CDD505-2E9C-101B-9397-08002B2CF9AE}" pid="3" name="MediaServiceImageTags">
    <vt:lpwstr/>
  </property>
</Properties>
</file>