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Poppi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g9u/4d1Bk5Px6acgD9QkEYPQ9Z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regular.fntdata"/><Relationship Id="rId21" Type="http://schemas.openxmlformats.org/officeDocument/2006/relationships/slide" Target="slides/slide16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6fcbf3874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56fcbf3874_0_3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90f884fe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590f884fee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90f884f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590f884fe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90f884fe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590f884fee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90f884fe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3590f884fee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90f884fe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590f884fee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90f884fe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590f884fee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94324d29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494324d29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90f884fee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590f884fee_0_2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90f884fee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590f884fee_0_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90f884fee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3590f884fee_0_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590f884fe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g3590f884fee_0_2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590f884fee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3590f884fee_0_3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494324d2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g3494324d29f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374310" y="4480500"/>
            <a:ext cx="96918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6fcbf3874_0_33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56fcbf3874_0_33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g356fcbf3874_0_33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g356fcbf3874_0_33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g356fcbf3874_0_33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g356fcbf3874_0_33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g356fcbf3874_0_339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é?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g356fcbf3874_0_339"/>
          <p:cNvSpPr txBox="1"/>
          <p:nvPr/>
        </p:nvSpPr>
        <p:spPr>
          <a:xfrm>
            <a:off x="1685075" y="3542150"/>
            <a:ext cx="154053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MQ-2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um sensor de gás capaz de detectar fumaça e gases inflamáveis como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GLP (gás de cozinha), butano, propano, metano, álcool, hidrogênio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outros.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Ele possui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duas saídas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Digital (D0):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informa quando o valor ultrapassa um limite.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Analógica (A0):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informa o nível de concentração do gás em tempo real.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g356fcbf3874_0_33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56fcbf3874_0_339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g356fcbf3874_0_339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g356fcbf3874_0_339"/>
          <p:cNvPicPr preferRelativeResize="0"/>
          <p:nvPr/>
        </p:nvPicPr>
        <p:blipFill rotWithShape="1">
          <a:blip r:embed="rId6">
            <a:alphaModFix/>
          </a:blip>
          <a:srcRect b="14330" l="4334" r="2641" t="9969"/>
          <a:stretch/>
        </p:blipFill>
        <p:spPr>
          <a:xfrm>
            <a:off x="6660000" y="6370327"/>
            <a:ext cx="4635642" cy="377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90f884fee_0_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590f884fee_0_1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g3590f884fee_0_1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g3590f884fee_0_1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3" name="Google Shape;113;g3590f884fee_0_1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g3590f884fee_0_1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g3590f884fee_0_15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é preciso para ligar?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g3590f884fee_0_15"/>
          <p:cNvSpPr txBox="1"/>
          <p:nvPr/>
        </p:nvSpPr>
        <p:spPr>
          <a:xfrm>
            <a:off x="2410825" y="3389750"/>
            <a:ext cx="3018300" cy="23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Componentes: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Sensor MQ-2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Protoboard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Fios jumper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g3590f884fee_0_1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590f884fee_0_15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g3590f884fee_0_15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g3590f884fee_0_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12787" y="5296227"/>
            <a:ext cx="12291324" cy="406664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590f884fee_0_15"/>
          <p:cNvSpPr txBox="1"/>
          <p:nvPr/>
        </p:nvSpPr>
        <p:spPr>
          <a:xfrm>
            <a:off x="11706000" y="3465950"/>
            <a:ext cx="3866400" cy="15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Bibliotecas utilizadas: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machine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utime</a:t>
            </a:r>
            <a:endParaRPr/>
          </a:p>
        </p:txBody>
      </p:sp>
      <p:sp>
        <p:nvSpPr>
          <p:cNvPr id="122" name="Google Shape;122;g3590f884fee_0_15"/>
          <p:cNvSpPr txBox="1"/>
          <p:nvPr/>
        </p:nvSpPr>
        <p:spPr>
          <a:xfrm>
            <a:off x="3763650" y="9464925"/>
            <a:ext cx="1076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usaremos a saída digital (D0), somente a analógica (A0).</a:t>
            </a:r>
            <a:endParaRPr i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90f884fee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590f884fee_0_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g3590f884fee_0_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0" name="Google Shape;130;g3590f884fee_0_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31" name="Google Shape;131;g3590f884fee_0_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g3590f884fee_0_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g3590f884fee_0_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590f884fee_0_0"/>
          <p:cNvSpPr txBox="1"/>
          <p:nvPr/>
        </p:nvSpPr>
        <p:spPr>
          <a:xfrm>
            <a:off x="2043300" y="1112850"/>
            <a:ext cx="1504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Conexão com o RASPBERRY PI PICO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g3590f884fee_0_0"/>
          <p:cNvSpPr txBox="1"/>
          <p:nvPr/>
        </p:nvSpPr>
        <p:spPr>
          <a:xfrm>
            <a:off x="1685075" y="3542150"/>
            <a:ext cx="15405300" cy="41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VCC do MQ-2 → 3.3V do Pico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GND do MQ-2 → GND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A0 do MQ-2 → GP26 (ADC0)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sensor pode demorar alguns segundos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se estabilizar ao ser ligado ,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(pré-aquecimento).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g3590f884fee_0_0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g3590f884fee_0_0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g3590f884fee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61524" y="3429000"/>
            <a:ext cx="7576763" cy="681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90f884fee_0_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590f884fee_0_3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g3590f884fee_0_3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6" name="Google Shape;146;g3590f884fee_0_3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47" name="Google Shape;147;g3590f884fee_0_3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g3590f884fee_0_3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g3590f884fee_0_30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Testando o Sensor  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de gás MQ2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g3590f884fee_0_30"/>
          <p:cNvSpPr txBox="1"/>
          <p:nvPr/>
        </p:nvSpPr>
        <p:spPr>
          <a:xfrm>
            <a:off x="1685075" y="3542150"/>
            <a:ext cx="15405300" cy="3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highlight>
                  <a:srgbClr val="FFFFFE"/>
                </a:highlight>
                <a:latin typeface="Poppins"/>
                <a:ea typeface="Poppins"/>
                <a:cs typeface="Poppins"/>
                <a:sym typeface="Poppins"/>
              </a:rPr>
              <a:t>Link de acesso </a:t>
            </a:r>
            <a:r>
              <a:rPr lang="en-US" sz="2400">
                <a:solidFill>
                  <a:schemeClr val="dk1"/>
                </a:solidFill>
                <a:highlight>
                  <a:srgbClr val="FFFFFE"/>
                </a:highlight>
                <a:latin typeface="Poppins"/>
                <a:ea typeface="Poppins"/>
                <a:cs typeface="Poppins"/>
                <a:sym typeface="Poppins"/>
              </a:rPr>
              <a:t>ao Programa Teste no </a:t>
            </a:r>
            <a:r>
              <a:rPr b="1" lang="en-US" sz="2400">
                <a:solidFill>
                  <a:schemeClr val="dk1"/>
                </a:solidFill>
                <a:highlight>
                  <a:srgbClr val="FFFFFE"/>
                </a:highlight>
                <a:latin typeface="Poppins"/>
                <a:ea typeface="Poppins"/>
                <a:cs typeface="Poppins"/>
                <a:sym typeface="Poppins"/>
              </a:rPr>
              <a:t>WOKWI</a:t>
            </a:r>
            <a:r>
              <a:rPr lang="en-US" sz="2400">
                <a:solidFill>
                  <a:schemeClr val="dk1"/>
                </a:solidFill>
                <a:highlight>
                  <a:srgbClr val="FFFFFE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solidFill>
                <a:schemeClr val="dk1"/>
              </a:solidFill>
              <a:highlight>
                <a:srgbClr val="FFFFFE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E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E"/>
                </a:highlight>
                <a:latin typeface="Poppins"/>
                <a:ea typeface="Poppins"/>
                <a:cs typeface="Poppins"/>
                <a:sym typeface="Poppins"/>
              </a:rPr>
              <a:t>https://wokwi.com/projects/431392621903613953</a:t>
            </a:r>
            <a:endParaRPr sz="2400">
              <a:solidFill>
                <a:schemeClr val="dk1"/>
              </a:solidFill>
              <a:highlight>
                <a:srgbClr val="FFFFFE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E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Explicação dos principais comandos novos: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ADC(26) →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 o pino 26 como entrada analógica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read_u16() →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Lê valores de 0 a 65535 representando intensidade do gás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g3590f884fee_0_3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590f884fee_0_30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90f884fee_0_4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590f884fee_0_4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g3590f884fee_0_4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0" name="Google Shape;160;g3590f884fee_0_4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61" name="Google Shape;161;g3590f884fee_0_4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g3590f884fee_0_4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g3590f884fee_0_44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Servo Motor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g3590f884fee_0_44"/>
          <p:cNvSpPr txBox="1"/>
          <p:nvPr/>
        </p:nvSpPr>
        <p:spPr>
          <a:xfrm>
            <a:off x="1685075" y="3542150"/>
            <a:ext cx="15405300" cy="3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servo motor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é um atuador que permite controlar a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posição angular do eixo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com precisão.</a:t>
            </a:r>
            <a:br>
              <a:rPr lang="en-US" sz="2400">
                <a:latin typeface="Poppins"/>
                <a:ea typeface="Poppins"/>
                <a:cs typeface="Poppins"/>
                <a:sym typeface="Poppins"/>
              </a:rPr>
            </a:b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Ele é muito utilizado em robótica, automação, controle de movimento, portas automáticas, entre outros.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Funcionamento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básico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Recebe um sinal PWM (pulso modulado em largura) que determina a posição do eixo.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Geralmente, o pulso varia entre 1 ms e 2 ms dentro de um período de 20 ms (50 Hz).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Exemplo: 1 ms → 0°, 1,5 ms → 90°, 2 ms → 180°.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g3590f884fee_0_4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590f884fee_0_44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g3590f884fee_0_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65713" y="6916450"/>
            <a:ext cx="3956575" cy="30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90f884fee_0_5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590f884fee_0_5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g3590f884fee_0_5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5" name="Google Shape;175;g3590f884fee_0_5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76" name="Google Shape;176;g3590f884fee_0_5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g3590f884fee_0_5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g3590f884fee_0_58"/>
          <p:cNvSpPr txBox="1"/>
          <p:nvPr/>
        </p:nvSpPr>
        <p:spPr>
          <a:xfrm>
            <a:off x="2043300" y="11128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Como ligar o 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Servo Motor</a:t>
            </a: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g3590f884fee_0_58"/>
          <p:cNvSpPr txBox="1"/>
          <p:nvPr/>
        </p:nvSpPr>
        <p:spPr>
          <a:xfrm>
            <a:off x="1685075" y="3313550"/>
            <a:ext cx="15405300" cy="6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Componentes necessários: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1 Servo Motor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Fios jumper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Protoboard (opcional)</a:t>
            </a:r>
            <a:br>
              <a:rPr lang="en-US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Conexões: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VCC do servo → 5 V (ou 3.3 V dependendo do servo, conferir datasheet)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GND do servo → GND da placa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Sinal PWM → GPIO da Raspberry Pi Pico (exemplo: GP15)</a:t>
            </a:r>
            <a:br>
              <a:rPr lang="en-US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Importante: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O servo consome corrente considerável, então usar uma fonte adequada é fundamental.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Não alimente o servo direto pelo 3.3 V da Pico se ele for 5 V, para evitar danos.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" name="Google Shape;180;g3590f884fee_0_5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590f884fee_0_58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90f884fee_0_1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590f884fee_0_11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g3590f884fee_0_11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9" name="Google Shape;189;g3590f884fee_0_11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90" name="Google Shape;190;g3590f884fee_0_11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g3590f884fee_0_11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g3590f884fee_0_112"/>
          <p:cNvSpPr txBox="1"/>
          <p:nvPr/>
        </p:nvSpPr>
        <p:spPr>
          <a:xfrm>
            <a:off x="2043300" y="1112850"/>
            <a:ext cx="123699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Conexão com o RASPBERRY PI PICO (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Servo Motor</a:t>
            </a: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g3590f884fee_0_112"/>
          <p:cNvSpPr txBox="1"/>
          <p:nvPr/>
        </p:nvSpPr>
        <p:spPr>
          <a:xfrm>
            <a:off x="1685075" y="3313550"/>
            <a:ext cx="154053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Sinal PWM → GP15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VCC → 5 V externo (ou 3.3 V, dependendo do servo)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GND → GND da Pico e da fonte do servo (todas as terras devem estar comuns)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Descrição:</a:t>
            </a:r>
            <a:b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placa Pico envia o sinal PWM para controlar a posição do servo.</a:t>
            </a:r>
            <a:b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servo movimenta seu eixo conforme o pulso recebido.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g3590f884fee_0_11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590f884fee_0_112"/>
          <p:cNvSpPr txBox="1"/>
          <p:nvPr/>
        </p:nvSpPr>
        <p:spPr>
          <a:xfrm>
            <a:off x="2043306" y="962025"/>
            <a:ext cx="57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g3590f884fee_0_112"/>
          <p:cNvSpPr/>
          <p:nvPr/>
        </p:nvSpPr>
        <p:spPr>
          <a:xfrm>
            <a:off x="12119050" y="9362875"/>
            <a:ext cx="1661700" cy="7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g3590f884fee_0_1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4763818" y="5961050"/>
            <a:ext cx="8760356" cy="406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94324d29f_0_1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494324d29f_0_18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g3494324d29f_0_18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5" name="Google Shape;205;g3494324d29f_0_18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06" name="Google Shape;206;g3494324d29f_0_18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g3494324d29f_0_18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g3494324d29f_0_18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g3494324d29f_0_182"/>
          <p:cNvSpPr txBox="1"/>
          <p:nvPr/>
        </p:nvSpPr>
        <p:spPr>
          <a:xfrm>
            <a:off x="1456475" y="3313550"/>
            <a:ext cx="15614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Sensor MQ-2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Detecta fumaça e gases inflamáveis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ADC (GP26)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Leitura analógica no Pico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Servo Motor=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Atuador que controla a posição angular com sinal PWM.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g3494324d29f_0_18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494324d29f_0_182"/>
          <p:cNvSpPr txBox="1"/>
          <p:nvPr/>
        </p:nvSpPr>
        <p:spPr>
          <a:xfrm>
            <a:off x="2043303" y="962025"/>
            <a:ext cx="446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90f884fee_0_245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590f884fee_0_245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g3590f884fee_0_245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g3590f884fee_0_245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590f884fee_0_245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590f884fee_0_24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2" name="Google Shape;222;g3590f884fee_0_245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23" name="Google Shape;223;g3590f884fee_0_24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g3590f884fee_0_24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g3590f884fee_0_245"/>
          <p:cNvSpPr txBox="1"/>
          <p:nvPr/>
        </p:nvSpPr>
        <p:spPr>
          <a:xfrm>
            <a:off x="3611472" y="2570775"/>
            <a:ext cx="1400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1 –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Leitura contínua no console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g3590f884fee_0_245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590f884fee_0_245"/>
          <p:cNvSpPr txBox="1"/>
          <p:nvPr/>
        </p:nvSpPr>
        <p:spPr>
          <a:xfrm>
            <a:off x="3611450" y="2996700"/>
            <a:ext cx="144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Mostrar os níveis de gás no terminal.</a:t>
            </a:r>
            <a:endParaRPr b="0" i="0" sz="2400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g3590f884fee_0_245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g3590f884fee_0_245"/>
          <p:cNvSpPr txBox="1"/>
          <p:nvPr/>
        </p:nvSpPr>
        <p:spPr>
          <a:xfrm>
            <a:off x="3611475" y="3879700"/>
            <a:ext cx="144762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Sensor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Protoboard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Fios jumper</a:t>
            </a:r>
            <a:b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Conceitos: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Sensor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b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Monte o circuito com o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Exibir o valor lido do ADC a cada segundo no console.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90f884fee_0_262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590f884fee_0_262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g3590f884fee_0_262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g3590f884fee_0_262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590f884fee_0_262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590f884fee_0_26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0" name="Google Shape;240;g3590f884fee_0_262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41" name="Google Shape;241;g3590f884fee_0_26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g3590f884fee_0_26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g3590f884fee_0_262"/>
          <p:cNvSpPr txBox="1"/>
          <p:nvPr/>
        </p:nvSpPr>
        <p:spPr>
          <a:xfrm>
            <a:off x="3611472" y="2570775"/>
            <a:ext cx="1400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2 –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Ativar LED e Buzzer ao detectar gás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g3590f884fee_0_262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590f884fee_0_262"/>
          <p:cNvSpPr txBox="1"/>
          <p:nvPr/>
        </p:nvSpPr>
        <p:spPr>
          <a:xfrm>
            <a:off x="3611450" y="2996700"/>
            <a:ext cx="144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Acender um LED como aviso visual.</a:t>
            </a:r>
            <a:endParaRPr b="1"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g3590f884fee_0_262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g3590f884fee_0_262"/>
          <p:cNvSpPr txBox="1"/>
          <p:nvPr/>
        </p:nvSpPr>
        <p:spPr>
          <a:xfrm>
            <a:off x="3611475" y="3422500"/>
            <a:ext cx="14476200" cy="4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LED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 Resistores 220Ω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buzzer</a:t>
            </a:r>
            <a:b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Acenda o LED e o buzzer se o valor de gás for maior que 30000.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90f884fee_0_279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590f884fee_0_279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g3590f884fee_0_279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g3590f884fee_0_279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590f884fee_0_279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590f884fee_0_27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8" name="Google Shape;258;g3590f884fee_0_279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59" name="Google Shape;259;g3590f884fee_0_27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g3590f884fee_0_27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g3590f884fee_0_279"/>
          <p:cNvSpPr txBox="1"/>
          <p:nvPr/>
        </p:nvSpPr>
        <p:spPr>
          <a:xfrm>
            <a:off x="3611475" y="2570775"/>
            <a:ext cx="1476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3 –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Abrir uma tampa quando detectar gás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g3590f884fee_0_279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590f884fee_0_279"/>
          <p:cNvSpPr txBox="1"/>
          <p:nvPr/>
        </p:nvSpPr>
        <p:spPr>
          <a:xfrm>
            <a:off x="3611450" y="2996700"/>
            <a:ext cx="144090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Simular um sistema que abre uma tampa (servo gira) ao detectar presença de gás, como se fosse um sistema de ventilação automática.</a:t>
            </a:r>
            <a:endParaRPr b="1"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g3590f884fee_0_279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g3590f884fee_0_279"/>
          <p:cNvSpPr txBox="1"/>
          <p:nvPr/>
        </p:nvSpPr>
        <p:spPr>
          <a:xfrm>
            <a:off x="3611475" y="4032100"/>
            <a:ext cx="14476200" cy="5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adicionais: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Servomotor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o MQ2 para detectar gás (simulado via Wokwi ou com isqueiro – sem acender).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Quando o valor do sensor ultrapassar um limite (threshold), o servo gira de 0° para 90°, simulando abertura.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Após 5 segundos, volta para 0°.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Dica: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Use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machine.ADC()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o sensor, 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machine.PWM()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o servo.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590f884fee_0_296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590f884fee_0_296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g3590f884fee_0_296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g3590f884fee_0_296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590f884fee_0_296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590f884fee_0_29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g3590f884fee_0_296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77" name="Google Shape;277;g3590f884fee_0_29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g3590f884fee_0_29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g3590f884fee_0_296"/>
          <p:cNvSpPr txBox="1"/>
          <p:nvPr/>
        </p:nvSpPr>
        <p:spPr>
          <a:xfrm>
            <a:off x="3611472" y="2570775"/>
            <a:ext cx="1400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4 –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Abrir janela e acionar alarme até digitar a senha correta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0" name="Google Shape;280;g3590f884fee_0_296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590f884fee_0_296"/>
          <p:cNvSpPr txBox="1"/>
          <p:nvPr/>
        </p:nvSpPr>
        <p:spPr>
          <a:xfrm>
            <a:off x="3611450" y="2996700"/>
            <a:ext cx="144090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Simular um sistema inteligente onde, ao detectar gás:</a:t>
            </a:r>
            <a:endParaRPr b="1"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Uma janela se abre automaticamente (servo vai para 90°);</a:t>
            </a:r>
            <a:endParaRPr b="1"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Um buzzer começa a tocar (alerta sonoro);</a:t>
            </a:r>
            <a:endParaRPr b="1"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 sistema só para o alarme se o usuário digitar a senha correta no console.</a:t>
            </a:r>
            <a:endParaRPr b="1"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2" name="Google Shape;282;g3590f884fee_0_296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g3590f884fee_0_296"/>
          <p:cNvSpPr txBox="1"/>
          <p:nvPr/>
        </p:nvSpPr>
        <p:spPr>
          <a:xfrm>
            <a:off x="3611475" y="4794100"/>
            <a:ext cx="14476200" cy="5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adicionais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 Buzzer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Acesso ao terminal (para digitação da senha)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Solicitação: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o valor lido do sensor MQ2 for acima de um certo limite: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Servo vai para 90° (abre a janela);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Buzzer liga;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Terminal solicita: </a:t>
            </a:r>
            <a:r>
              <a:rPr lang="en-US" sz="24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"Digite a senha para desativar o alarme:"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;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a senha for correta (ex.: </a:t>
            </a:r>
            <a:r>
              <a:rPr lang="en-US" sz="24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"1234"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), o buzzer para e o servo volta para 0°.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90f884fee_0_313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590f884fee_0_313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g3590f884fee_0_313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g3590f884fee_0_313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590f884fee_0_313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590f884fee_0_31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" name="Google Shape;294;g3590f884fee_0_313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295" name="Google Shape;295;g3590f884fee_0_3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g3590f884fee_0_31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g3590f884fee_0_313"/>
          <p:cNvSpPr txBox="1"/>
          <p:nvPr/>
        </p:nvSpPr>
        <p:spPr>
          <a:xfrm>
            <a:off x="3611472" y="2570775"/>
            <a:ext cx="1400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Exercício 5 –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Indicador de Nível de Gás com LED RGB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" name="Google Shape;298;g3590f884fee_0_313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590f884fee_0_313"/>
          <p:cNvSpPr txBox="1"/>
          <p:nvPr/>
        </p:nvSpPr>
        <p:spPr>
          <a:xfrm>
            <a:off x="3611450" y="2996700"/>
            <a:ext cx="144090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Objetivo: </a:t>
            </a:r>
            <a:r>
              <a:rPr b="1" lang="en-US" sz="24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Indicar o nível de gás no ambiente usando as cores do LED RGB. Quanto maior a concentração, mais alarmante será a cor mostrada.</a:t>
            </a:r>
            <a:endParaRPr b="0" i="0" sz="2400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" name="Google Shape;300;g3590f884fee_0_313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1" name="Google Shape;301;g3590f884fee_0_313"/>
          <p:cNvSpPr txBox="1"/>
          <p:nvPr/>
        </p:nvSpPr>
        <p:spPr>
          <a:xfrm>
            <a:off x="3611475" y="4032100"/>
            <a:ext cx="144762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adicionais: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LED RGB (pinos separados: R, G, B)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Resistores para cada cor - 220Ω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2" name="Google Shape;302;g3590f884fee_0_3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34282" y="5649200"/>
            <a:ext cx="14230599" cy="40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494324d29f_0_3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494324d29f_0_3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g3494324d29f_0_3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0" name="Google Shape;310;g3494324d29f_0_3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11" name="Google Shape;311;g3494324d29f_0_3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g3494324d29f_0_3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3" name="Google Shape;313;g3494324d29f_0_34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4" name="Google Shape;314;g3494324d29f_0_343"/>
          <p:cNvSpPr txBox="1"/>
          <p:nvPr/>
        </p:nvSpPr>
        <p:spPr>
          <a:xfrm>
            <a:off x="1685075" y="3542150"/>
            <a:ext cx="15307500" cy="7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RASPBERRY PI FOUNDATION.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Raspberry Pi Pico Documentation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Cambridge, UK: Raspberry Pi Ltd., 2023. Disponível em: https://www.raspberrypi.com/documentation/microcontrollers/pico.html. Acesso em: 3 maio 2025.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BARENDSE, Ben.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Exploring Raspberry Pi Pico with MicroPython: A Hands-on Guide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1. ed. Independently published, 2022.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Datasheet MQ-2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MicroPython Docs – ADC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Wokwi Simulation: https://wokwi.com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Projetos de alarme com sensores de gás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5" name="Google Shape;315;g3494324d29f_0_3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494324d29f_0_343"/>
          <p:cNvSpPr txBox="1"/>
          <p:nvPr/>
        </p:nvSpPr>
        <p:spPr>
          <a:xfrm>
            <a:off x="2043305" y="962025"/>
            <a:ext cx="559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MQ2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" name="Google Shape;324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325" name="Google Shape;325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6" name="Google Shape;326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7" name="Google Shape;327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328" name="Google Shape;328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0" name="Google Shape;330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331" name="Google Shape;331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3" name="Google Shape;333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334" name="Google Shape;334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36" name="Google Shape;336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7" name="Google Shape;337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338" name="Google Shape;338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9" name="Google Shape;339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