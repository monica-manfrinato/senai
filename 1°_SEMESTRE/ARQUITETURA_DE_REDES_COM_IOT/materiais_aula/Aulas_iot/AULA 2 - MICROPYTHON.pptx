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y="10287000" cx="18288000"/>
  <p:notesSz cx="6858000" cy="9144000"/>
  <p:embeddedFontLst>
    <p:embeddedFont>
      <p:font typeface="Poppins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30" roundtripDataSignature="AMtx7mhXw0/qADjIAMrKiwflSDWrxMkiK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39407F7-D657-4C4E-A0C8-A5899DD8D354}">
  <a:tblStyle styleId="{539407F7-D657-4C4E-A0C8-A5899DD8D354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Poppins-regular.fntdata"/><Relationship Id="rId25" Type="http://schemas.openxmlformats.org/officeDocument/2006/relationships/slide" Target="slides/slide19.xml"/><Relationship Id="rId28" Type="http://schemas.openxmlformats.org/officeDocument/2006/relationships/font" Target="fonts/Poppins-italic.fntdata"/><Relationship Id="rId27" Type="http://schemas.openxmlformats.org/officeDocument/2006/relationships/font" Target="fonts/Poppins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Poppins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0" Type="http://customschemas.google.com/relationships/presentationmetadata" Target="meta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5562c8870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1" name="Google Shape;91;g35562c88707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55b241f1ff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6" name="Google Shape;106;g355b241f1ff_0_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5562c88707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1" name="Google Shape;121;g35562c88707_0_1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5562c88707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7" name="Google Shape;137;g35562c88707_0_2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5562c88707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Poppins"/>
              <a:buChar char="●"/>
            </a:pPr>
            <a:r>
              <a:rPr b="1" lang="en-US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Como funciona?: </a:t>
            </a:r>
            <a:r>
              <a:rPr lang="en-US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Retorna valores entre 0 e 65535, representando a tensão do sinal analógico (ex: 0V a 3.3V).</a:t>
            </a:r>
            <a:endParaRPr sz="1000"/>
          </a:p>
        </p:txBody>
      </p:sp>
      <p:sp>
        <p:nvSpPr>
          <p:cNvPr id="153" name="Google Shape;153;g35562c88707_0_4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5562c88707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000"/>
              <a:t>🔊 freq() — Frequência do sinal PWM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000"/>
              <a:t>✅ O que é: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000"/>
              <a:t>Define quantas vezes por segundo o sinal liga e desliga (os pulsos por segundo).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000"/>
              <a:t>📏 Medida: Hertz (Hz)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000"/>
              <a:t>Exemplo: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000"/>
              <a:t>led.freq(1000)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000"/>
              <a:t>→ Significa que o sinal vai piscar 1000 vezes por segundo (1 kHz).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000"/>
              <a:t>🧠 Por que importa?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000"/>
              <a:t>Frequência baixa (ex: 10 Hz): pisca visivelmente.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000"/>
              <a:t>Frequência alta (ex: 1000 Hz ou mais): olhos não percebem a oscilação — vira um brilho suave.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000"/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Poppins"/>
              <a:buChar char="●"/>
            </a:pPr>
            <a:r>
              <a:rPr b="1" lang="en-US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Frequência (freq): </a:t>
            </a:r>
            <a:r>
              <a:rPr lang="en-US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Número de vezes que o sinal </a:t>
            </a:r>
            <a:r>
              <a:rPr b="1" lang="en-US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liga/desliga por segundo (em Hz)</a:t>
            </a:r>
            <a:r>
              <a:rPr lang="en-US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 Frequências maiores tornam o efeito mais suave (ex: 1000 Hz = 1000 ciclos por segundo).</a:t>
            </a:r>
            <a:endParaRPr sz="1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Poppins"/>
              <a:buChar char="●"/>
            </a:pPr>
            <a:r>
              <a:rPr b="1" lang="en-US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Duty Cycle (duty_u16): </a:t>
            </a:r>
            <a:r>
              <a:rPr lang="en-US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Representa a proporção do tempo em que o sinal fica ligado. Vai de 0 (0%) a 65535 (100%). Exemplo: 32768 = 50% ligado, 50% desligado.</a:t>
            </a:r>
            <a:endParaRPr sz="1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9" name="Google Shape;169;g35562c88707_0_5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5562c88707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5" name="Google Shape;185;g35562c88707_0_7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5562c88707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1" name="Google Shape;201;g35562c88707_0_8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5562c88707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7" name="Google Shape;217;g35562c88707_0_10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5562c88707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3" name="Google Shape;233;g35562c88707_0_11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5562c88707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9" name="Google Shape;249;g35562c88707_0_13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5562c88707_0_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5" name="Google Shape;265;g35562c88707_0_14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5562c88707_0_1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1" name="Google Shape;281;g35562c88707_0_16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355c2eacfa9_1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7" name="Google Shape;297;g355c2eacfa9_1_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355c2eacfa9_1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4" name="Google Shape;314;g355c2eacfa9_1_2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3494324d29f_0_1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30" name="Google Shape;330;g3494324d29f_0_18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3494324d29f_0_3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44" name="Google Shape;344;g3494324d29f_0_34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58" name="Google Shape;358;p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2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2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2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3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" name="Google Shape;18;p23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3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3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4"/>
          <p:cNvSpPr txBox="1"/>
          <p:nvPr>
            <p:ph type="ctrTitle"/>
          </p:nvPr>
        </p:nvSpPr>
        <p:spPr>
          <a:xfrm>
            <a:off x="685800" y="2130425"/>
            <a:ext cx="7772400" cy="14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4" name="Google Shape;24;p24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4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4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5"/>
          <p:cNvSpPr txBox="1"/>
          <p:nvPr>
            <p:ph type="title"/>
          </p:nvPr>
        </p:nvSpPr>
        <p:spPr>
          <a:xfrm>
            <a:off x="722313" y="4406900"/>
            <a:ext cx="7772400" cy="13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5"/>
          <p:cNvSpPr txBox="1"/>
          <p:nvPr>
            <p:ph idx="1" type="body"/>
          </p:nvPr>
        </p:nvSpPr>
        <p:spPr>
          <a:xfrm>
            <a:off x="722313" y="2906713"/>
            <a:ext cx="7772400" cy="15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5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5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5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6"/>
          <p:cNvSpPr txBox="1"/>
          <p:nvPr>
            <p:ph idx="1" type="body"/>
          </p:nvPr>
        </p:nvSpPr>
        <p:spPr>
          <a:xfrm>
            <a:off x="457200" y="1600200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26"/>
          <p:cNvSpPr txBox="1"/>
          <p:nvPr>
            <p:ph idx="2" type="body"/>
          </p:nvPr>
        </p:nvSpPr>
        <p:spPr>
          <a:xfrm>
            <a:off x="4648200" y="1600200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26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6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6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7"/>
          <p:cNvSpPr txBox="1"/>
          <p:nvPr>
            <p:ph idx="1" type="body"/>
          </p:nvPr>
        </p:nvSpPr>
        <p:spPr>
          <a:xfrm>
            <a:off x="457200" y="1535113"/>
            <a:ext cx="40401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7"/>
          <p:cNvSpPr txBox="1"/>
          <p:nvPr>
            <p:ph idx="2" type="body"/>
          </p:nvPr>
        </p:nvSpPr>
        <p:spPr>
          <a:xfrm>
            <a:off x="457200" y="2174875"/>
            <a:ext cx="4040100" cy="3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7"/>
          <p:cNvSpPr txBox="1"/>
          <p:nvPr>
            <p:ph idx="3" type="body"/>
          </p:nvPr>
        </p:nvSpPr>
        <p:spPr>
          <a:xfrm>
            <a:off x="4645025" y="1535113"/>
            <a:ext cx="40419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7"/>
          <p:cNvSpPr txBox="1"/>
          <p:nvPr>
            <p:ph idx="4" type="body"/>
          </p:nvPr>
        </p:nvSpPr>
        <p:spPr>
          <a:xfrm>
            <a:off x="4645025" y="2174875"/>
            <a:ext cx="4041900" cy="3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7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7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7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8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8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8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9"/>
          <p:cNvSpPr txBox="1"/>
          <p:nvPr>
            <p:ph type="title"/>
          </p:nvPr>
        </p:nvSpPr>
        <p:spPr>
          <a:xfrm>
            <a:off x="457200" y="273050"/>
            <a:ext cx="3008400" cy="1162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9"/>
          <p:cNvSpPr txBox="1"/>
          <p:nvPr>
            <p:ph idx="1" type="body"/>
          </p:nvPr>
        </p:nvSpPr>
        <p:spPr>
          <a:xfrm>
            <a:off x="3575050" y="273050"/>
            <a:ext cx="5111700" cy="58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9"/>
          <p:cNvSpPr txBox="1"/>
          <p:nvPr>
            <p:ph idx="2" type="body"/>
          </p:nvPr>
        </p:nvSpPr>
        <p:spPr>
          <a:xfrm>
            <a:off x="457200" y="1435100"/>
            <a:ext cx="3008400" cy="46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9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9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9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0"/>
          <p:cNvSpPr txBox="1"/>
          <p:nvPr>
            <p:ph type="title"/>
          </p:nvPr>
        </p:nvSpPr>
        <p:spPr>
          <a:xfrm>
            <a:off x="1792288" y="4800600"/>
            <a:ext cx="5486400" cy="566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0"/>
          <p:cNvSpPr txBox="1"/>
          <p:nvPr>
            <p:ph idx="1" type="body"/>
          </p:nvPr>
        </p:nvSpPr>
        <p:spPr>
          <a:xfrm>
            <a:off x="1792288" y="5367338"/>
            <a:ext cx="5486400" cy="8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30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0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0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1"/>
          <p:cNvSpPr txBox="1"/>
          <p:nvPr>
            <p:ph idx="1" type="body"/>
          </p:nvPr>
        </p:nvSpPr>
        <p:spPr>
          <a:xfrm rot="5400000">
            <a:off x="2308950" y="-251550"/>
            <a:ext cx="4526100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31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1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1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2"/>
          <p:cNvSpPr txBox="1"/>
          <p:nvPr>
            <p:ph type="title"/>
          </p:nvPr>
        </p:nvSpPr>
        <p:spPr>
          <a:xfrm rot="5400000">
            <a:off x="4732350" y="2171688"/>
            <a:ext cx="585150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2"/>
          <p:cNvSpPr txBox="1"/>
          <p:nvPr>
            <p:ph idx="1" type="body"/>
          </p:nvPr>
        </p:nvSpPr>
        <p:spPr>
          <a:xfrm rot="5400000">
            <a:off x="541350" y="190488"/>
            <a:ext cx="5851500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32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2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2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1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1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1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1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Relationship Id="rId4" Type="http://schemas.openxmlformats.org/officeDocument/2006/relationships/image" Target="../media/image1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image" Target="../media/image1.png"/><Relationship Id="rId6" Type="http://schemas.openxmlformats.org/officeDocument/2006/relationships/hyperlink" Target="https://docs.micropython.org/en/v1.15/library/utime.html?utm_source=chatgpt.com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image" Target="../media/image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image" Target="../media/image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image" Target="../media/image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image" Target="../media/image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1.png"/><Relationship Id="rId4" Type="http://schemas.openxmlformats.org/officeDocument/2006/relationships/image" Target="../media/image1.png"/><Relationship Id="rId5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/>
          <p:nvPr/>
        </p:nvSpPr>
        <p:spPr>
          <a:xfrm>
            <a:off x="7561289" y="8666140"/>
            <a:ext cx="3165421" cy="809423"/>
          </a:xfrm>
          <a:custGeom>
            <a:rect b="b" l="l" r="r" t="t"/>
            <a:pathLst>
              <a:path extrusionOk="0" h="809423" w="3165421">
                <a:moveTo>
                  <a:pt x="0" y="0"/>
                </a:moveTo>
                <a:lnTo>
                  <a:pt x="3165422" y="0"/>
                </a:lnTo>
                <a:lnTo>
                  <a:pt x="3165422" y="809423"/>
                </a:lnTo>
                <a:lnTo>
                  <a:pt x="0" y="8094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4374310" y="4404300"/>
            <a:ext cx="9691800" cy="11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624"/>
              <a:buFont typeface="Arial"/>
              <a:buNone/>
            </a:pPr>
            <a:r>
              <a:rPr b="1" lang="en-US" sz="762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MICROPYTHON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"/>
          <p:cNvSpPr txBox="1"/>
          <p:nvPr/>
        </p:nvSpPr>
        <p:spPr>
          <a:xfrm>
            <a:off x="7422396" y="962025"/>
            <a:ext cx="333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Professores:</a:t>
            </a:r>
            <a:endParaRPr b="1" i="0" sz="24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8" name="Google Shape;88;p1"/>
          <p:cNvSpPr txBox="1"/>
          <p:nvPr/>
        </p:nvSpPr>
        <p:spPr>
          <a:xfrm>
            <a:off x="5977797" y="1499350"/>
            <a:ext cx="6332400" cy="14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Celso Giusti</a:t>
            </a:r>
            <a:endParaRPr b="0" i="0" sz="24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Daniel Manoel Filho</a:t>
            </a:r>
            <a:endParaRPr b="0" i="0" sz="24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Marlon Palata Fanger Rodrigues</a:t>
            </a:r>
            <a:endParaRPr b="0" i="0" sz="24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5562c88707_0_0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g35562c88707_0_0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g35562c88707_0_0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6" name="Google Shape;96;g35562c88707_0_0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97" name="Google Shape;97;g35562c88707_0_0"/>
          <p:cNvGrpSpPr/>
          <p:nvPr/>
        </p:nvGrpSpPr>
        <p:grpSpPr>
          <a:xfrm>
            <a:off x="1038175" y="2946624"/>
            <a:ext cx="16211658" cy="7299925"/>
            <a:chOff x="0" y="-38100"/>
            <a:chExt cx="4269709" cy="2000418"/>
          </a:xfrm>
        </p:grpSpPr>
        <p:sp>
          <p:nvSpPr>
            <p:cNvPr id="98" name="Google Shape;98;g35562c88707_0_0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" name="Google Shape;99;g35562c88707_0_0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0" name="Google Shape;100;g35562c88707_0_0"/>
          <p:cNvSpPr txBox="1"/>
          <p:nvPr/>
        </p:nvSpPr>
        <p:spPr>
          <a:xfrm>
            <a:off x="2043300" y="1189050"/>
            <a:ext cx="160716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O que é MicroPython?</a:t>
            </a:r>
            <a:endParaRPr b="1" sz="6000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1" name="Google Shape;101;g35562c88707_0_0"/>
          <p:cNvSpPr txBox="1"/>
          <p:nvPr/>
        </p:nvSpPr>
        <p:spPr>
          <a:xfrm>
            <a:off x="1685075" y="3313553"/>
            <a:ext cx="14443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2" name="Google Shape;102;g35562c88707_0_0"/>
          <p:cNvSpPr txBox="1"/>
          <p:nvPr/>
        </p:nvSpPr>
        <p:spPr>
          <a:xfrm>
            <a:off x="2043295" y="962025"/>
            <a:ext cx="2681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MICROPYTHON</a:t>
            </a:r>
            <a:endParaRPr b="1" sz="2000">
              <a:solidFill>
                <a:srgbClr val="D9383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3" name="Google Shape;103;g35562c88707_0_0"/>
          <p:cNvSpPr txBox="1"/>
          <p:nvPr/>
        </p:nvSpPr>
        <p:spPr>
          <a:xfrm>
            <a:off x="1685075" y="3313553"/>
            <a:ext cx="14443800" cy="58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E a versão leve do Python 3 que roda em placas como: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"/>
              <a:buChar char="●"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ESP32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"/>
              <a:buChar char="●"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ESP8266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"/>
              <a:buChar char="●"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Raspberry Pi Pico.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latin typeface="Poppins"/>
                <a:ea typeface="Poppins"/>
                <a:cs typeface="Poppins"/>
                <a:sym typeface="Poppins"/>
              </a:rPr>
              <a:t>Uso:</a:t>
            </a: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 Ideal para projetos de automação, sensores, motores, LEDs, IoT e sistemas embarcados.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latin typeface="Poppins"/>
                <a:ea typeface="Poppins"/>
                <a:cs typeface="Poppins"/>
                <a:sym typeface="Poppins"/>
              </a:rPr>
              <a:t>Vantagem:</a:t>
            </a: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 Código enxuto, fácil de aprender, funciona</a:t>
            </a:r>
            <a:r>
              <a:rPr b="1" lang="en-US" sz="2400">
                <a:latin typeface="Poppins"/>
                <a:ea typeface="Poppins"/>
                <a:cs typeface="Poppins"/>
                <a:sym typeface="Poppins"/>
              </a:rPr>
              <a:t> direto no microcontrolador.</a:t>
            </a:r>
            <a:endParaRPr b="1"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latin typeface="Poppins"/>
                <a:ea typeface="Poppins"/>
                <a:cs typeface="Poppins"/>
                <a:sym typeface="Poppins"/>
              </a:rPr>
              <a:t>DOCUMENTAÇÃO:</a:t>
            </a:r>
            <a:endParaRPr b="1"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 u="sng">
                <a:solidFill>
                  <a:schemeClr val="hlink"/>
                </a:solidFill>
                <a:latin typeface="Poppins"/>
                <a:ea typeface="Poppins"/>
                <a:cs typeface="Poppins"/>
                <a:sym typeface="Poppins"/>
                <a:hlinkClick r:id="rId6"/>
              </a:rPr>
              <a:t>https://docs.micropython.org/en/v1.15/library/</a:t>
            </a:r>
            <a:endParaRPr b="1" sz="240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55b241f1ff_0_8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g355b241f1ff_0_8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g355b241f1ff_0_8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1" name="Google Shape;111;g355b241f1ff_0_8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12" name="Google Shape;112;g355b241f1ff_0_8"/>
          <p:cNvGrpSpPr/>
          <p:nvPr/>
        </p:nvGrpSpPr>
        <p:grpSpPr>
          <a:xfrm>
            <a:off x="1038175" y="2946624"/>
            <a:ext cx="16211658" cy="7299925"/>
            <a:chOff x="0" y="-38100"/>
            <a:chExt cx="4269709" cy="2000418"/>
          </a:xfrm>
        </p:grpSpPr>
        <p:sp>
          <p:nvSpPr>
            <p:cNvPr id="113" name="Google Shape;113;g355b241f1ff_0_8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" name="Google Shape;114;g355b241f1ff_0_8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5" name="Google Shape;115;g355b241f1ff_0_8"/>
          <p:cNvSpPr txBox="1"/>
          <p:nvPr/>
        </p:nvSpPr>
        <p:spPr>
          <a:xfrm>
            <a:off x="2043300" y="1189050"/>
            <a:ext cx="151131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Módulos/</a:t>
            </a: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Bibliotecas</a:t>
            </a: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 Padrão Micropython</a:t>
            </a:r>
            <a:endParaRPr b="1" sz="6000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6" name="Google Shape;116;g355b241f1ff_0_8"/>
          <p:cNvSpPr txBox="1"/>
          <p:nvPr/>
        </p:nvSpPr>
        <p:spPr>
          <a:xfrm>
            <a:off x="1685075" y="3313553"/>
            <a:ext cx="14443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7" name="Google Shape;117;g355b241f1ff_0_8"/>
          <p:cNvSpPr txBox="1"/>
          <p:nvPr/>
        </p:nvSpPr>
        <p:spPr>
          <a:xfrm>
            <a:off x="2043295" y="962025"/>
            <a:ext cx="2681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MICROPYTHON</a:t>
            </a:r>
            <a:endParaRPr b="1" sz="2000">
              <a:solidFill>
                <a:srgbClr val="D9383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8" name="Google Shape;118;g355b241f1ff_0_8"/>
          <p:cNvSpPr txBox="1"/>
          <p:nvPr/>
        </p:nvSpPr>
        <p:spPr>
          <a:xfrm>
            <a:off x="1685075" y="3313553"/>
            <a:ext cx="14443800" cy="461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No </a:t>
            </a:r>
            <a:r>
              <a:rPr b="1" lang="en-US" sz="2400">
                <a:latin typeface="Poppins"/>
                <a:ea typeface="Poppins"/>
                <a:cs typeface="Poppins"/>
                <a:sym typeface="Poppins"/>
              </a:rPr>
              <a:t>MicroPython</a:t>
            </a: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b="1" lang="en-US" sz="2400">
                <a:latin typeface="Poppins"/>
                <a:ea typeface="Poppins"/>
                <a:cs typeface="Poppins"/>
                <a:sym typeface="Poppins"/>
              </a:rPr>
              <a:t>bibliotecas </a:t>
            </a: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são conjuntos de funções e classes prontas que facilitam o uso de recursos específicos do microcontrolador, como manipulação de tempo, matemática, controle de hardware (pinos, sensores), entre outros.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Vamos iniciar nessa aula com dois dos mais importantes Módulos/bibliotecas: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"/>
              <a:buChar char="●"/>
            </a:pPr>
            <a:r>
              <a:rPr b="1" lang="en-US" sz="2400">
                <a:latin typeface="Poppins"/>
                <a:ea typeface="Poppins"/>
                <a:cs typeface="Poppins"/>
                <a:sym typeface="Poppins"/>
              </a:rPr>
              <a:t>Machine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	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"/>
              <a:buChar char="●"/>
            </a:pPr>
            <a:r>
              <a:rPr b="1" lang="en-US" sz="2400">
                <a:latin typeface="Poppins"/>
                <a:ea typeface="Poppins"/>
                <a:cs typeface="Poppins"/>
                <a:sym typeface="Poppins"/>
              </a:rPr>
              <a:t>utime (ou time)</a:t>
            </a:r>
            <a:endParaRPr b="1"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5562c88707_0_14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g35562c88707_0_14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5" name="Google Shape;125;g35562c88707_0_14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26" name="Google Shape;126;g35562c88707_0_14"/>
          <p:cNvGrpSpPr/>
          <p:nvPr/>
        </p:nvGrpSpPr>
        <p:grpSpPr>
          <a:xfrm>
            <a:off x="1038175" y="2946624"/>
            <a:ext cx="16211658" cy="7299925"/>
            <a:chOff x="0" y="-38100"/>
            <a:chExt cx="4269709" cy="2000418"/>
          </a:xfrm>
        </p:grpSpPr>
        <p:sp>
          <p:nvSpPr>
            <p:cNvPr id="127" name="Google Shape;127;g35562c88707_0_14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" name="Google Shape;128;g35562c88707_0_14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9" name="Google Shape;129;g35562c88707_0_14"/>
          <p:cNvSpPr txBox="1"/>
          <p:nvPr/>
        </p:nvSpPr>
        <p:spPr>
          <a:xfrm>
            <a:off x="2043300" y="1189050"/>
            <a:ext cx="152064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Módulos/Bibliotecas Padrão Micropython: Machine</a:t>
            </a:r>
            <a:endParaRPr b="1" sz="6000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0" name="Google Shape;130;g35562c88707_0_14"/>
          <p:cNvSpPr txBox="1"/>
          <p:nvPr/>
        </p:nvSpPr>
        <p:spPr>
          <a:xfrm>
            <a:off x="1685075" y="3313553"/>
            <a:ext cx="14443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1" name="Google Shape;131;g35562c88707_0_14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g35562c88707_0_14"/>
          <p:cNvSpPr txBox="1"/>
          <p:nvPr/>
        </p:nvSpPr>
        <p:spPr>
          <a:xfrm>
            <a:off x="2043295" y="962025"/>
            <a:ext cx="2681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MICROPYTHON</a:t>
            </a:r>
            <a:endParaRPr b="1" sz="2000">
              <a:solidFill>
                <a:srgbClr val="D9383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3" name="Google Shape;133;g35562c88707_0_14"/>
          <p:cNvSpPr txBox="1"/>
          <p:nvPr/>
        </p:nvSpPr>
        <p:spPr>
          <a:xfrm>
            <a:off x="1685075" y="3313553"/>
            <a:ext cx="144438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4" name="Google Shape;134;g35562c88707_0_14"/>
          <p:cNvSpPr txBox="1"/>
          <p:nvPr/>
        </p:nvSpPr>
        <p:spPr>
          <a:xfrm>
            <a:off x="1685075" y="3313553"/>
            <a:ext cx="14443800" cy="51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O </a:t>
            </a:r>
            <a:r>
              <a:rPr b="1" lang="en-US" sz="2400">
                <a:latin typeface="Poppins"/>
                <a:ea typeface="Poppins"/>
                <a:cs typeface="Poppins"/>
                <a:sym typeface="Poppins"/>
              </a:rPr>
              <a:t>Módulo</a:t>
            </a: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/</a:t>
            </a:r>
            <a:r>
              <a:rPr b="1" lang="en-US" sz="2400">
                <a:latin typeface="Poppins"/>
                <a:ea typeface="Poppins"/>
                <a:cs typeface="Poppins"/>
                <a:sym typeface="Poppins"/>
              </a:rPr>
              <a:t>biblioteca Machine </a:t>
            </a: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é uma das mais importantes no </a:t>
            </a:r>
            <a:r>
              <a:rPr b="1" lang="en-US" sz="2400">
                <a:latin typeface="Poppins"/>
                <a:ea typeface="Poppins"/>
                <a:cs typeface="Poppins"/>
                <a:sym typeface="Poppins"/>
              </a:rPr>
              <a:t>MicroPython</a:t>
            </a: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. Ela permite acesso direto ao hardware da placa, como </a:t>
            </a:r>
            <a:r>
              <a:rPr b="1" lang="en-US" sz="2400">
                <a:latin typeface="Poppins"/>
                <a:ea typeface="Poppins"/>
                <a:cs typeface="Poppins"/>
                <a:sym typeface="Poppins"/>
              </a:rPr>
              <a:t>pinos</a:t>
            </a: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: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"/>
              <a:buChar char="●"/>
            </a:pPr>
            <a:r>
              <a:rPr b="1" lang="en-US" sz="2400">
                <a:latin typeface="Poppins"/>
                <a:ea typeface="Poppins"/>
                <a:cs typeface="Poppins"/>
                <a:sym typeface="Poppins"/>
              </a:rPr>
              <a:t>GPIO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"/>
              <a:buChar char="●"/>
            </a:pPr>
            <a:r>
              <a:rPr b="1" lang="en-US" sz="2400">
                <a:latin typeface="Poppins"/>
                <a:ea typeface="Poppins"/>
                <a:cs typeface="Poppins"/>
                <a:sym typeface="Poppins"/>
              </a:rPr>
              <a:t>ADC </a:t>
            </a: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(conversão analógica)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"/>
              <a:buChar char="●"/>
            </a:pPr>
            <a:r>
              <a:rPr b="1" lang="en-US" sz="2400">
                <a:latin typeface="Poppins"/>
                <a:ea typeface="Poppins"/>
                <a:cs typeface="Poppins"/>
                <a:sym typeface="Poppins"/>
              </a:rPr>
              <a:t>PWM </a:t>
            </a: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(modulação por largura de pulso)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"/>
              <a:buChar char="●"/>
            </a:pPr>
            <a:r>
              <a:rPr b="1" lang="en-US" sz="2400">
                <a:latin typeface="Poppins"/>
                <a:ea typeface="Poppins"/>
                <a:cs typeface="Poppins"/>
                <a:sym typeface="Poppins"/>
              </a:rPr>
              <a:t>Comunicação</a:t>
            </a: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: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-3810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"/>
              <a:buChar char="○"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I2C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-3810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"/>
              <a:buChar char="○"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SPI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-3810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"/>
              <a:buChar char="○"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UART</a:t>
            </a:r>
            <a:endParaRPr b="1"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5562c88707_0_29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g35562c88707_0_29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1" name="Google Shape;141;g35562c88707_0_29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42" name="Google Shape;142;g35562c88707_0_29"/>
          <p:cNvGrpSpPr/>
          <p:nvPr/>
        </p:nvGrpSpPr>
        <p:grpSpPr>
          <a:xfrm>
            <a:off x="1038175" y="2946624"/>
            <a:ext cx="16211658" cy="7299925"/>
            <a:chOff x="0" y="-38100"/>
            <a:chExt cx="4269709" cy="2000418"/>
          </a:xfrm>
        </p:grpSpPr>
        <p:sp>
          <p:nvSpPr>
            <p:cNvPr id="143" name="Google Shape;143;g35562c88707_0_29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" name="Google Shape;144;g35562c88707_0_29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5" name="Google Shape;145;g35562c88707_0_29"/>
          <p:cNvSpPr txBox="1"/>
          <p:nvPr/>
        </p:nvSpPr>
        <p:spPr>
          <a:xfrm>
            <a:off x="2043300" y="1189050"/>
            <a:ext cx="15206400" cy="27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Módulos/Bibliotecas Padrão Micropython: Machine</a:t>
            </a:r>
            <a:endParaRPr b="1" i="0" sz="6000" u="none" cap="none" strike="noStrike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t/>
            </a:r>
            <a:endParaRPr b="1" i="0" sz="6000" u="none" cap="none" strike="noStrike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6" name="Google Shape;146;g35562c88707_0_29"/>
          <p:cNvSpPr txBox="1"/>
          <p:nvPr/>
        </p:nvSpPr>
        <p:spPr>
          <a:xfrm>
            <a:off x="1685075" y="3313553"/>
            <a:ext cx="14443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7" name="Google Shape;147;g35562c88707_0_29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g35562c88707_0_29"/>
          <p:cNvSpPr txBox="1"/>
          <p:nvPr/>
        </p:nvSpPr>
        <p:spPr>
          <a:xfrm>
            <a:off x="2043295" y="962025"/>
            <a:ext cx="2681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MICROPYTHON</a:t>
            </a:r>
            <a:endParaRPr b="1" i="0" sz="2000" u="none" cap="none" strike="noStrike">
              <a:solidFill>
                <a:srgbClr val="D9383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9" name="Google Shape;149;g35562c88707_0_29"/>
          <p:cNvSpPr txBox="1"/>
          <p:nvPr/>
        </p:nvSpPr>
        <p:spPr>
          <a:xfrm>
            <a:off x="1685075" y="3313553"/>
            <a:ext cx="144438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0" name="Google Shape;150;g35562c88707_0_29"/>
          <p:cNvSpPr txBox="1"/>
          <p:nvPr/>
        </p:nvSpPr>
        <p:spPr>
          <a:xfrm>
            <a:off x="1782300" y="3313550"/>
            <a:ext cx="14723400" cy="672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93831"/>
              </a:buClr>
              <a:buSzPts val="2400"/>
              <a:buFont typeface="Poppins"/>
              <a:buAutoNum type="arabicPeriod"/>
            </a:pPr>
            <a:r>
              <a:rPr b="1" lang="en-US" sz="24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GPIO (Pin, IN e OUT)</a:t>
            </a:r>
            <a:endParaRPr b="1" sz="2400">
              <a:solidFill>
                <a:srgbClr val="D9383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"/>
              <a:buChar char="●"/>
            </a:pPr>
            <a:r>
              <a:rPr b="1" lang="en-US" sz="2400">
                <a:latin typeface="Poppins"/>
                <a:ea typeface="Poppins"/>
                <a:cs typeface="Poppins"/>
                <a:sym typeface="Poppins"/>
              </a:rPr>
              <a:t>O que é?: </a:t>
            </a: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São pinos digitais configuráveis como entrada (IN) ou saída (OUT).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"/>
              <a:buChar char="●"/>
            </a:pPr>
            <a:r>
              <a:rPr b="1" lang="en-US" sz="2400">
                <a:latin typeface="Poppins"/>
                <a:ea typeface="Poppins"/>
                <a:cs typeface="Poppins"/>
                <a:sym typeface="Poppins"/>
              </a:rPr>
              <a:t>Por que usar?: </a:t>
            </a: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Permite interagir com componentes eletrônicos, como botões, LEDs e sensores.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-US" sz="2400">
                <a:latin typeface="Poppins"/>
                <a:ea typeface="Poppins"/>
                <a:cs typeface="Poppins"/>
                <a:sym typeface="Poppins"/>
              </a:rPr>
              <a:t>Exemplo:  </a:t>
            </a: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               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-US" sz="2300">
                <a:latin typeface="Poppins"/>
                <a:ea typeface="Poppins"/>
                <a:cs typeface="Poppins"/>
                <a:sym typeface="Poppins"/>
              </a:rPr>
              <a:t>#Importa o comando Pin originando-se do módulo Machine</a:t>
            </a:r>
            <a:endParaRPr b="1" sz="23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from </a:t>
            </a:r>
            <a:r>
              <a:rPr b="1" lang="en-US" sz="2400">
                <a:latin typeface="Poppins"/>
                <a:ea typeface="Poppins"/>
                <a:cs typeface="Poppins"/>
                <a:sym typeface="Poppins"/>
              </a:rPr>
              <a:t>machine </a:t>
            </a: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import </a:t>
            </a:r>
            <a:r>
              <a:rPr b="1" lang="en-US" sz="2400">
                <a:latin typeface="Poppins"/>
                <a:ea typeface="Poppins"/>
                <a:cs typeface="Poppins"/>
                <a:sym typeface="Poppins"/>
              </a:rPr>
              <a:t>Pin</a:t>
            </a:r>
            <a:endParaRPr b="1"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led = Pin(15, Pin.OUT)</a:t>
            </a:r>
            <a:r>
              <a:rPr b="1" lang="en-US" sz="2300">
                <a:latin typeface="Poppins"/>
                <a:ea typeface="Poppins"/>
                <a:cs typeface="Poppins"/>
                <a:sym typeface="Poppins"/>
              </a:rPr>
              <a:t> #Define o LED e sua respectiva porta</a:t>
            </a:r>
            <a:endParaRPr b="1" sz="23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led.value(1) </a:t>
            </a:r>
            <a:r>
              <a:rPr b="1" lang="en-US" sz="2300">
                <a:latin typeface="Poppins"/>
                <a:ea typeface="Poppins"/>
                <a:cs typeface="Poppins"/>
                <a:sym typeface="Poppins"/>
              </a:rPr>
              <a:t> # Liga o LED</a:t>
            </a:r>
            <a:endParaRPr b="1" sz="23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sz="240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5562c88707_0_44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g35562c88707_0_44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7" name="Google Shape;157;g35562c88707_0_44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58" name="Google Shape;158;g35562c88707_0_44"/>
          <p:cNvGrpSpPr/>
          <p:nvPr/>
        </p:nvGrpSpPr>
        <p:grpSpPr>
          <a:xfrm>
            <a:off x="1038175" y="2946624"/>
            <a:ext cx="16211658" cy="7299925"/>
            <a:chOff x="0" y="-38100"/>
            <a:chExt cx="4269709" cy="2000418"/>
          </a:xfrm>
        </p:grpSpPr>
        <p:sp>
          <p:nvSpPr>
            <p:cNvPr id="159" name="Google Shape;159;g35562c88707_0_44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0" name="Google Shape;160;g35562c88707_0_44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1" name="Google Shape;161;g35562c88707_0_44"/>
          <p:cNvSpPr txBox="1"/>
          <p:nvPr/>
        </p:nvSpPr>
        <p:spPr>
          <a:xfrm>
            <a:off x="2043300" y="1189050"/>
            <a:ext cx="15206400" cy="27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Módulos/Bibliotecas Padrão Micropython</a:t>
            </a: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: Machine</a:t>
            </a:r>
            <a:endParaRPr b="1" i="0" sz="6000" u="none" cap="none" strike="noStrike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t/>
            </a:r>
            <a:endParaRPr b="1" i="0" sz="6000" u="none" cap="none" strike="noStrike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2" name="Google Shape;162;g35562c88707_0_44"/>
          <p:cNvSpPr txBox="1"/>
          <p:nvPr/>
        </p:nvSpPr>
        <p:spPr>
          <a:xfrm>
            <a:off x="1685075" y="3313553"/>
            <a:ext cx="14443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3" name="Google Shape;163;g35562c88707_0_44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g35562c88707_0_44"/>
          <p:cNvSpPr txBox="1"/>
          <p:nvPr/>
        </p:nvSpPr>
        <p:spPr>
          <a:xfrm>
            <a:off x="2043295" y="962025"/>
            <a:ext cx="2681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MICROPYTHON</a:t>
            </a:r>
            <a:endParaRPr b="1" i="0" sz="2000" u="none" cap="none" strike="noStrike">
              <a:solidFill>
                <a:srgbClr val="D9383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5" name="Google Shape;165;g35562c88707_0_44"/>
          <p:cNvSpPr txBox="1"/>
          <p:nvPr/>
        </p:nvSpPr>
        <p:spPr>
          <a:xfrm>
            <a:off x="1685075" y="3313553"/>
            <a:ext cx="144438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6" name="Google Shape;166;g35562c88707_0_44"/>
          <p:cNvSpPr txBox="1"/>
          <p:nvPr/>
        </p:nvSpPr>
        <p:spPr>
          <a:xfrm>
            <a:off x="1685075" y="3313553"/>
            <a:ext cx="14443800" cy="757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2. ADC (Conversor Analógico para Digital)</a:t>
            </a:r>
            <a:endParaRPr b="1" sz="2400">
              <a:solidFill>
                <a:srgbClr val="D9383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 que é?: 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Permite ler sinais analógicos (Ex: 0V a 3V) e converter esses valores em dados digitais (0 a 65535)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Por que usar?: 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Serve para medir grandezas variáveis, como luz, temperatura ou posição, e transformá-las em números compreensíveis pelo código.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Exemplo:  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             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lang="en-US" sz="2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#Importa o comando ADC originando-se do módulo Machine</a:t>
            </a:r>
            <a:endParaRPr b="1" sz="23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from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machine 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import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ADC</a:t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sensor = ADC(26) </a:t>
            </a:r>
            <a:r>
              <a:rPr b="1" lang="en-US" sz="2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# Declara o sensor e sua respectiva porta</a:t>
            </a:r>
            <a:endParaRPr b="1" sz="23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valor = sensor.read_u16() </a:t>
            </a:r>
            <a:r>
              <a:rPr b="1" lang="en-US" sz="2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# Armazena o valor lido no sensor</a:t>
            </a:r>
            <a:endParaRPr b="1" sz="23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print(valor)  </a:t>
            </a:r>
            <a:r>
              <a:rPr b="1" lang="en-US" sz="2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# Exibe valor entre 0 e 65535</a:t>
            </a:r>
            <a:endParaRPr b="1" sz="23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sz="240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5562c88707_0_59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g35562c88707_0_59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3" name="Google Shape;173;g35562c88707_0_59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74" name="Google Shape;174;g35562c88707_0_59"/>
          <p:cNvGrpSpPr/>
          <p:nvPr/>
        </p:nvGrpSpPr>
        <p:grpSpPr>
          <a:xfrm>
            <a:off x="1038175" y="2946624"/>
            <a:ext cx="16211658" cy="7299925"/>
            <a:chOff x="0" y="-38100"/>
            <a:chExt cx="4269709" cy="2000418"/>
          </a:xfrm>
        </p:grpSpPr>
        <p:sp>
          <p:nvSpPr>
            <p:cNvPr id="175" name="Google Shape;175;g35562c88707_0_59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6" name="Google Shape;176;g35562c88707_0_59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7" name="Google Shape;177;g35562c88707_0_59"/>
          <p:cNvSpPr txBox="1"/>
          <p:nvPr/>
        </p:nvSpPr>
        <p:spPr>
          <a:xfrm>
            <a:off x="2043300" y="1189050"/>
            <a:ext cx="15206400" cy="27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Módulos/Bibliotecas Padrão Micropython</a:t>
            </a: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: Machine</a:t>
            </a:r>
            <a:endParaRPr b="1" i="0" sz="6000" u="none" cap="none" strike="noStrike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t/>
            </a:r>
            <a:endParaRPr b="1" i="0" sz="6000" u="none" cap="none" strike="noStrike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8" name="Google Shape;178;g35562c88707_0_59"/>
          <p:cNvSpPr txBox="1"/>
          <p:nvPr/>
        </p:nvSpPr>
        <p:spPr>
          <a:xfrm>
            <a:off x="1685075" y="3313553"/>
            <a:ext cx="14443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9" name="Google Shape;179;g35562c88707_0_59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g35562c88707_0_59"/>
          <p:cNvSpPr txBox="1"/>
          <p:nvPr/>
        </p:nvSpPr>
        <p:spPr>
          <a:xfrm>
            <a:off x="2043295" y="962025"/>
            <a:ext cx="2681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MICROPYTHON</a:t>
            </a:r>
            <a:endParaRPr b="1" i="0" sz="2000" u="none" cap="none" strike="noStrike">
              <a:solidFill>
                <a:srgbClr val="D9383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1" name="Google Shape;181;g35562c88707_0_59"/>
          <p:cNvSpPr txBox="1"/>
          <p:nvPr/>
        </p:nvSpPr>
        <p:spPr>
          <a:xfrm>
            <a:off x="1685075" y="3313553"/>
            <a:ext cx="144438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2" name="Google Shape;182;g35562c88707_0_59"/>
          <p:cNvSpPr txBox="1"/>
          <p:nvPr/>
        </p:nvSpPr>
        <p:spPr>
          <a:xfrm>
            <a:off x="1685075" y="3313550"/>
            <a:ext cx="14443800" cy="71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3. PWM (Sinal de modulação por largura de pulso)</a:t>
            </a:r>
            <a:endParaRPr b="1" sz="2400">
              <a:solidFill>
                <a:srgbClr val="D9383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 que é?: 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Simula uma saída analógica usando um sinal digital que oscila rapidamente.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Por que usar?: 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Ideal para controlar a intensidade de LEDs, velocidade de motores ou posição de servos.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Exemplo:  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             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from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machine 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import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Pin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PWM</a:t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led = PWM(Pin(15)) </a:t>
            </a:r>
            <a:r>
              <a:rPr b="1" lang="en-US" sz="2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# Define o LED e sua respectiva porta, porém o pino sendo PWM</a:t>
            </a:r>
            <a:endParaRPr b="1" sz="23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led.freq(1000) </a:t>
            </a:r>
            <a:r>
              <a:rPr b="1" lang="en-US" sz="2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# Define a frequência que será manipulada</a:t>
            </a:r>
            <a:endParaRPr b="1" sz="23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led.duty_u16(32768)  </a:t>
            </a:r>
            <a:r>
              <a:rPr b="1" lang="en-US" sz="2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# 50% do brilho</a:t>
            </a:r>
            <a:endParaRPr b="1" sz="23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sz="240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5562c88707_0_74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g35562c88707_0_74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9" name="Google Shape;189;g35562c88707_0_74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90" name="Google Shape;190;g35562c88707_0_74"/>
          <p:cNvGrpSpPr/>
          <p:nvPr/>
        </p:nvGrpSpPr>
        <p:grpSpPr>
          <a:xfrm>
            <a:off x="1038175" y="2946624"/>
            <a:ext cx="16211658" cy="7299925"/>
            <a:chOff x="0" y="-38100"/>
            <a:chExt cx="4269709" cy="2000418"/>
          </a:xfrm>
        </p:grpSpPr>
        <p:sp>
          <p:nvSpPr>
            <p:cNvPr id="191" name="Google Shape;191;g35562c88707_0_74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2" name="Google Shape;192;g35562c88707_0_74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3" name="Google Shape;193;g35562c88707_0_74"/>
          <p:cNvSpPr txBox="1"/>
          <p:nvPr/>
        </p:nvSpPr>
        <p:spPr>
          <a:xfrm>
            <a:off x="2043300" y="1189050"/>
            <a:ext cx="15206400" cy="27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Módulos/Bibliotecas Padrão Micropython</a:t>
            </a: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: Machine</a:t>
            </a:r>
            <a:endParaRPr b="1" i="0" sz="6000" u="none" cap="none" strike="noStrike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t/>
            </a:r>
            <a:endParaRPr b="1" i="0" sz="6000" u="none" cap="none" strike="noStrike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94" name="Google Shape;194;g35562c88707_0_74"/>
          <p:cNvSpPr txBox="1"/>
          <p:nvPr/>
        </p:nvSpPr>
        <p:spPr>
          <a:xfrm>
            <a:off x="1685075" y="3313553"/>
            <a:ext cx="14443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95" name="Google Shape;195;g35562c88707_0_74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g35562c88707_0_74"/>
          <p:cNvSpPr txBox="1"/>
          <p:nvPr/>
        </p:nvSpPr>
        <p:spPr>
          <a:xfrm>
            <a:off x="2043295" y="962025"/>
            <a:ext cx="2681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MICROPYTHON</a:t>
            </a:r>
            <a:endParaRPr b="1" i="0" sz="2000" u="none" cap="none" strike="noStrike">
              <a:solidFill>
                <a:srgbClr val="D9383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97" name="Google Shape;197;g35562c88707_0_74"/>
          <p:cNvSpPr txBox="1"/>
          <p:nvPr/>
        </p:nvSpPr>
        <p:spPr>
          <a:xfrm>
            <a:off x="1685075" y="3313553"/>
            <a:ext cx="144438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98" name="Google Shape;198;g35562c88707_0_74"/>
          <p:cNvSpPr txBox="1"/>
          <p:nvPr/>
        </p:nvSpPr>
        <p:spPr>
          <a:xfrm>
            <a:off x="1685075" y="3313550"/>
            <a:ext cx="15413400" cy="883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4. I2C – Comunicação Serial</a:t>
            </a:r>
            <a:endParaRPr b="1" sz="2400">
              <a:solidFill>
                <a:srgbClr val="D9383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"/>
              <a:buChar char="●"/>
            </a:pPr>
            <a:r>
              <a:rPr b="1" lang="en-US" sz="2400">
                <a:latin typeface="Poppins"/>
                <a:ea typeface="Poppins"/>
                <a:cs typeface="Poppins"/>
                <a:sym typeface="Poppins"/>
              </a:rPr>
              <a:t>O que é?: </a:t>
            </a: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Um protocolo de comunicação que usa apenas dois fios para conectar vários dispositivos.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"/>
              <a:buChar char="●"/>
            </a:pPr>
            <a:r>
              <a:rPr b="1" lang="en-US" sz="2400">
                <a:latin typeface="Poppins"/>
                <a:ea typeface="Poppins"/>
                <a:cs typeface="Poppins"/>
                <a:sym typeface="Poppins"/>
              </a:rPr>
              <a:t>Por que usar?: </a:t>
            </a: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É ideal quando você precisa conectar vários dispositivos (como sensores e displays) e não quer usar muitos pinos.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-3810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"/>
              <a:buChar char="○"/>
            </a:pPr>
            <a:r>
              <a:rPr b="1" lang="en-US" sz="2400">
                <a:latin typeface="Poppins"/>
                <a:ea typeface="Poppins"/>
                <a:cs typeface="Poppins"/>
                <a:sym typeface="Poppins"/>
              </a:rPr>
              <a:t>Exemplo de uso: </a:t>
            </a: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Conectar sensores de temperatura, displays LCD, ou EEPROMs.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from machine import I2C, Pin </a:t>
            </a:r>
            <a:r>
              <a:rPr b="1" lang="en-US" sz="2300">
                <a:latin typeface="Poppins"/>
                <a:ea typeface="Poppins"/>
                <a:cs typeface="Poppins"/>
                <a:sym typeface="Poppins"/>
              </a:rPr>
              <a:t> # Importa a classe I2C </a:t>
            </a:r>
            <a:endParaRPr b="1" sz="23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300">
                <a:latin typeface="Poppins"/>
                <a:ea typeface="Poppins"/>
                <a:cs typeface="Poppins"/>
                <a:sym typeface="Poppins"/>
              </a:rPr>
              <a:t># Define o pino 17 como SCL (clock) e o pino 16 como SDA (dados), frequencia definida como 400kHz</a:t>
            </a:r>
            <a:endParaRPr b="1" sz="23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i2c = I2C(0, scl=Pin(17), sda=Pin(16), freq=400000)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300">
                <a:latin typeface="Poppins"/>
                <a:ea typeface="Poppins"/>
                <a:cs typeface="Poppins"/>
                <a:sym typeface="Poppins"/>
              </a:rPr>
              <a:t># </a:t>
            </a:r>
            <a:r>
              <a:rPr b="1" lang="en-US" sz="2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Realiza uma varredura e</a:t>
            </a:r>
            <a:r>
              <a:rPr b="1" lang="en-US" sz="2300">
                <a:latin typeface="Poppins"/>
                <a:ea typeface="Poppins"/>
                <a:cs typeface="Poppins"/>
                <a:sym typeface="Poppins"/>
              </a:rPr>
              <a:t> r</a:t>
            </a:r>
            <a:r>
              <a:rPr b="1" lang="en-US" sz="2300">
                <a:latin typeface="Poppins"/>
                <a:ea typeface="Poppins"/>
                <a:cs typeface="Poppins"/>
                <a:sym typeface="Poppins"/>
              </a:rPr>
              <a:t>etorna uma lista com os endereços I2C encontrados</a:t>
            </a:r>
            <a:endParaRPr b="1" sz="23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dispositivos = i2c.scan()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print(dispositivos) </a:t>
            </a:r>
            <a:r>
              <a:rPr b="1" lang="en-US" sz="2300">
                <a:latin typeface="Poppins"/>
                <a:ea typeface="Poppins"/>
                <a:cs typeface="Poppins"/>
                <a:sym typeface="Poppins"/>
              </a:rPr>
              <a:t> # Exibe os endereços dos dispositivos encontrados</a:t>
            </a:r>
            <a:endParaRPr b="1" sz="23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sz="240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5562c88707_0_89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g35562c88707_0_89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5" name="Google Shape;205;g35562c88707_0_89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06" name="Google Shape;206;g35562c88707_0_89"/>
          <p:cNvGrpSpPr/>
          <p:nvPr/>
        </p:nvGrpSpPr>
        <p:grpSpPr>
          <a:xfrm>
            <a:off x="1038175" y="2946624"/>
            <a:ext cx="16211658" cy="7299925"/>
            <a:chOff x="0" y="-38100"/>
            <a:chExt cx="4269709" cy="2000418"/>
          </a:xfrm>
        </p:grpSpPr>
        <p:sp>
          <p:nvSpPr>
            <p:cNvPr id="207" name="Google Shape;207;g35562c88707_0_89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8" name="Google Shape;208;g35562c88707_0_89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9" name="Google Shape;209;g35562c88707_0_89"/>
          <p:cNvSpPr txBox="1"/>
          <p:nvPr/>
        </p:nvSpPr>
        <p:spPr>
          <a:xfrm>
            <a:off x="2043300" y="1189050"/>
            <a:ext cx="15206400" cy="27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Módulos/Bibliotecas Padrão Micropython</a:t>
            </a: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: Machine</a:t>
            </a:r>
            <a:endParaRPr b="1" i="0" sz="6000" u="none" cap="none" strike="noStrike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t/>
            </a:r>
            <a:endParaRPr b="1" i="0" sz="6000" u="none" cap="none" strike="noStrike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10" name="Google Shape;210;g35562c88707_0_89"/>
          <p:cNvSpPr txBox="1"/>
          <p:nvPr/>
        </p:nvSpPr>
        <p:spPr>
          <a:xfrm>
            <a:off x="1685075" y="3313553"/>
            <a:ext cx="14443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11" name="Google Shape;211;g35562c88707_0_89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g35562c88707_0_89"/>
          <p:cNvSpPr txBox="1"/>
          <p:nvPr/>
        </p:nvSpPr>
        <p:spPr>
          <a:xfrm>
            <a:off x="2043295" y="962025"/>
            <a:ext cx="2681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MICROPYTHON</a:t>
            </a:r>
            <a:endParaRPr b="1" i="0" sz="2000" u="none" cap="none" strike="noStrike">
              <a:solidFill>
                <a:srgbClr val="D9383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13" name="Google Shape;213;g35562c88707_0_89"/>
          <p:cNvSpPr txBox="1"/>
          <p:nvPr/>
        </p:nvSpPr>
        <p:spPr>
          <a:xfrm>
            <a:off x="1685075" y="3313553"/>
            <a:ext cx="144438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14" name="Google Shape;214;g35562c88707_0_89"/>
          <p:cNvSpPr txBox="1"/>
          <p:nvPr/>
        </p:nvSpPr>
        <p:spPr>
          <a:xfrm>
            <a:off x="1685075" y="3313550"/>
            <a:ext cx="15348300" cy="881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5. SPI – Comunicação SPI</a:t>
            </a:r>
            <a:endParaRPr b="1" sz="2400">
              <a:solidFill>
                <a:srgbClr val="D9383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"/>
              <a:buChar char="●"/>
            </a:pPr>
            <a:r>
              <a:rPr b="1" lang="en-US" sz="2400">
                <a:latin typeface="Poppins"/>
                <a:ea typeface="Poppins"/>
                <a:cs typeface="Poppins"/>
                <a:sym typeface="Poppins"/>
              </a:rPr>
              <a:t>O que é?:</a:t>
            </a: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 Um protocolo de comunicação que usa mais fios, mas é mais rápido que o I2C.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"/>
              <a:buChar char="●"/>
            </a:pPr>
            <a:r>
              <a:rPr b="1" lang="en-US" sz="2400">
                <a:latin typeface="Poppins"/>
                <a:ea typeface="Poppins"/>
                <a:cs typeface="Poppins"/>
                <a:sym typeface="Poppins"/>
              </a:rPr>
              <a:t>Por que usar?:</a:t>
            </a: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 Se você precisa de maior velocidade para comunicação, como em cartões SD ou displays mais complexos.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-3810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"/>
              <a:buChar char="○"/>
            </a:pPr>
            <a:r>
              <a:rPr b="1" lang="en-US" sz="2400">
                <a:latin typeface="Poppins"/>
                <a:ea typeface="Poppins"/>
                <a:cs typeface="Poppins"/>
                <a:sym typeface="Poppins"/>
              </a:rPr>
              <a:t>Exemplo de uso: </a:t>
            </a: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Cartões de memória, sensores rápidos e displays gráficos.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from machine import SPI, Pin  </a:t>
            </a:r>
            <a:r>
              <a:rPr b="1" lang="en-US" sz="2300">
                <a:latin typeface="Poppins"/>
                <a:ea typeface="Poppins"/>
                <a:cs typeface="Poppins"/>
                <a:sym typeface="Poppins"/>
              </a:rPr>
              <a:t># Importa a classe SPI</a:t>
            </a:r>
            <a:endParaRPr b="1" sz="23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00">
                <a:latin typeface="Poppins"/>
                <a:ea typeface="Poppins"/>
                <a:cs typeface="Poppins"/>
                <a:sym typeface="Poppins"/>
              </a:rPr>
              <a:t># baudrate = 1.000.000 bps (1 MHz), polarity = 0: sinal de clock, </a:t>
            </a:r>
            <a:endParaRPr b="1" sz="23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00">
                <a:latin typeface="Poppins"/>
                <a:ea typeface="Poppins"/>
                <a:cs typeface="Poppins"/>
                <a:sym typeface="Poppins"/>
              </a:rPr>
              <a:t>#phase = 0: dados são capturados na borda de subida do clock, </a:t>
            </a:r>
            <a:endParaRPr b="1" sz="23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300">
                <a:latin typeface="Poppins"/>
                <a:ea typeface="Poppins"/>
                <a:cs typeface="Poppins"/>
                <a:sym typeface="Poppins"/>
              </a:rPr>
              <a:t>#sck = pino 18 (clock), mosi = pino 19 (envio), miso = pino 16 (recebimento)</a:t>
            </a:r>
            <a:endParaRPr b="1" sz="23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spi = SPI(0, baudrate=1000000, polarity=0, phase=0, sck=Pin(18), mosi=Pin(19), miso=Pin(16))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sz="240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5562c88707_0_104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g35562c88707_0_104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1" name="Google Shape;221;g35562c88707_0_104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22" name="Google Shape;222;g35562c88707_0_104"/>
          <p:cNvGrpSpPr/>
          <p:nvPr/>
        </p:nvGrpSpPr>
        <p:grpSpPr>
          <a:xfrm>
            <a:off x="1038175" y="2946624"/>
            <a:ext cx="16211658" cy="7299925"/>
            <a:chOff x="0" y="-38100"/>
            <a:chExt cx="4269709" cy="2000418"/>
          </a:xfrm>
        </p:grpSpPr>
        <p:sp>
          <p:nvSpPr>
            <p:cNvPr id="223" name="Google Shape;223;g35562c88707_0_104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4" name="Google Shape;224;g35562c88707_0_104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5" name="Google Shape;225;g35562c88707_0_104"/>
          <p:cNvSpPr txBox="1"/>
          <p:nvPr/>
        </p:nvSpPr>
        <p:spPr>
          <a:xfrm>
            <a:off x="2043300" y="1189050"/>
            <a:ext cx="15206400" cy="27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Módulos/Bibliotecas Padrão Micropython</a:t>
            </a: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: Machine</a:t>
            </a:r>
            <a:endParaRPr b="1" i="0" sz="6000" u="none" cap="none" strike="noStrike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t/>
            </a:r>
            <a:endParaRPr b="1" i="0" sz="6000" u="none" cap="none" strike="noStrike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26" name="Google Shape;226;g35562c88707_0_104"/>
          <p:cNvSpPr txBox="1"/>
          <p:nvPr/>
        </p:nvSpPr>
        <p:spPr>
          <a:xfrm>
            <a:off x="1685075" y="3313553"/>
            <a:ext cx="14443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27" name="Google Shape;227;g35562c88707_0_104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g35562c88707_0_104"/>
          <p:cNvSpPr txBox="1"/>
          <p:nvPr/>
        </p:nvSpPr>
        <p:spPr>
          <a:xfrm>
            <a:off x="2043295" y="962025"/>
            <a:ext cx="2681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MICROPYTHON</a:t>
            </a:r>
            <a:endParaRPr b="1" i="0" sz="2000" u="none" cap="none" strike="noStrike">
              <a:solidFill>
                <a:srgbClr val="D9383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29" name="Google Shape;229;g35562c88707_0_104"/>
          <p:cNvSpPr txBox="1"/>
          <p:nvPr/>
        </p:nvSpPr>
        <p:spPr>
          <a:xfrm>
            <a:off x="1685075" y="3313553"/>
            <a:ext cx="144438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30" name="Google Shape;230;g35562c88707_0_104"/>
          <p:cNvSpPr txBox="1"/>
          <p:nvPr/>
        </p:nvSpPr>
        <p:spPr>
          <a:xfrm>
            <a:off x="1685075" y="3313550"/>
            <a:ext cx="14956800" cy="840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6. UART – Comunicação Serial Padrão</a:t>
            </a:r>
            <a:endParaRPr b="1" sz="2400">
              <a:solidFill>
                <a:srgbClr val="D9383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"/>
              <a:buChar char="●"/>
            </a:pPr>
            <a:r>
              <a:rPr b="1" lang="en-US" sz="2400">
                <a:latin typeface="Poppins"/>
                <a:ea typeface="Poppins"/>
                <a:cs typeface="Poppins"/>
                <a:sym typeface="Poppins"/>
              </a:rPr>
              <a:t>O que é?:</a:t>
            </a: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 Comunicação serial entre dois dispositivos, como um microcontrolador e um módulo Bluetooth.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"/>
              <a:buChar char="●"/>
            </a:pPr>
            <a:r>
              <a:rPr b="1" lang="en-US" sz="2400">
                <a:latin typeface="Poppins"/>
                <a:ea typeface="Poppins"/>
                <a:cs typeface="Poppins"/>
                <a:sym typeface="Poppins"/>
              </a:rPr>
              <a:t>Por que usar?: </a:t>
            </a: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Simples e direto, ótimo para enviar e receber dados entre dois dispositivos, sem complicação.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-3810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"/>
              <a:buChar char="○"/>
            </a:pPr>
            <a:r>
              <a:rPr b="1" lang="en-US" sz="2400">
                <a:latin typeface="Poppins"/>
                <a:ea typeface="Poppins"/>
                <a:cs typeface="Poppins"/>
                <a:sym typeface="Poppins"/>
              </a:rPr>
              <a:t>Exemplo de uso:</a:t>
            </a: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 Comunicação com módulos como Bluetooth, GPS ou conexão serial com o computador.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from machine import UART  </a:t>
            </a:r>
            <a:r>
              <a:rPr b="1" lang="en-US" sz="2300">
                <a:latin typeface="Poppins"/>
                <a:ea typeface="Poppins"/>
                <a:cs typeface="Poppins"/>
                <a:sym typeface="Poppins"/>
              </a:rPr>
              <a:t># Importa a classe UART da biblioteca machine</a:t>
            </a:r>
            <a:endParaRPr b="1" sz="23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00">
                <a:latin typeface="Poppins"/>
                <a:ea typeface="Poppins"/>
                <a:cs typeface="Poppins"/>
                <a:sym typeface="Poppins"/>
              </a:rPr>
              <a:t># Cria um objeto UART no canal 0 (existem dois UARTs: 0 e 1</a:t>
            </a:r>
            <a:r>
              <a:rPr b="1" lang="en-US" sz="2300">
                <a:latin typeface="Poppins"/>
                <a:ea typeface="Poppins"/>
                <a:cs typeface="Poppins"/>
                <a:sym typeface="Poppins"/>
              </a:rPr>
              <a:t>)</a:t>
            </a:r>
            <a:endParaRPr b="1" sz="23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uart = UART(0, baudrate=9600)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00">
                <a:latin typeface="Poppins"/>
                <a:ea typeface="Poppins"/>
                <a:cs typeface="Poppins"/>
                <a:sym typeface="Poppins"/>
              </a:rPr>
              <a:t># Envia uma mensagem pela UART</a:t>
            </a:r>
            <a:endParaRPr b="1" sz="23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uart.write('Olá, mundo!')  </a:t>
            </a:r>
            <a:r>
              <a:rPr b="1" lang="en-US" sz="2300">
                <a:latin typeface="Poppins"/>
                <a:ea typeface="Poppins"/>
                <a:cs typeface="Poppins"/>
                <a:sym typeface="Poppins"/>
              </a:rPr>
              <a:t># Transmite a string via porta serial (TX)</a:t>
            </a:r>
            <a:endParaRPr b="1" sz="23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sz="240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5562c88707_0_119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g35562c88707_0_119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7" name="Google Shape;237;g35562c88707_0_119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38" name="Google Shape;238;g35562c88707_0_119"/>
          <p:cNvGrpSpPr/>
          <p:nvPr/>
        </p:nvGrpSpPr>
        <p:grpSpPr>
          <a:xfrm>
            <a:off x="1038175" y="2946624"/>
            <a:ext cx="16211658" cy="7299925"/>
            <a:chOff x="0" y="-38100"/>
            <a:chExt cx="4269709" cy="2000418"/>
          </a:xfrm>
        </p:grpSpPr>
        <p:sp>
          <p:nvSpPr>
            <p:cNvPr id="239" name="Google Shape;239;g35562c88707_0_119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0" name="Google Shape;240;g35562c88707_0_119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1" name="Google Shape;241;g35562c88707_0_119"/>
          <p:cNvSpPr txBox="1"/>
          <p:nvPr/>
        </p:nvSpPr>
        <p:spPr>
          <a:xfrm>
            <a:off x="2043300" y="1189050"/>
            <a:ext cx="15206400" cy="27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Módulos/Bibliotecas Padrão Micropython</a:t>
            </a: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: Utime</a:t>
            </a:r>
            <a:endParaRPr b="1" sz="6000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t/>
            </a:r>
            <a:endParaRPr b="1" sz="6000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2" name="Google Shape;242;g35562c88707_0_119"/>
          <p:cNvSpPr txBox="1"/>
          <p:nvPr/>
        </p:nvSpPr>
        <p:spPr>
          <a:xfrm>
            <a:off x="1685075" y="3313553"/>
            <a:ext cx="14443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3" name="Google Shape;243;g35562c88707_0_119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g35562c88707_0_119"/>
          <p:cNvSpPr txBox="1"/>
          <p:nvPr/>
        </p:nvSpPr>
        <p:spPr>
          <a:xfrm>
            <a:off x="2043295" y="962025"/>
            <a:ext cx="2681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MICROPYTHON</a:t>
            </a:r>
            <a:endParaRPr b="1" sz="2000">
              <a:solidFill>
                <a:srgbClr val="D9383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5" name="Google Shape;245;g35562c88707_0_119"/>
          <p:cNvSpPr txBox="1"/>
          <p:nvPr/>
        </p:nvSpPr>
        <p:spPr>
          <a:xfrm>
            <a:off x="1685075" y="3313553"/>
            <a:ext cx="144438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6" name="Google Shape;246;g35562c88707_0_119"/>
          <p:cNvSpPr txBox="1"/>
          <p:nvPr/>
        </p:nvSpPr>
        <p:spPr>
          <a:xfrm>
            <a:off x="1685075" y="3313553"/>
            <a:ext cx="14443800" cy="97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A</a:t>
            </a:r>
            <a:r>
              <a:rPr b="1" lang="en-US" sz="2400">
                <a:latin typeface="Poppins"/>
                <a:ea typeface="Poppins"/>
                <a:cs typeface="Poppins"/>
                <a:sym typeface="Poppins"/>
              </a:rPr>
              <a:t> biblioteca utime </a:t>
            </a: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permite o uso de funções relacionadas ao tempo, como: 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Poppins"/>
              <a:buAutoNum type="arabicPeriod"/>
            </a:pPr>
            <a:r>
              <a:rPr b="1" lang="en-US" sz="2400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rPr>
              <a:t>Atrasos (sleep):</a:t>
            </a:r>
            <a:endParaRPr b="1" sz="240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"/>
              <a:buChar char="●"/>
            </a:pPr>
            <a:r>
              <a:rPr b="1" lang="en-US" sz="2400">
                <a:latin typeface="Poppins"/>
                <a:ea typeface="Poppins"/>
                <a:cs typeface="Poppins"/>
                <a:sym typeface="Poppins"/>
              </a:rPr>
              <a:t>O que é?: </a:t>
            </a: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Usamos para pausar o programa por um tempo determinado.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"/>
              <a:buChar char="●"/>
            </a:pPr>
            <a:r>
              <a:rPr b="1" lang="en-US" sz="2400">
                <a:latin typeface="Poppins"/>
                <a:ea typeface="Poppins"/>
                <a:cs typeface="Poppins"/>
                <a:sym typeface="Poppins"/>
              </a:rPr>
              <a:t>Por que usar?: </a:t>
            </a: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Às vezes, você precisa que o microcontrolador faça algo, e depois de um tempo ele faz outra coisa. O atraso ajuda a dar esse "tempo de espera".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latin typeface="Poppins"/>
                <a:ea typeface="Poppins"/>
                <a:cs typeface="Poppins"/>
                <a:sym typeface="Poppins"/>
              </a:rPr>
              <a:t>Exemplo:</a:t>
            </a:r>
            <a:endParaRPr b="1"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from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utime 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import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sleep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b="1" lang="en-US" sz="2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# Utiliza a biblioteca utime para importar comandos de tempo</a:t>
            </a:r>
            <a:endParaRPr b="1" sz="23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print("Aguardando 2 segundos...")  </a:t>
            </a:r>
            <a:r>
              <a:rPr b="1" lang="en-US" sz="2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# Mensagem antes da pausa</a:t>
            </a:r>
            <a:endParaRPr b="1" sz="23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sleep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(2)  </a:t>
            </a:r>
            <a:r>
              <a:rPr b="1" lang="en-US" sz="2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# Pausa o programa por 2 segundos</a:t>
            </a:r>
            <a:endParaRPr b="1" sz="23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print("Pronto!")  </a:t>
            </a:r>
            <a:r>
              <a:rPr b="1" lang="en-US" sz="2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# Continua após a pausa</a:t>
            </a:r>
            <a:endParaRPr b="1" sz="23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5562c88707_0_134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g35562c88707_0_134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3" name="Google Shape;253;g35562c88707_0_134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54" name="Google Shape;254;g35562c88707_0_134"/>
          <p:cNvGrpSpPr/>
          <p:nvPr/>
        </p:nvGrpSpPr>
        <p:grpSpPr>
          <a:xfrm>
            <a:off x="1038175" y="2946624"/>
            <a:ext cx="16211658" cy="7299925"/>
            <a:chOff x="0" y="-38100"/>
            <a:chExt cx="4269709" cy="2000418"/>
          </a:xfrm>
        </p:grpSpPr>
        <p:sp>
          <p:nvSpPr>
            <p:cNvPr id="255" name="Google Shape;255;g35562c88707_0_134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6" name="Google Shape;256;g35562c88707_0_134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57" name="Google Shape;257;g35562c88707_0_134"/>
          <p:cNvSpPr txBox="1"/>
          <p:nvPr/>
        </p:nvSpPr>
        <p:spPr>
          <a:xfrm>
            <a:off x="2043300" y="1189050"/>
            <a:ext cx="15206400" cy="36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Módulos/Bibliotecas Padrão Micropython</a:t>
            </a: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: Utime</a:t>
            </a:r>
            <a:endParaRPr b="1" sz="6000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t/>
            </a:r>
            <a:endParaRPr b="1" sz="6000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t/>
            </a:r>
            <a:endParaRPr b="1" sz="6000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58" name="Google Shape;258;g35562c88707_0_134"/>
          <p:cNvSpPr txBox="1"/>
          <p:nvPr/>
        </p:nvSpPr>
        <p:spPr>
          <a:xfrm>
            <a:off x="1685075" y="3313553"/>
            <a:ext cx="14443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59" name="Google Shape;259;g35562c88707_0_134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g35562c88707_0_134"/>
          <p:cNvSpPr txBox="1"/>
          <p:nvPr/>
        </p:nvSpPr>
        <p:spPr>
          <a:xfrm>
            <a:off x="2043295" y="962025"/>
            <a:ext cx="2681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MICROPYTHON</a:t>
            </a:r>
            <a:endParaRPr b="1" sz="2000">
              <a:solidFill>
                <a:srgbClr val="D9383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61" name="Google Shape;261;g35562c88707_0_134"/>
          <p:cNvSpPr txBox="1"/>
          <p:nvPr/>
        </p:nvSpPr>
        <p:spPr>
          <a:xfrm>
            <a:off x="1685075" y="3313553"/>
            <a:ext cx="144438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62" name="Google Shape;262;g35562c88707_0_134"/>
          <p:cNvSpPr txBox="1"/>
          <p:nvPr/>
        </p:nvSpPr>
        <p:spPr>
          <a:xfrm>
            <a:off x="1685075" y="3313553"/>
            <a:ext cx="14443800" cy="62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rPr>
              <a:t>1.1.  Atrasos (sleep - ms e us):</a:t>
            </a:r>
            <a:endParaRPr b="1" sz="240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from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utime 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import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sleep, sleep_ms, sleep_us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# Utiliza a biblioteca utime para importar comandos de tempo</a:t>
            </a:r>
            <a:endParaRPr b="1" sz="23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sleep_ms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(500)  </a:t>
            </a:r>
            <a:r>
              <a:rPr b="1" lang="en-US" sz="2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# Pausa por 500 milissegundos (meio segundo)</a:t>
            </a:r>
            <a:endParaRPr b="1" sz="23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sleep_us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(200)  </a:t>
            </a:r>
            <a:r>
              <a:rPr b="1" lang="en-US" sz="2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# Pausa por 200 microssegundos (0.0002 segundos)</a:t>
            </a:r>
            <a:endParaRPr b="1" sz="230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5562c88707_0_149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g35562c88707_0_149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9" name="Google Shape;269;g35562c88707_0_149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70" name="Google Shape;270;g35562c88707_0_149"/>
          <p:cNvGrpSpPr/>
          <p:nvPr/>
        </p:nvGrpSpPr>
        <p:grpSpPr>
          <a:xfrm>
            <a:off x="1038175" y="2946624"/>
            <a:ext cx="16211658" cy="7299925"/>
            <a:chOff x="0" y="-38100"/>
            <a:chExt cx="4269709" cy="2000418"/>
          </a:xfrm>
        </p:grpSpPr>
        <p:sp>
          <p:nvSpPr>
            <p:cNvPr id="271" name="Google Shape;271;g35562c88707_0_149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2" name="Google Shape;272;g35562c88707_0_149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73" name="Google Shape;273;g35562c88707_0_149"/>
          <p:cNvSpPr txBox="1"/>
          <p:nvPr/>
        </p:nvSpPr>
        <p:spPr>
          <a:xfrm>
            <a:off x="2043300" y="1189050"/>
            <a:ext cx="15206400" cy="36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Módulos/Bibliotecas Padrão Micropython</a:t>
            </a: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: Utime</a:t>
            </a:r>
            <a:endParaRPr b="1" sz="6000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t/>
            </a:r>
            <a:endParaRPr b="1" sz="6000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t/>
            </a:r>
            <a:endParaRPr b="1" sz="6000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74" name="Google Shape;274;g35562c88707_0_149"/>
          <p:cNvSpPr txBox="1"/>
          <p:nvPr/>
        </p:nvSpPr>
        <p:spPr>
          <a:xfrm>
            <a:off x="1685075" y="3313553"/>
            <a:ext cx="14443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75" name="Google Shape;275;g35562c88707_0_149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g35562c88707_0_149"/>
          <p:cNvSpPr txBox="1"/>
          <p:nvPr/>
        </p:nvSpPr>
        <p:spPr>
          <a:xfrm>
            <a:off x="2043295" y="962025"/>
            <a:ext cx="2681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MICROPYTHON</a:t>
            </a:r>
            <a:endParaRPr b="1" sz="2000">
              <a:solidFill>
                <a:srgbClr val="D9383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77" name="Google Shape;277;g35562c88707_0_149"/>
          <p:cNvSpPr txBox="1"/>
          <p:nvPr/>
        </p:nvSpPr>
        <p:spPr>
          <a:xfrm>
            <a:off x="1685075" y="3313553"/>
            <a:ext cx="144438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78" name="Google Shape;278;g35562c88707_0_149"/>
          <p:cNvSpPr txBox="1"/>
          <p:nvPr/>
        </p:nvSpPr>
        <p:spPr>
          <a:xfrm>
            <a:off x="1685075" y="3313553"/>
            <a:ext cx="14443800" cy="84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rgbClr val="D9383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rPr>
              <a:t>2.   Marcação de tempo (marcar o tempo) -  ticks_ms() + ticks_diff()</a:t>
            </a:r>
            <a:endParaRPr b="1" sz="240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rgbClr val="D9383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 que é?: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Serve para medir o tempo que passou entre duas ações.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Por que usar?: 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Quando você quer saber quanto tempo levou para fazer algo, como medir o tempo de execução de uma tarefa.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Exemplo:</a:t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import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utime </a:t>
            </a:r>
            <a:r>
              <a:rPr b="1" lang="en-US" sz="2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# Importa a biblioteca de tempo</a:t>
            </a:r>
            <a:endParaRPr b="1" sz="2300">
              <a:solidFill>
                <a:srgbClr val="D9383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inicio =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utime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ticks_ms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()  </a:t>
            </a:r>
            <a:r>
              <a:rPr b="1" lang="en-US" sz="2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# Salva o tempo atual em milissegundos</a:t>
            </a:r>
            <a:endParaRPr b="1" sz="23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utime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sleep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(1)             </a:t>
            </a:r>
            <a:r>
              <a:rPr b="1" lang="en-US" sz="2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# Aguarda 1 segundo</a:t>
            </a:r>
            <a:endParaRPr b="1" sz="23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fim =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utime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ticks_ms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()     </a:t>
            </a:r>
            <a:r>
              <a:rPr b="1" lang="en-US" sz="2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# Salva o tempo após a pausa</a:t>
            </a:r>
            <a:endParaRPr b="1" sz="23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print("Tempo decorrido:",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utime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ticks_diff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(fim, inicio), "ms")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# ticks_diff calcula a diferença entre dois ticks</a:t>
            </a:r>
            <a:endParaRPr b="1" sz="23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35562c88707_0_164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g35562c88707_0_164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5" name="Google Shape;285;g35562c88707_0_164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86" name="Google Shape;286;g35562c88707_0_164"/>
          <p:cNvGrpSpPr/>
          <p:nvPr/>
        </p:nvGrpSpPr>
        <p:grpSpPr>
          <a:xfrm>
            <a:off x="1038175" y="2946624"/>
            <a:ext cx="16211658" cy="7299925"/>
            <a:chOff x="0" y="-38100"/>
            <a:chExt cx="4269709" cy="2000418"/>
          </a:xfrm>
        </p:grpSpPr>
        <p:sp>
          <p:nvSpPr>
            <p:cNvPr id="287" name="Google Shape;287;g35562c88707_0_164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8" name="Google Shape;288;g35562c88707_0_164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89" name="Google Shape;289;g35562c88707_0_164"/>
          <p:cNvSpPr txBox="1"/>
          <p:nvPr/>
        </p:nvSpPr>
        <p:spPr>
          <a:xfrm>
            <a:off x="2043300" y="1189050"/>
            <a:ext cx="15206400" cy="36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Módulos/Bibliotecas Padrão Micropython</a:t>
            </a: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: Utime</a:t>
            </a:r>
            <a:endParaRPr b="1" sz="6000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t/>
            </a:r>
            <a:endParaRPr b="1" sz="6000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t/>
            </a:r>
            <a:endParaRPr b="1" sz="6000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90" name="Google Shape;290;g35562c88707_0_164"/>
          <p:cNvSpPr txBox="1"/>
          <p:nvPr/>
        </p:nvSpPr>
        <p:spPr>
          <a:xfrm>
            <a:off x="1685075" y="3313553"/>
            <a:ext cx="14443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91" name="Google Shape;291;g35562c88707_0_164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g35562c88707_0_164"/>
          <p:cNvSpPr txBox="1"/>
          <p:nvPr/>
        </p:nvSpPr>
        <p:spPr>
          <a:xfrm>
            <a:off x="2043295" y="962025"/>
            <a:ext cx="2681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MICROPYTHON</a:t>
            </a:r>
            <a:endParaRPr b="1" sz="2000">
              <a:solidFill>
                <a:srgbClr val="D9383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93" name="Google Shape;293;g35562c88707_0_164"/>
          <p:cNvSpPr txBox="1"/>
          <p:nvPr/>
        </p:nvSpPr>
        <p:spPr>
          <a:xfrm>
            <a:off x="1685075" y="3313553"/>
            <a:ext cx="144438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94" name="Google Shape;294;g35562c88707_0_164"/>
          <p:cNvSpPr txBox="1"/>
          <p:nvPr/>
        </p:nvSpPr>
        <p:spPr>
          <a:xfrm>
            <a:off x="1685075" y="3313550"/>
            <a:ext cx="15206400" cy="88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rgbClr val="D9383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rPr>
              <a:t>3.    Data e hora local - localtime() e mktime()</a:t>
            </a:r>
            <a:endParaRPr b="1" sz="240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rgbClr val="D9383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 que é?: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Serve para trazer: Data (completo - dia, mês e ano) e hora de acordo com a sua localidade. (não é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preciso 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no Wokwi)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Por que usar?: 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Para que, de acordo com essas informações poder configurar equipamentos para executar tarefas em dias específicos. (captar informações, ligar, desligar, etc.)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Exemplo:</a:t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import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utime</a:t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tempo =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utime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localtime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()  </a:t>
            </a:r>
            <a:r>
              <a:rPr b="1" lang="en-US" sz="2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# Retorna a data e hora atual como tupla (ano, mês, dia, etc.)</a:t>
            </a:r>
            <a:endParaRPr b="1" sz="23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print(tempo)  # Ex: (2025, 5, 3, 10, 30, 0, 5, 123)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segundos =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utime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mktime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(tempo)  </a:t>
            </a:r>
            <a:r>
              <a:rPr b="1" lang="en-US" sz="2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# Converte essa data para o número de segundos desde 1970</a:t>
            </a:r>
            <a:endParaRPr b="1" sz="23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print(segundos)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355c2eacfa9_1_4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g355c2eacfa9_1_4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1" name="Google Shape;301;g355c2eacfa9_1_4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302" name="Google Shape;302;g355c2eacfa9_1_4"/>
          <p:cNvGrpSpPr/>
          <p:nvPr/>
        </p:nvGrpSpPr>
        <p:grpSpPr>
          <a:xfrm>
            <a:off x="1038175" y="2946624"/>
            <a:ext cx="16211658" cy="7299925"/>
            <a:chOff x="0" y="-38100"/>
            <a:chExt cx="4269709" cy="2000418"/>
          </a:xfrm>
        </p:grpSpPr>
        <p:sp>
          <p:nvSpPr>
            <p:cNvPr id="303" name="Google Shape;303;g355c2eacfa9_1_4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4" name="Google Shape;304;g355c2eacfa9_1_4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05" name="Google Shape;305;g355c2eacfa9_1_4"/>
          <p:cNvSpPr txBox="1"/>
          <p:nvPr/>
        </p:nvSpPr>
        <p:spPr>
          <a:xfrm>
            <a:off x="2043300" y="1189050"/>
            <a:ext cx="15677100" cy="36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Diferença de usar:</a:t>
            </a:r>
            <a:endParaRPr b="1" sz="6000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import e</a:t>
            </a: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 from, import </a:t>
            </a:r>
            <a:endParaRPr b="1" sz="6000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t/>
            </a:r>
            <a:endParaRPr b="1" sz="6000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t/>
            </a:r>
            <a:endParaRPr b="1" sz="6000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06" name="Google Shape;306;g355c2eacfa9_1_4"/>
          <p:cNvSpPr txBox="1"/>
          <p:nvPr/>
        </p:nvSpPr>
        <p:spPr>
          <a:xfrm>
            <a:off x="1685075" y="3313553"/>
            <a:ext cx="14443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07" name="Google Shape;307;g355c2eacfa9_1_4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g355c2eacfa9_1_4"/>
          <p:cNvSpPr txBox="1"/>
          <p:nvPr/>
        </p:nvSpPr>
        <p:spPr>
          <a:xfrm>
            <a:off x="2043295" y="962025"/>
            <a:ext cx="2681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MICROPYTHON</a:t>
            </a:r>
            <a:endParaRPr b="1" sz="2000">
              <a:solidFill>
                <a:srgbClr val="D9383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09" name="Google Shape;309;g355c2eacfa9_1_4"/>
          <p:cNvSpPr txBox="1"/>
          <p:nvPr/>
        </p:nvSpPr>
        <p:spPr>
          <a:xfrm>
            <a:off x="1685075" y="3313553"/>
            <a:ext cx="144438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10" name="Google Shape;310;g355c2eacfa9_1_4"/>
          <p:cNvSpPr txBox="1"/>
          <p:nvPr/>
        </p:nvSpPr>
        <p:spPr>
          <a:xfrm>
            <a:off x="1685075" y="3313550"/>
            <a:ext cx="15206400" cy="20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latin typeface="Poppins"/>
              <a:ea typeface="Poppins"/>
              <a:cs typeface="Poppins"/>
              <a:sym typeface="Poppins"/>
            </a:endParaRPr>
          </a:p>
        </p:txBody>
      </p:sp>
      <p:graphicFrame>
        <p:nvGraphicFramePr>
          <p:cNvPr id="311" name="Google Shape;311;g355c2eacfa9_1_4"/>
          <p:cNvGraphicFramePr/>
          <p:nvPr/>
        </p:nvGraphicFramePr>
        <p:xfrm>
          <a:off x="1410150" y="3936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{539407F7-D657-4C4E-A0C8-A5899DD8D354}</a:tableStyleId>
              </a:tblPr>
              <a:tblGrid>
                <a:gridCol w="2987150"/>
                <a:gridCol w="6433100"/>
                <a:gridCol w="6061075"/>
              </a:tblGrid>
              <a:tr h="9796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80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Forma</a:t>
                      </a:r>
                      <a:endParaRPr b="1" sz="2800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80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Vantagens</a:t>
                      </a:r>
                      <a:endParaRPr b="1" sz="2800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80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Desvantagens</a:t>
                      </a:r>
                      <a:endParaRPr b="1" sz="2800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</a:tr>
              <a:tr h="2064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import </a:t>
                      </a:r>
                      <a:r>
                        <a:rPr lang="en-US" sz="240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…</a:t>
                      </a:r>
                      <a:endParaRPr sz="2400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- Mais explícito (bom para iniciantes)- </a:t>
                      </a:r>
                      <a:r>
                        <a:rPr lang="en-US" sz="240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Permite ver de onde vem cada comando</a:t>
                      </a:r>
                      <a:endParaRPr sz="2400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- Código mais verboso- </a:t>
                      </a:r>
                      <a:r>
                        <a:rPr lang="en-US" sz="240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Toda chamada precisa de prefixo</a:t>
                      </a:r>
                      <a:endParaRPr sz="2400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53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from </a:t>
                      </a:r>
                      <a:r>
                        <a:rPr lang="en-US" sz="240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…</a:t>
                      </a:r>
                      <a:endParaRPr sz="2400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import </a:t>
                      </a:r>
                      <a:r>
                        <a:rPr lang="en-US" sz="240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…</a:t>
                      </a:r>
                      <a:endParaRPr sz="2400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- Código mais limpo e curto- </a:t>
                      </a:r>
                      <a:r>
                        <a:rPr lang="en-US" sz="240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Ideal quando quer diminuir o uso de recursos</a:t>
                      </a:r>
                      <a:endParaRPr sz="2400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-</a:t>
                      </a:r>
                      <a:r>
                        <a:rPr lang="en-US" sz="240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 Pode causar confusão se muitos nomes forem importados diretamente</a:t>
                      </a:r>
                      <a:endParaRPr sz="2400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355c2eacfa9_1_22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g355c2eacfa9_1_22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8" name="Google Shape;318;g355c2eacfa9_1_22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319" name="Google Shape;319;g355c2eacfa9_1_22"/>
          <p:cNvGrpSpPr/>
          <p:nvPr/>
        </p:nvGrpSpPr>
        <p:grpSpPr>
          <a:xfrm>
            <a:off x="1038175" y="2946624"/>
            <a:ext cx="16211658" cy="7299925"/>
            <a:chOff x="0" y="-38100"/>
            <a:chExt cx="4269709" cy="2000418"/>
          </a:xfrm>
        </p:grpSpPr>
        <p:sp>
          <p:nvSpPr>
            <p:cNvPr id="320" name="Google Shape;320;g355c2eacfa9_1_22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1" name="Google Shape;321;g355c2eacfa9_1_22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22" name="Google Shape;322;g355c2eacfa9_1_22"/>
          <p:cNvSpPr txBox="1"/>
          <p:nvPr/>
        </p:nvSpPr>
        <p:spPr>
          <a:xfrm>
            <a:off x="2043300" y="1189050"/>
            <a:ext cx="15677100" cy="36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Diferença de usar:</a:t>
            </a:r>
            <a:endParaRPr b="1" sz="6000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import e from, import </a:t>
            </a:r>
            <a:endParaRPr b="1" sz="6000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t/>
            </a:r>
            <a:endParaRPr b="1" sz="6000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t/>
            </a:r>
            <a:endParaRPr b="1" sz="6000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23" name="Google Shape;323;g355c2eacfa9_1_22"/>
          <p:cNvSpPr txBox="1"/>
          <p:nvPr/>
        </p:nvSpPr>
        <p:spPr>
          <a:xfrm>
            <a:off x="1685075" y="3313553"/>
            <a:ext cx="14443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24" name="Google Shape;324;g355c2eacfa9_1_22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g355c2eacfa9_1_22"/>
          <p:cNvSpPr txBox="1"/>
          <p:nvPr/>
        </p:nvSpPr>
        <p:spPr>
          <a:xfrm>
            <a:off x="2043295" y="962025"/>
            <a:ext cx="2681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MICROPYTHON</a:t>
            </a:r>
            <a:endParaRPr b="1" sz="2000">
              <a:solidFill>
                <a:srgbClr val="D9383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26" name="Google Shape;326;g355c2eacfa9_1_22"/>
          <p:cNvSpPr txBox="1"/>
          <p:nvPr/>
        </p:nvSpPr>
        <p:spPr>
          <a:xfrm>
            <a:off x="1685075" y="3313553"/>
            <a:ext cx="144438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27" name="Google Shape;327;g355c2eacfa9_1_22"/>
          <p:cNvSpPr txBox="1"/>
          <p:nvPr/>
        </p:nvSpPr>
        <p:spPr>
          <a:xfrm>
            <a:off x="1685075" y="3465950"/>
            <a:ext cx="15206400" cy="58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rPr>
              <a:t>Qual é melhor?</a:t>
            </a:r>
            <a:endParaRPr b="1" sz="240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40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Para aprendizado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ou aulas iniciais: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457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import 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… é melhor, pois ajuda o aluno a entender de onde vêm os comandos.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Para código mais limpo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curto e prático: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457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from 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…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import 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... é melhor, especialmente em projetos maiores com muitos recursos.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3494324d29f_0_182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g3494324d29f_0_182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4" name="Google Shape;334;g3494324d29f_0_182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335" name="Google Shape;335;g3494324d29f_0_182"/>
          <p:cNvGrpSpPr/>
          <p:nvPr/>
        </p:nvGrpSpPr>
        <p:grpSpPr>
          <a:xfrm>
            <a:off x="1038175" y="2946624"/>
            <a:ext cx="16211658" cy="7299925"/>
            <a:chOff x="0" y="-38100"/>
            <a:chExt cx="4269709" cy="2000418"/>
          </a:xfrm>
        </p:grpSpPr>
        <p:sp>
          <p:nvSpPr>
            <p:cNvPr id="336" name="Google Shape;336;g3494324d29f_0_182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7" name="Google Shape;337;g3494324d29f_0_182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38" name="Google Shape;338;g3494324d29f_0_182"/>
          <p:cNvSpPr txBox="1"/>
          <p:nvPr/>
        </p:nvSpPr>
        <p:spPr>
          <a:xfrm>
            <a:off x="2043300" y="1189050"/>
            <a:ext cx="123699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n-US" sz="6000" u="none" cap="none" strike="noStrike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Resumo</a:t>
            </a:r>
            <a:endParaRPr b="1" i="0" sz="4100" u="none" cap="none" strike="noStrike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39" name="Google Shape;339;g3494324d29f_0_182"/>
          <p:cNvSpPr txBox="1"/>
          <p:nvPr/>
        </p:nvSpPr>
        <p:spPr>
          <a:xfrm>
            <a:off x="1532675" y="3694550"/>
            <a:ext cx="152979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✅ </a:t>
            </a:r>
            <a:r>
              <a:rPr b="1" lang="en-US" sz="2400">
                <a:latin typeface="Poppins"/>
                <a:ea typeface="Poppins"/>
                <a:cs typeface="Poppins"/>
                <a:sym typeface="Poppins"/>
              </a:rPr>
              <a:t>machine =</a:t>
            </a: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 Biblioteca principal para acessar os pinos e recursos da placa (GPIO, ADC, PWM).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✅</a:t>
            </a:r>
            <a:r>
              <a:rPr b="1" lang="en-US" sz="2400">
                <a:latin typeface="Poppins"/>
                <a:ea typeface="Poppins"/>
                <a:cs typeface="Poppins"/>
                <a:sym typeface="Poppins"/>
              </a:rPr>
              <a:t> utime =</a:t>
            </a: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 Biblioteca para controlar tempo (pausa, tempo decorrido, etc).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40" name="Google Shape;340;g3494324d29f_0_182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g3494324d29f_0_182"/>
          <p:cNvSpPr txBox="1"/>
          <p:nvPr/>
        </p:nvSpPr>
        <p:spPr>
          <a:xfrm>
            <a:off x="2043303" y="962025"/>
            <a:ext cx="446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MICROPYTHON</a:t>
            </a:r>
            <a:endParaRPr b="1" i="0" sz="2000" u="none" cap="none" strike="noStrike">
              <a:solidFill>
                <a:srgbClr val="D9383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3494324d29f_0_343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g3494324d29f_0_343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48" name="Google Shape;348;g3494324d29f_0_343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349" name="Google Shape;349;g3494324d29f_0_343"/>
          <p:cNvGrpSpPr/>
          <p:nvPr/>
        </p:nvGrpSpPr>
        <p:grpSpPr>
          <a:xfrm>
            <a:off x="1038175" y="2946624"/>
            <a:ext cx="16211658" cy="7299925"/>
            <a:chOff x="0" y="-38100"/>
            <a:chExt cx="4269709" cy="2000418"/>
          </a:xfrm>
        </p:grpSpPr>
        <p:sp>
          <p:nvSpPr>
            <p:cNvPr id="350" name="Google Shape;350;g3494324d29f_0_343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1" name="Google Shape;351;g3494324d29f_0_343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52" name="Google Shape;352;g3494324d29f_0_343"/>
          <p:cNvSpPr txBox="1"/>
          <p:nvPr/>
        </p:nvSpPr>
        <p:spPr>
          <a:xfrm>
            <a:off x="2043300" y="1189050"/>
            <a:ext cx="123699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n-US" sz="6000" u="none" cap="none" strike="noStrike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Referências</a:t>
            </a:r>
            <a:endParaRPr b="1" i="0" sz="4100" u="none" cap="none" strike="noStrike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53" name="Google Shape;353;g3494324d29f_0_343"/>
          <p:cNvSpPr txBox="1"/>
          <p:nvPr/>
        </p:nvSpPr>
        <p:spPr>
          <a:xfrm>
            <a:off x="1685075" y="3542150"/>
            <a:ext cx="15307500" cy="46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MICROPYTHON.ORG. </a:t>
            </a:r>
            <a:r>
              <a:rPr b="1" i="0" lang="en-US" sz="2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machine – functions related to the hardware.</a:t>
            </a:r>
            <a:r>
              <a:rPr b="0" i="0" lang="en-US" sz="2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MicroPython Documentation, 2024. Disponível em: https://docs.micropython.org/en/latest/library/machine.html. Acesso em: 3 maio 2025.</a:t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MICROPYTHON.ORG. </a:t>
            </a:r>
            <a:r>
              <a:rPr b="1" i="0" lang="en-US" sz="2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utime – time-related functions.</a:t>
            </a:r>
            <a:r>
              <a:rPr b="0" i="0" lang="en-US" sz="2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MicroPython Documentation, 2024. Disponível em: https://docs.micropython.org/en/latest/library/utime.html. Acesso em: 3 maio 2025.</a:t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BARENDSE, Ben. </a:t>
            </a:r>
            <a:r>
              <a:rPr b="1" i="0" lang="en-US" sz="2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Exploring Raspberry Pi Pico with MicroPython: A Hands-on Guide</a:t>
            </a:r>
            <a:r>
              <a:rPr b="0" i="0" lang="en-US" sz="2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. 1. ed. Independently published, 2022.</a:t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54" name="Google Shape;354;g3494324d29f_0_343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g3494324d29f_0_343"/>
          <p:cNvSpPr txBox="1"/>
          <p:nvPr/>
        </p:nvSpPr>
        <p:spPr>
          <a:xfrm>
            <a:off x="2043305" y="962025"/>
            <a:ext cx="5597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MICROPYTHON</a:t>
            </a:r>
            <a:endParaRPr b="1" i="0" sz="2000" u="none" cap="none" strike="noStrike">
              <a:solidFill>
                <a:srgbClr val="D9383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rgbClr val="D9383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16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40000"/>
            </a:blip>
            <a:stretch>
              <a:fillRect b="0" l="0" r="0" t="0"/>
            </a:stretch>
          </a:blip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1" name="Google Shape;361;p16"/>
          <p:cNvCxnSpPr/>
          <p:nvPr/>
        </p:nvCxnSpPr>
        <p:spPr>
          <a:xfrm rot="10800000">
            <a:off x="9645833" y="4419143"/>
            <a:ext cx="18900" cy="20583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2" name="Google Shape;362;p16"/>
          <p:cNvSpPr txBox="1"/>
          <p:nvPr/>
        </p:nvSpPr>
        <p:spPr>
          <a:xfrm>
            <a:off x="10341007" y="4336637"/>
            <a:ext cx="2440200" cy="8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Telefone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(11) 2396-1999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63" name="Google Shape;363;p16"/>
          <p:cNvGrpSpPr/>
          <p:nvPr/>
        </p:nvGrpSpPr>
        <p:grpSpPr>
          <a:xfrm>
            <a:off x="10340993" y="2885700"/>
            <a:ext cx="5951925" cy="1458644"/>
            <a:chOff x="-19" y="-85717"/>
            <a:chExt cx="7935900" cy="1944859"/>
          </a:xfrm>
        </p:grpSpPr>
        <p:sp>
          <p:nvSpPr>
            <p:cNvPr id="364" name="Google Shape;364;p16"/>
            <p:cNvSpPr txBox="1"/>
            <p:nvPr/>
          </p:nvSpPr>
          <p:spPr>
            <a:xfrm>
              <a:off x="0" y="677142"/>
              <a:ext cx="3902700" cy="118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995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Av. Goiás, 139</a:t>
              </a:r>
              <a:endParaRPr b="0" i="0" sz="2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marR="0" rtl="0" algn="l">
                <a:lnSpc>
                  <a:spcPct val="13995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65" name="Google Shape;365;p16"/>
            <p:cNvSpPr txBox="1"/>
            <p:nvPr/>
          </p:nvSpPr>
          <p:spPr>
            <a:xfrm>
              <a:off x="-19" y="-85717"/>
              <a:ext cx="7935900" cy="57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b="1" i="0" lang="en-US" sz="2799" u="none" cap="none" strike="noStrike">
                  <a:solidFill>
                    <a:srgbClr val="D93831"/>
                  </a:solidFill>
                  <a:latin typeface="Poppins"/>
                  <a:ea typeface="Poppins"/>
                  <a:cs typeface="Poppins"/>
                  <a:sym typeface="Poppins"/>
                </a:rPr>
                <a:t>ESCOLA SENAI ÍTALO BOLOGNA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66" name="Google Shape;366;p16"/>
          <p:cNvGrpSpPr/>
          <p:nvPr/>
        </p:nvGrpSpPr>
        <p:grpSpPr>
          <a:xfrm>
            <a:off x="10340999" y="5663950"/>
            <a:ext cx="2283308" cy="846825"/>
            <a:chOff x="-11" y="-66670"/>
            <a:chExt cx="3044411" cy="1129101"/>
          </a:xfrm>
        </p:grpSpPr>
        <p:sp>
          <p:nvSpPr>
            <p:cNvPr id="367" name="Google Shape;367;p16"/>
            <p:cNvSpPr txBox="1"/>
            <p:nvPr/>
          </p:nvSpPr>
          <p:spPr>
            <a:xfrm>
              <a:off x="-11" y="-66670"/>
              <a:ext cx="26673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995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i="0" lang="en-US" sz="2400" u="none" cap="none" strike="noStrik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Instagram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8" name="Google Shape;368;p16"/>
            <p:cNvSpPr txBox="1"/>
            <p:nvPr/>
          </p:nvSpPr>
          <p:spPr>
            <a:xfrm>
              <a:off x="0" y="569831"/>
              <a:ext cx="30444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995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@senai.itu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69" name="Google Shape;369;p16"/>
          <p:cNvGrpSpPr/>
          <p:nvPr/>
        </p:nvGrpSpPr>
        <p:grpSpPr>
          <a:xfrm>
            <a:off x="10340997" y="7046976"/>
            <a:ext cx="5697225" cy="804499"/>
            <a:chOff x="-13" y="-66675"/>
            <a:chExt cx="7596300" cy="1072665"/>
          </a:xfrm>
        </p:grpSpPr>
        <p:sp>
          <p:nvSpPr>
            <p:cNvPr id="370" name="Google Shape;370;p16"/>
            <p:cNvSpPr txBox="1"/>
            <p:nvPr/>
          </p:nvSpPr>
          <p:spPr>
            <a:xfrm>
              <a:off x="0" y="-66675"/>
              <a:ext cx="16551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995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i="0" lang="en-US" sz="2400" u="none" cap="none" strike="noStrik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Site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1" name="Google Shape;371;p16"/>
            <p:cNvSpPr txBox="1"/>
            <p:nvPr/>
          </p:nvSpPr>
          <p:spPr>
            <a:xfrm>
              <a:off x="-13" y="513390"/>
              <a:ext cx="75963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995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https://sp.senai.br/unidade/itu/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72" name="Google Shape;372;p16"/>
          <p:cNvGrpSpPr/>
          <p:nvPr/>
        </p:nvGrpSpPr>
        <p:grpSpPr>
          <a:xfrm>
            <a:off x="13422228" y="5663946"/>
            <a:ext cx="2133000" cy="845495"/>
            <a:chOff x="0" y="-66675"/>
            <a:chExt cx="2844000" cy="1127326"/>
          </a:xfrm>
        </p:grpSpPr>
        <p:sp>
          <p:nvSpPr>
            <p:cNvPr id="373" name="Google Shape;373;p16"/>
            <p:cNvSpPr txBox="1"/>
            <p:nvPr/>
          </p:nvSpPr>
          <p:spPr>
            <a:xfrm>
              <a:off x="0" y="-66675"/>
              <a:ext cx="20394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995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i="0" lang="en-US" sz="2400" u="none" cap="none" strike="noStrik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Facebok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4" name="Google Shape;374;p16"/>
            <p:cNvSpPr txBox="1"/>
            <p:nvPr/>
          </p:nvSpPr>
          <p:spPr>
            <a:xfrm>
              <a:off x="0" y="568051"/>
              <a:ext cx="28440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995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/senaisp.itu</a:t>
              </a:r>
              <a:endParaRPr b="0" i="0" sz="2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sp>
        <p:nvSpPr>
          <p:cNvPr id="375" name="Google Shape;375;p16"/>
          <p:cNvSpPr/>
          <p:nvPr/>
        </p:nvSpPr>
        <p:spPr>
          <a:xfrm>
            <a:off x="14706022" y="599788"/>
            <a:ext cx="3200983" cy="833009"/>
          </a:xfrm>
          <a:custGeom>
            <a:rect b="b" l="l" r="r" t="t"/>
            <a:pathLst>
              <a:path extrusionOk="0" h="1015865" w="3988764">
                <a:moveTo>
                  <a:pt x="0" y="0"/>
                </a:moveTo>
                <a:lnTo>
                  <a:pt x="3988765" y="0"/>
                </a:lnTo>
                <a:lnTo>
                  <a:pt x="3988765" y="1015866"/>
                </a:lnTo>
                <a:lnTo>
                  <a:pt x="0" y="10158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76" name="Google Shape;376;p16"/>
          <p:cNvGrpSpPr/>
          <p:nvPr/>
        </p:nvGrpSpPr>
        <p:grpSpPr>
          <a:xfrm>
            <a:off x="1534959" y="2851188"/>
            <a:ext cx="7762810" cy="5194221"/>
            <a:chOff x="1648350" y="1982600"/>
            <a:chExt cx="6664501" cy="4459324"/>
          </a:xfrm>
        </p:grpSpPr>
        <p:pic>
          <p:nvPicPr>
            <p:cNvPr id="377" name="Google Shape;377;p1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648350" y="1982600"/>
              <a:ext cx="6664501" cy="44593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8" name="Google Shape;378;p16"/>
            <p:cNvSpPr/>
            <p:nvPr/>
          </p:nvSpPr>
          <p:spPr>
            <a:xfrm>
              <a:off x="1648350" y="1982603"/>
              <a:ext cx="6664500" cy="44592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cap="flat" cmpd="sng" w="25400">
              <a:solidFill>
                <a:srgbClr val="21364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FOTO DA ESCOLA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0x01010096047AC9DEFB4747B22467A5254572DF</vt:lpwstr>
  </property>
  <property fmtid="{D5CDD505-2E9C-101B-9397-08002B2CF9AE}" pid="3" name="MediaServiceImageTags">
    <vt:lpwstr/>
  </property>
</Properties>
</file>