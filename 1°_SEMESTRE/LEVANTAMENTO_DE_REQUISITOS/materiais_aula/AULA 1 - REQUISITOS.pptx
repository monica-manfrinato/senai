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Poppins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a1PmKd4oqQMnGKOpq47pCp5OP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94324d29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494324d29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94324d29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494324d29f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94324d29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494324d29f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94324d29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494324d29f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94324d29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494324d29f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94324d29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494324d29f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94324d29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494324d29f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94324d29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494324d29f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94324d29f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494324d29f_0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94324d29f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494324d29f_0_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94324d29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494324d29f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494324d29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494324d29f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94324d29f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494324d29f_0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494324d29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494324d29f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98110" y="4556700"/>
            <a:ext cx="96918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são?</a:t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1685075" y="3542153"/>
            <a:ext cx="14443800" cy="7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Requisitos são as necessidades, funcionalidades e regras que um sistema de software deve atender para ser considerado completo e funcional. Eles servem como um guia para a equipe de desenvolvimento saber exatamente o que precisa ser construído.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Por que são importantes?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Sem requisitos claros, o sistema pode: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Não atender às reais necessidades dos usuários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Ter funcionalidades desorganizadas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Apresentar falhas constantes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94324d29f_0_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494324d29f_0_2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494324d29f_0_2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494324d29f_0_20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111" name="Google Shape;111;g3494324d29f_0_2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494324d29f_0_2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494324d29f_0_20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Definição detalhada</a:t>
            </a:r>
            <a:endParaRPr/>
          </a:p>
        </p:txBody>
      </p:sp>
      <p:sp>
        <p:nvSpPr>
          <p:cNvPr id="114" name="Google Shape;114;g3494324d29f_0_20"/>
          <p:cNvSpPr txBox="1"/>
          <p:nvPr/>
        </p:nvSpPr>
        <p:spPr>
          <a:xfrm>
            <a:off x="1685100" y="3533575"/>
            <a:ext cx="74622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 precisam ser: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Claros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Precisos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Testáveis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Classificação Básica: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Obrigatórios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Desejáveis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494324d29f_0_2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g3494324d29f_0_20"/>
          <p:cNvCxnSpPr/>
          <p:nvPr/>
        </p:nvCxnSpPr>
        <p:spPr>
          <a:xfrm rot="10800000">
            <a:off x="9140700" y="3533575"/>
            <a:ext cx="6600" cy="6126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g3494324d29f_0_20"/>
          <p:cNvSpPr txBox="1"/>
          <p:nvPr/>
        </p:nvSpPr>
        <p:spPr>
          <a:xfrm>
            <a:off x="10116450" y="3533575"/>
            <a:ext cx="7462200" cy="6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Por que são Cruciais?</a:t>
            </a: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Problemas comuns sem requisitos bem definidos: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Retrabalho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Custo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Insatisfação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g3494324d29f_0_20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94324d29f_0_4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494324d29f_0_4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g3494324d29f_0_4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6" name="Google Shape;126;g3494324d29f_0_4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7" name="Google Shape;127;g3494324d29f_0_4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g3494324d29f_0_4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g3494324d29f_0_41"/>
          <p:cNvSpPr txBox="1"/>
          <p:nvPr/>
        </p:nvSpPr>
        <p:spPr>
          <a:xfrm>
            <a:off x="2043304" y="1189050"/>
            <a:ext cx="1340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(Correto e errado)</a:t>
            </a:r>
            <a:endParaRPr/>
          </a:p>
        </p:txBody>
      </p:sp>
      <p:sp>
        <p:nvSpPr>
          <p:cNvPr id="130" name="Google Shape;130;g3494324d29f_0_4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g3494324d29f_0_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8175" y="5018173"/>
            <a:ext cx="16211650" cy="377302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494324d29f_0_41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94324d29f_0_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494324d29f_0_5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g3494324d29f_0_5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0" name="Google Shape;140;g3494324d29f_0_5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1" name="Google Shape;141;g3494324d29f_0_5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g3494324d29f_0_5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g3494324d29f_0_5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494324d29f_0_57"/>
          <p:cNvSpPr txBox="1"/>
          <p:nvPr/>
        </p:nvSpPr>
        <p:spPr>
          <a:xfrm>
            <a:off x="2043305" y="1189050"/>
            <a:ext cx="156771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Obrigatórios vs. Desejáveis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g3494324d29f_0_57"/>
          <p:cNvSpPr txBox="1"/>
          <p:nvPr/>
        </p:nvSpPr>
        <p:spPr>
          <a:xfrm>
            <a:off x="2043300" y="3749200"/>
            <a:ext cx="701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6" name="Google Shape;146;g3494324d29f_0_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60211" y="3487626"/>
            <a:ext cx="14767579" cy="621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494324d29f_0_57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94324d29f_0_8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494324d29f_0_8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g3494324d29f_0_8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5" name="Google Shape;155;g3494324d29f_0_8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6" name="Google Shape;156;g3494324d29f_0_8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g3494324d29f_0_8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g3494324d29f_0_81"/>
          <p:cNvSpPr txBox="1"/>
          <p:nvPr/>
        </p:nvSpPr>
        <p:spPr>
          <a:xfrm>
            <a:off x="2043300" y="1189050"/>
            <a:ext cx="12369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Requisitos Funcionais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(O que o sistema faz)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g3494324d29f_0_81"/>
          <p:cNvSpPr txBox="1"/>
          <p:nvPr/>
        </p:nvSpPr>
        <p:spPr>
          <a:xfrm>
            <a:off x="1685075" y="3542153"/>
            <a:ext cx="14443800" cy="9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Descrevem as funcionalidades específicas que o sistema deve executar. Devem ser escritos como ações mensuráveis.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Exemplos: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→ Autenticação: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RF01: O sistema deve permitir login com e-mail e senha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RF02: Deve enviar link de recuperação para e-mails cadastrados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→ Processos Comerciais: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RF10: O sistema deve calcular frete baseado em: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CEP de destino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Peso total dos produtos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Prazo selecionado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g3494324d29f_0_8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494324d29f_0_81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94324d29f_0_9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494324d29f_0_9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g3494324d29f_0_9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9" name="Google Shape;169;g3494324d29f_0_9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0" name="Google Shape;170;g3494324d29f_0_9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g3494324d29f_0_9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g3494324d29f_0_98"/>
          <p:cNvSpPr txBox="1"/>
          <p:nvPr/>
        </p:nvSpPr>
        <p:spPr>
          <a:xfrm>
            <a:off x="2043300" y="1189050"/>
            <a:ext cx="12369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Requisitos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Não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Funcionais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(Como</a:t>
            </a:r>
            <a:r>
              <a:rPr b="1" lang="en-US" sz="41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o sistema funciona</a:t>
            </a:r>
            <a:r>
              <a:rPr b="1" lang="en-US" sz="41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g3494324d29f_0_98"/>
          <p:cNvSpPr txBox="1"/>
          <p:nvPr/>
        </p:nvSpPr>
        <p:spPr>
          <a:xfrm>
            <a:off x="1685075" y="3542153"/>
            <a:ext cx="14443800" cy="9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Definem a qualidade do sistema. São frequentemente negligenciados, mas críticos para o sucesso.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Exemplos: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→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RNF01: O sistema deve responder em ≤1.5 segundos para 95% das requisições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→ Segurança: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RNF05: Todos os dados pessoais devem ser criptografados de acordo com a LGPD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→ Usabilidade: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RNF10: O sistema deve seguir diretrizes WCAG 2.1 AA para acessibilidade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g3494324d29f_0_9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94324d29f_0_98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94324d29f_0_1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494324d29f_0_12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g3494324d29f_0_12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3" name="Google Shape;183;g3494324d29f_0_12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4" name="Google Shape;184;g3494324d29f_0_12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g3494324d29f_0_12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g3494324d29f_0_120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Regras de Negócio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g3494324d29f_0_120"/>
          <p:cNvSpPr txBox="1"/>
          <p:nvPr/>
        </p:nvSpPr>
        <p:spPr>
          <a:xfrm>
            <a:off x="1685075" y="3542153"/>
            <a:ext cx="14443800" cy="10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São as políticas e normas específicas da empresa ou domínio do sistema.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Características: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Definidas pelo cliente/empresa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Podem mudar conforme as necessidades do negócio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São diferentes dos requisitos técnicos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Exemplos</a:t>
            </a: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"Clientes com mais de 3 compras no mês ganham 10% de desconto"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"Vendas acima de R$500 têm frete grátis"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"Usuários precisam ter 18+ para comprar produtos restritos"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g3494324d29f_0_12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494324d29f_0_120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94324d29f_0_1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494324d29f_0_13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g3494324d29f_0_13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7" name="Google Shape;197;g3494324d29f_0_13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8" name="Google Shape;198;g3494324d29f_0_13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g3494324d29f_0_13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g3494324d29f_0_137"/>
          <p:cNvSpPr txBox="1"/>
          <p:nvPr/>
        </p:nvSpPr>
        <p:spPr>
          <a:xfrm>
            <a:off x="2043304" y="1189050"/>
            <a:ext cx="13403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Diferença para Requisitos Funcionais: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g3494324d29f_0_13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494324d29f_0_137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  <p:pic>
        <p:nvPicPr>
          <p:cNvPr id="203" name="Google Shape;203;g3494324d29f_0_1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575" y="4750564"/>
            <a:ext cx="15566850" cy="356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94324d29f_0_1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494324d29f_0_15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g3494324d29f_0_15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1" name="Google Shape;211;g3494324d29f_0_15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12" name="Google Shape;212;g3494324d29f_0_15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g3494324d29f_0_15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g3494324d29f_0_158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Restrições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g3494324d29f_0_158"/>
          <p:cNvSpPr txBox="1"/>
          <p:nvPr/>
        </p:nvSpPr>
        <p:spPr>
          <a:xfrm>
            <a:off x="1685075" y="3542153"/>
            <a:ext cx="14443800" cy="117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São limitações que afetam como o sistema será desenvolvido.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Tipos Comuns: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1. Tecnológicas: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"O sistema deve usar banco de dados MySQL"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"Aplicativo precisa funcionar em Android 10 ou superior"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2. De Tempo: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"Primeira versão precisa estar pronta em 3 meses"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3. Orçamentárias: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"Não podemos gastar mais que R$20.000 com hospedagem"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g3494324d29f_0_15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494324d29f_0_158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3611441" y="962025"/>
            <a:ext cx="2865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Controle de Entrada/Saída para Academia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Uma academia precisa ter o controle de seus clientes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RF e RNF (Modelo)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3611475" y="3651100"/>
            <a:ext cx="144762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Regras de Negócio: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Alunos mensalistas têm acesso ilimitado.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Alunos avulsos só podem acessar 3 vezes por semana.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Restrições: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sistema deve funcionar com leitor de biometria já instalado.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pode depender de internet (local apenas).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Liste 2 requisitos funcionais e 2 não funcionais para esse sistema.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494324d29f_0_324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494324d29f_0_324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g3494324d29f_0_32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g3494324d29f_0_324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494324d29f_0_32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241" name="Google Shape;241;g3494324d29f_0_32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494324d29f_0_324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Controle de Entrada/Saída para Academia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3494324d29f_0_324"/>
          <p:cNvSpPr txBox="1"/>
          <p:nvPr/>
        </p:nvSpPr>
        <p:spPr>
          <a:xfrm>
            <a:off x="3611450" y="2996700"/>
            <a:ext cx="14409000" cy="1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Uma academia precisa ter o controle de seus clientes</a:t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g3494324d29f_0_324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RF e RNF (Modelo)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g3494324d29f_0_324"/>
          <p:cNvSpPr txBox="1"/>
          <p:nvPr/>
        </p:nvSpPr>
        <p:spPr>
          <a:xfrm>
            <a:off x="3611475" y="3651100"/>
            <a:ext cx="14476200" cy="3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Requisitos Funcionais: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Registrar entrada e saída de alunos via biometria.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Bloquear acesso de alunos avulsos após 3 acessos semanais.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Requisitos Não Funcionais: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Integração com o leitor de biometria modelo "BioSafe X2".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Funcionar 100% offline (sem necessidade de internet).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94324d29f_0_304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494324d29f_0_304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g3494324d29f_0_30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g3494324d29f_0_304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494324d29f_0_30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255" name="Google Shape;255;g3494324d29f_0_30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g3494324d29f_0_304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57" name="Google Shape;257;g3494324d29f_0_30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g3494324d29f_0_30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g3494324d29f_0_304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Reservas para Hotel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g3494324d29f_0_304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261" name="Google Shape;261;g3494324d29f_0_304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Um hotel precisa de um sistema para gerenciar reservas, hóspedes e serviços.</a:t>
            </a:r>
            <a:endParaRPr/>
          </a:p>
        </p:txBody>
      </p:sp>
      <p:sp>
        <p:nvSpPr>
          <p:cNvPr id="262" name="Google Shape;262;g3494324d29f_0_304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RF e RNF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g3494324d29f_0_304"/>
          <p:cNvSpPr txBox="1"/>
          <p:nvPr/>
        </p:nvSpPr>
        <p:spPr>
          <a:xfrm>
            <a:off x="3611475" y="3651100"/>
            <a:ext cx="144762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Regras de Negócio: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Clientes que repetirem hospedagem dentro de 6 meses ganham 15% de desconto.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Reservas para feriados exigem pagamento de 50% antecipado.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Crianças menores de 5 anos não pagam (máximo 2 por quarto).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Restrições: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sistema deve funcionar offline (internet instável na região).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Só será usado em 1 computador (não precisa de acesso simultâneo).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Liste 3 requisitos funcionais e 2 não funcionais para esse sistema.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494324d29f_0_20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494324d29f_0_209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g3494324d29f_0_20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g3494324d29f_0_20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494324d29f_0_209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273" name="Google Shape;273;g3494324d29f_0_20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" name="Google Shape;274;g3494324d29f_0_209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75" name="Google Shape;275;g3494324d29f_0_20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g3494324d29f_0_20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g3494324d29f_0_209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Site de Pedidos para Lanchonete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g3494324d29f_0_209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279" name="Google Shape;279;g3494324d29f_0_209"/>
          <p:cNvSpPr txBox="1"/>
          <p:nvPr/>
        </p:nvSpPr>
        <p:spPr>
          <a:xfrm>
            <a:off x="3611450" y="2996700"/>
            <a:ext cx="147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Lanchonete precisa de um site para receber pedidos online.</a:t>
            </a:r>
            <a:endParaRPr/>
          </a:p>
        </p:txBody>
      </p:sp>
      <p:sp>
        <p:nvSpPr>
          <p:cNvPr id="280" name="Google Shape;280;g3494324d29f_0_209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RF e RNF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g3494324d29f_0_209"/>
          <p:cNvSpPr txBox="1"/>
          <p:nvPr/>
        </p:nvSpPr>
        <p:spPr>
          <a:xfrm>
            <a:off x="3611475" y="3651100"/>
            <a:ext cx="144762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Regras de Negócio: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Pedidos acima de R$ 50,00 têm entrega grátis (raio de 5 km).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Promoções do dia devem aparecer em destaque na página inicial.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Clientes podem adicionar até 3 modificações no lanche (ex: sem cebola).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Restrições: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site deve carregar em até 3 segundos (clientes reclamam de demora).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aceita cartões (só PIX ou dinheiro na entrega).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Defina 2 requisitos funcionais e 2 não funcionais para o site.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94324d29f_0_238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494324d29f_0_238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g3494324d29f_0_238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g3494324d29f_0_238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494324d29f_0_238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291" name="Google Shape;291;g3494324d29f_0_23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g3494324d29f_0_238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93" name="Google Shape;293;g3494324d29f_0_2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g3494324d29f_0_2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g3494324d29f_0_238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Aplicativo para Biblioteca Comunitária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g3494324d29f_0_238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297" name="Google Shape;297;g3494324d29f_0_238"/>
          <p:cNvSpPr txBox="1"/>
          <p:nvPr/>
        </p:nvSpPr>
        <p:spPr>
          <a:xfrm>
            <a:off x="3611450" y="2996700"/>
            <a:ext cx="147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Biblioteca precisa de um app simples para controle de empréstimos.</a:t>
            </a:r>
            <a:endParaRPr/>
          </a:p>
        </p:txBody>
      </p:sp>
      <p:sp>
        <p:nvSpPr>
          <p:cNvPr id="298" name="Google Shape;298;g3494324d29f_0_238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RF e RNF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g3494324d29f_0_238"/>
          <p:cNvSpPr txBox="1"/>
          <p:nvPr/>
        </p:nvSpPr>
        <p:spPr>
          <a:xfrm>
            <a:off x="3611475" y="3651100"/>
            <a:ext cx="144762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Regras de Negócio: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Livros podem ficar emprestados por 14 dias (renovável 1 vez se não houver reserva).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Usuários com atraso não podem pegar novos livros até regularizar.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Doações de livros devem ser registradas com nome do doador.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Restrições: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Funcionar em tablets Android antigos (versão 8.0 ou superior).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devem ser armazenados localmente (não usa nuvem).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Especifique 3 requisitos funcionais e 1 requisito não funcional.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494324d29f_0_255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494324d29f_0_255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g3494324d29f_0_255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g3494324d29f_0_255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494324d29f_0_255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309" name="Google Shape;309;g3494324d29f_0_25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g3494324d29f_0_255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311" name="Google Shape;311;g3494324d29f_0_25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g3494324d29f_0_25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g3494324d29f_0_255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Estoque para Mercearia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g3494324d29f_0_255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315" name="Google Shape;315;g3494324d29f_0_255"/>
          <p:cNvSpPr txBox="1"/>
          <p:nvPr/>
        </p:nvSpPr>
        <p:spPr>
          <a:xfrm>
            <a:off x="3611450" y="2996700"/>
            <a:ext cx="147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Mercearia quer sistema para controlar entrada/saída de produtos.</a:t>
            </a:r>
            <a:endParaRPr/>
          </a:p>
        </p:txBody>
      </p:sp>
      <p:sp>
        <p:nvSpPr>
          <p:cNvPr id="316" name="Google Shape;316;g3494324d29f_0_255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RF e RNF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g3494324d29f_0_255"/>
          <p:cNvSpPr txBox="1"/>
          <p:nvPr/>
        </p:nvSpPr>
        <p:spPr>
          <a:xfrm>
            <a:off x="3611475" y="3651100"/>
            <a:ext cx="144762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Regras de Negócio: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Produtos perto do vencimento (7 dias) devem aparecer em lista separada.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Desconto automático de 10% em itens com validade inferior a 3 dias.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Alertar quando estoque estiver abaixo de 5 unidades.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Restrições: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 rodar em 2 computadores ao mesmo tempo (caixa e depósito).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Impressora térmica já existente deve ser compatível.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Indique 2 requisitos funcionais e 2 requisitos não funcionais.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494324d29f_0_272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494324d29f_0_272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g3494324d29f_0_272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g3494324d29f_0_272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494324d29f_0_272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327" name="Google Shape;327;g3494324d29f_0_27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" name="Google Shape;328;g3494324d29f_0_272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329" name="Google Shape;329;g3494324d29f_0_27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g3494324d29f_0_27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g3494324d29f_0_272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Site de Agendamento para Barbearia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g3494324d29f_0_272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/>
          </a:p>
        </p:txBody>
      </p:sp>
      <p:sp>
        <p:nvSpPr>
          <p:cNvPr id="333" name="Google Shape;333;g3494324d29f_0_272"/>
          <p:cNvSpPr txBox="1"/>
          <p:nvPr/>
        </p:nvSpPr>
        <p:spPr>
          <a:xfrm>
            <a:off x="3611450" y="2996700"/>
            <a:ext cx="147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Site de Agendamento para Barbearia</a:t>
            </a:r>
            <a:endParaRPr/>
          </a:p>
        </p:txBody>
      </p:sp>
      <p:sp>
        <p:nvSpPr>
          <p:cNvPr id="334" name="Google Shape;334;g3494324d29f_0_272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RF e RNF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g3494324d29f_0_272"/>
          <p:cNvSpPr txBox="1"/>
          <p:nvPr/>
        </p:nvSpPr>
        <p:spPr>
          <a:xfrm>
            <a:off x="3611475" y="3651100"/>
            <a:ext cx="144762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Regras de Negócio: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Clientes podem agendar apenas 1 serviço por vez (ex: corte ou barba).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Finais de semana têm acréscimo de 20% no preço.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Cancelamentos com menos de 6h de antecedência perdem o sinal de R$ 10,00.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Restrições: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Site deve mostrar horários disponíveis em tempo real.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precisa de cadastro (só nome e telefone para agendar).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Liste 2 requisitos funcionais e 1 requisito não funcional.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3" name="Google Shape;343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44" name="Google Shape;344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g3494324d29f_0_182"/>
          <p:cNvSpPr txBox="1"/>
          <p:nvPr/>
        </p:nvSpPr>
        <p:spPr>
          <a:xfrm>
            <a:off x="1685075" y="3542151"/>
            <a:ext cx="14443800" cy="11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Requisitos =</a:t>
            </a: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 O que o sistema precisa fazer.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Funcionais =</a:t>
            </a: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 Ações do sistema (ex.: cadastrar, calcular).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Não Funcionais =</a:t>
            </a: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 Qualidade (rápido, seguro, fácil de usar).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Regras de Negócio =</a:t>
            </a: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 Normas específicas, empresa ou projeto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Restrições = </a:t>
            </a: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Limitações específicas da empresa ou projeto.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494324d29f_0_18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7" name="Google Shape;357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58" name="Google Shape;358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" name="Google Shape;361;g3494324d29f_0_343"/>
          <p:cNvSpPr txBox="1"/>
          <p:nvPr/>
        </p:nvSpPr>
        <p:spPr>
          <a:xfrm>
            <a:off x="1685075" y="3542151"/>
            <a:ext cx="14443800" cy="13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SOMMERVILLE, Ian.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Engenharia de Software. 10. ed. São Paulo: Pearson, 2020.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Capítulo 4: Requisitos de Software (p. 67-98).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PRESSMAN, Roger S.; MAXIM, Bruce R.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Engenharia de Software: Uma Abordagem Profissional. 8. ed. Porto Alegre: AMGH, 2016.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Seção 5.3: Levantamento de Requisitos (p. 120-135).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Associação Brasileira de Normas Técnicas (ABNT).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NBR ISO/IEC 12207:2021 – Processos de Ciclo de Vida de Software.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NBR ISO/IEC/IEEE 29148:2018 – Engenharia de Requisitos.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IBM.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Requirements Engineering: Best Practices. 2023.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Disponível em: https://www.ibm.com/br-pt/topics/requirements-engineering.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494324d29f_0_343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/>
          </a:p>
        </p:txBody>
      </p:sp>
      <p:grpSp>
        <p:nvGrpSpPr>
          <p:cNvPr id="371" name="Google Shape;371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72" name="Google Shape;372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Poppins"/>
                  <a:ea typeface="Poppins"/>
                  <a:cs typeface="Poppins"/>
                  <a:sym typeface="Poppins"/>
                </a:rPr>
                <a:t>Av. Goiás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 1</a:t>
              </a:r>
              <a:r>
                <a:rPr lang="en-US" sz="2400">
                  <a:latin typeface="Poppins"/>
                  <a:ea typeface="Poppins"/>
                  <a:cs typeface="Poppins"/>
                  <a:sym typeface="Poppins"/>
                </a:rPr>
                <a:t>39</a:t>
              </a:r>
              <a:endParaRPr sz="24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3" name="Google Shape;373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99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/>
            </a:p>
          </p:txBody>
        </p:sp>
      </p:grpSp>
      <p:grpSp>
        <p:nvGrpSpPr>
          <p:cNvPr id="374" name="Google Shape;374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75" name="Google Shape;375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/>
            </a:p>
          </p:txBody>
        </p:sp>
        <p:sp>
          <p:nvSpPr>
            <p:cNvPr id="376" name="Google Shape;376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</a:t>
              </a:r>
              <a:r>
                <a:rPr lang="en-US" sz="2400">
                  <a:latin typeface="Poppins"/>
                  <a:ea typeface="Poppins"/>
                  <a:cs typeface="Poppins"/>
                  <a:sym typeface="Poppins"/>
                </a:rPr>
                <a:t>senai.itu</a:t>
              </a:r>
              <a:endParaRPr/>
            </a:p>
          </p:txBody>
        </p:sp>
      </p:grpSp>
      <p:grpSp>
        <p:nvGrpSpPr>
          <p:cNvPr id="377" name="Google Shape;377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78" name="Google Shape;378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/>
            </a:p>
          </p:txBody>
        </p:sp>
        <p:sp>
          <p:nvSpPr>
            <p:cNvPr id="379" name="Google Shape;379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/>
            </a:p>
          </p:txBody>
        </p:sp>
      </p:grpSp>
      <p:grpSp>
        <p:nvGrpSpPr>
          <p:cNvPr id="380" name="Google Shape;380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81" name="Google Shape;381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/>
            </a:p>
          </p:txBody>
        </p:sp>
        <p:sp>
          <p:nvSpPr>
            <p:cNvPr id="382" name="Google Shape;382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</a:t>
              </a:r>
              <a:r>
                <a:rPr lang="en-US" sz="2400">
                  <a:latin typeface="Poppins"/>
                  <a:ea typeface="Poppins"/>
                  <a:cs typeface="Poppins"/>
                  <a:sym typeface="Poppins"/>
                </a:rPr>
                <a:t>senaisp.itu</a:t>
              </a:r>
              <a:endParaRPr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83" name="Google Shape;383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85" name="Google Shape;385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6" name="Google Shape;386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