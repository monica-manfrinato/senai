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sAHoHSHbTvpGlB/1ySbahzqx6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6.xml"/><Relationship Id="rId22" Type="http://schemas.openxmlformats.org/officeDocument/2006/relationships/font" Target="fonts/Poppins-italic.fntdata"/><Relationship Id="rId10" Type="http://schemas.openxmlformats.org/officeDocument/2006/relationships/slide" Target="slides/slide5.xml"/><Relationship Id="rId21" Type="http://schemas.openxmlformats.org/officeDocument/2006/relationships/font" Target="fonts/Poppi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9be8474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49be84749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a3076d6b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a3076d6b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a3076d6b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a3076d6b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a3076d6b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4a3076d6b0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94324d29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494324d29f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94324d29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494324d29f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94324d29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494324d29f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94324d29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494324d29f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94324d2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494324d29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827100" y="3716300"/>
            <a:ext cx="10658700" cy="4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MATRIZ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RASTREABILIDADE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9be847499_0_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49be847499_0_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49be847499_0_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49be847499_0_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49be847499_0_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49be847499_0_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49be847499_0_5"/>
          <p:cNvSpPr txBox="1"/>
          <p:nvPr/>
        </p:nvSpPr>
        <p:spPr>
          <a:xfrm>
            <a:off x="2043302" y="1189050"/>
            <a:ext cx="10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49be847499_0_5"/>
          <p:cNvSpPr txBox="1"/>
          <p:nvPr/>
        </p:nvSpPr>
        <p:spPr>
          <a:xfrm>
            <a:off x="1685075" y="3542150"/>
            <a:ext cx="148596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Uma matriz de rastreabilidade é uma ferramenta que mapeia e vincula requisitos a artefatos do projeto (como casos de uso, testes ou tarefas), garantindo que todas as demandas sejam atendidas e rastreadas ao longo do desenvolvimento.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Por que usar?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Garante alinhamento entre requisitos e implementação.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Evita gaps (ex.: funcionalidades esquecidas).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Facilita auditorias e mudanças (ex.: impacto de alterações).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49be847499_0_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49be847499_0_5"/>
          <p:cNvSpPr txBox="1"/>
          <p:nvPr/>
        </p:nvSpPr>
        <p:spPr>
          <a:xfrm>
            <a:off x="2043304" y="962025"/>
            <a:ext cx="48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a3076d6b0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a3076d6b0_0_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a3076d6b0_0_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a3076d6b0_0_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a3076d6b0_0_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a3076d6b0_0_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a3076d6b0_0_1"/>
          <p:cNvSpPr txBox="1"/>
          <p:nvPr/>
        </p:nvSpPr>
        <p:spPr>
          <a:xfrm>
            <a:off x="2043302" y="1189050"/>
            <a:ext cx="10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desenvolver?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a3076d6b0_0_1"/>
          <p:cNvSpPr txBox="1"/>
          <p:nvPr/>
        </p:nvSpPr>
        <p:spPr>
          <a:xfrm>
            <a:off x="1685075" y="3542150"/>
            <a:ext cx="148596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D9383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Liste os requisitos</a:t>
            </a:r>
            <a:r>
              <a:rPr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ex.: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"RF-001: Login via redes sociais"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D9383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Relacione a artefatos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ex.: Caso de Uso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"UC-03: Autenticar usuário"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D9383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Monitore status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Implementado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Pendente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Testado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a3076d6b0_0_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a3076d6b0_0_1"/>
          <p:cNvSpPr txBox="1"/>
          <p:nvPr/>
        </p:nvSpPr>
        <p:spPr>
          <a:xfrm>
            <a:off x="2043304" y="962025"/>
            <a:ext cx="48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a3076d6b0_0_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a3076d6b0_0_1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a3076d6b0_0_1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34a3076d6b0_0_14"/>
          <p:cNvSpPr txBox="1"/>
          <p:nvPr/>
        </p:nvSpPr>
        <p:spPr>
          <a:xfrm>
            <a:off x="2043300" y="1189050"/>
            <a:ext cx="12658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(Sistema de hotel)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g34a3076d6b0_0_1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4a3076d6b0_0_14"/>
          <p:cNvSpPr txBox="1"/>
          <p:nvPr/>
        </p:nvSpPr>
        <p:spPr>
          <a:xfrm>
            <a:off x="2043304" y="962025"/>
            <a:ext cx="48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g34a3076d6b0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6200" y="4160275"/>
            <a:ext cx="16635600" cy="4553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a3076d6b0_0_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4a3076d6b0_0_2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g34a3076d6b0_0_2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g34a3076d6b0_0_29"/>
          <p:cNvSpPr txBox="1"/>
          <p:nvPr/>
        </p:nvSpPr>
        <p:spPr>
          <a:xfrm>
            <a:off x="2043300" y="1189050"/>
            <a:ext cx="12658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E-commerce de Moda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g34a3076d6b0_0_2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4a3076d6b0_0_29"/>
          <p:cNvSpPr txBox="1"/>
          <p:nvPr/>
        </p:nvSpPr>
        <p:spPr>
          <a:xfrm>
            <a:off x="2043304" y="962025"/>
            <a:ext cx="48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g34a3076d6b0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175" y="5374775"/>
            <a:ext cx="17779660" cy="21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3611441" y="962025"/>
            <a:ext cx="2865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3611475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Biblioteca Universitária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Matriz de rastreabilidade 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(Modelo)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3611475" y="3117700"/>
            <a:ext cx="14476200" cy="8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fornecidos: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Requisito RF-01: "Empréstimo de livros" (Fonte: Reunião com diretor)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uso UC-03: "Realizar empréstimo"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Impacto: Crítico (sem isso, o sistema não funciona)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Teste: CT-005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Status: Implementado (concluído)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892" y="6727692"/>
            <a:ext cx="17633800" cy="250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94324d29f_0_304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494324d29f_0_30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3494324d29f_0_30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g3494324d29f_0_304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94324d29f_0_30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494324d29f_0_3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g3494324d29f_0_304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164" name="Google Shape;164;g3494324d29f_0_30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494324d29f_0_30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494324d29f_0_304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Aplicativo de Metas Fitness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g3494324d29f_0_304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494324d29f_0_304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g3494324d29f_0_304"/>
          <p:cNvSpPr txBox="1"/>
          <p:nvPr/>
        </p:nvSpPr>
        <p:spPr>
          <a:xfrm>
            <a:off x="3611475" y="3651100"/>
            <a:ext cx="14476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fornecidos: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Sprint: Sprint 3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Grau de Impacto: Alto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Teste: CT-012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Uso: UC-01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Descrição: Cadastrar peso do usuário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Tipo: Funcional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Fonte: Documento BRD-001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Status: Em desenvolvimento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ID: RF-02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94324d29f_0_20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94324d29f_0_209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494324d29f_0_20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g3494324d29f_0_20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494324d29f_0_20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494324d29f_0_20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g3494324d29f_0_20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181" name="Google Shape;181;g3494324d29f_0_20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494324d29f_0_20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494324d29f_0_209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RH Empresarial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494324d29f_0_20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494324d29f_0_20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494324d29f_0_209"/>
          <p:cNvSpPr txBox="1"/>
          <p:nvPr/>
        </p:nvSpPr>
        <p:spPr>
          <a:xfrm>
            <a:off x="3611475" y="3651100"/>
            <a:ext cx="14476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fornecidos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Tipo: Não Funcional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Fonte: Norma de segurança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ID: RF-03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Uso: UC-05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Grau de Impacto: Médio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Teste: CT-020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Sprint: Sprint 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Descrição: Tempo de resposta &lt; 2s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Status: Testado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94324d29f_0_238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494324d29f_0_238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494324d29f_0_238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3494324d29f_0_238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494324d29f_0_238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494324d29f_0_23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g3494324d29f_0_238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198" name="Google Shape;198;g3494324d29f_0_2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494324d29f_0_2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g3494324d29f_0_238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E-commerce de Moda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g3494324d29f_0_238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494324d29f_0_238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g3494324d29f_0_238"/>
          <p:cNvSpPr txBox="1"/>
          <p:nvPr/>
        </p:nvSpPr>
        <p:spPr>
          <a:xfrm>
            <a:off x="3611475" y="3651100"/>
            <a:ext cx="14476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fornecidos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Teste: CT-015, CT-016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ID: RF-04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Descrição: Frete grátis acima de R$100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Sprint: Sprint 4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Grau de Impacto: Alto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Status: Pendente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Fonte: Pesquisa de mercado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Uso: UC-02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Tipo: Funcional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94324d29f_0_25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494324d29f_0_255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494324d29f_0_25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g3494324d29f_0_25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494324d29f_0_25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494324d29f_0_25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g3494324d29f_0_255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15" name="Google Shape;215;g3494324d29f_0_25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g3494324d29f_0_25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g3494324d29f_0_255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Rede Social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g3494324d29f_0_255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494324d29f_0_255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g3494324d29f_0_255"/>
          <p:cNvSpPr txBox="1"/>
          <p:nvPr/>
        </p:nvSpPr>
        <p:spPr>
          <a:xfrm>
            <a:off x="3611475" y="3651100"/>
            <a:ext cx="14476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fornecidos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Descrição: Backup diário dos dados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Tipo: Não Funcional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ID: RF-06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Fonte: Política de TI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Grau de Impacto: Alto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Uso: UC-15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Teste: CT-031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Sprint: Sprint 3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Status: Implementado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94324d29f_0_27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494324d29f_0_272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g3494324d29f_0_27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g3494324d29f_0_27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494324d29f_0_27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494324d29f_0_27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g3494324d29f_0_27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32" name="Google Shape;232;g3494324d29f_0_27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494324d29f_0_27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g3494324d29f_0_272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Banco Digital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g3494324d29f_0_27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494324d29f_0_27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g3494324d29f_0_272"/>
          <p:cNvSpPr txBox="1"/>
          <p:nvPr/>
        </p:nvSpPr>
        <p:spPr>
          <a:xfrm>
            <a:off x="3611475" y="3651100"/>
            <a:ext cx="14476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fornecidos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Status: Em teste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Teste: CT-040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ID: RF-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Descrição: Transferência PIX em até 5s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Fonte: Norma BCB 2024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Tipo: Não Funcional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Sprint: Sprint 6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Grau de Impacto: Crítico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 de Uso: UC-15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5" name="Google Shape;245;g3494324d29f_0_182"/>
          <p:cNvGrpSpPr/>
          <p:nvPr/>
        </p:nvGrpSpPr>
        <p:grpSpPr>
          <a:xfrm>
            <a:off x="1038175" y="2261301"/>
            <a:ext cx="16211658" cy="7985269"/>
            <a:chOff x="0" y="-38100"/>
            <a:chExt cx="4269709" cy="2000418"/>
          </a:xfrm>
        </p:grpSpPr>
        <p:sp>
          <p:nvSpPr>
            <p:cNvPr id="246" name="Google Shape;246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494324d29f_0_182"/>
          <p:cNvSpPr txBox="1"/>
          <p:nvPr/>
        </p:nvSpPr>
        <p:spPr>
          <a:xfrm>
            <a:off x="1346050" y="2514601"/>
            <a:ext cx="14443800" cy="7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ID: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Identificador único do requisito (ex.: RF-001 para funcional, NF-002 para não funcional).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Descrição: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O que o sistema deve fazer (ex.: "Login com reconhecimento facial").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Tipo: 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F = Funcional (o QUE o sistema faz)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NF = Não Funcional (COMO o sistema faz - performance, segurança)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✅ Grau de Impacto: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🔥 Crítico: Bloqueia operação (ex.: pagamento falha)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⚠️ Alto: Impacta funcionalidade core (ex.: login lento)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🟡 Médio: Importante, mas não urgente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🟢 Baixo: Melhoria secundária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Fonte: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Origem do requisito (ex.: "Reunião com PO 15/05", "Norma GDPR").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Caso de Uso: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Funcionalidade vinculada (ID + nome)- UC-01 (Autenticar usuário)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Teste: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ID do caso de teste que valida - CT-007 (Teste de segurança)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 Sprint: </a:t>
            </a: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Quando será implementado - Sprint 3 ou Release 2.0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300">
                <a:latin typeface="Poppins"/>
                <a:ea typeface="Poppins"/>
                <a:cs typeface="Poppins"/>
                <a:sym typeface="Poppins"/>
              </a:rPr>
              <a:t>✅ Status:</a:t>
            </a:r>
            <a:endParaRPr b="1"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🟠 Pendente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🔵 Em desenvolvimento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🟢 Testado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✔️ Implementado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494324d29f_0_182"/>
          <p:cNvSpPr txBox="1"/>
          <p:nvPr/>
        </p:nvSpPr>
        <p:spPr>
          <a:xfrm>
            <a:off x="2043305" y="962025"/>
            <a:ext cx="544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" name="Google Shape;259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60" name="Google Shape;260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494324d29f_0_343"/>
          <p:cNvSpPr txBox="1"/>
          <p:nvPr/>
        </p:nvSpPr>
        <p:spPr>
          <a:xfrm>
            <a:off x="1685075" y="3542151"/>
            <a:ext cx="14443800" cy="6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LAUREN, Craig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"Requirements Engineering: Fundamentals, Principles, and Techniques" Springer, 2010.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GUEDES, Gilleanes T.A.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"UML: Guia Prático" Novatec, 2012 (Cap. 4 - Rastreabilidade).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ISO/IEC 29148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"Systems and software engineering — Life cycle processes — Requirements engineering" (Disponível em: www.iso.org). Acesso em 01/04/2025.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494324d29f_0_343"/>
          <p:cNvSpPr txBox="1"/>
          <p:nvPr/>
        </p:nvSpPr>
        <p:spPr>
          <a:xfrm>
            <a:off x="2043305" y="962025"/>
            <a:ext cx="544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MATRIZ DE RASTREABILIDADE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74" name="Google Shape;274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" name="Google Shape;276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77" name="Google Shape;277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80" name="Google Shape;280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83" name="Google Shape;283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5" name="Google Shape;285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" name="Google Shape;286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87" name="Google Shape;28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