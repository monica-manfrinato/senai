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Poppi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h8zM9f+YOwqArcV9AjXvMDzvTw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regular.fntdata"/><Relationship Id="rId21" Type="http://schemas.openxmlformats.org/officeDocument/2006/relationships/slide" Target="slides/slide16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bcfcf72a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4bcfcf72a9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bd6b5065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4bd6b50655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bdf5f76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4bdf5f76d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bdf5f76d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4bdf5f76db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94324d29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494324d29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bdf5f76d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4bdf5f76d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bdf5f76db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4bdf5f76db_1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bdf5f76db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4bdf5f76db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bdf5f76db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4bdf5f76db_1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4bdf5f76db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34bdf5f76db_1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4bdf5f76db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34bdf5f76db_1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4bdf5f76db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g34bdf5f76db_1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52801" y="4556700"/>
            <a:ext cx="17173500" cy="44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FASES DO LEVANTAMENTO DE REQUISITOS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t/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962025"/>
            <a:ext cx="6921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FASES DO LEVANTAMENTO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2043296" y="1189042"/>
            <a:ext cx="710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Quais são?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1685075" y="3542153"/>
            <a:ext cx="14443800" cy="6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 processo é dividido em três fases essenciais: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Coleta</a:t>
            </a:r>
            <a:br>
              <a:rPr b="1" lang="en-US" sz="2400">
                <a:latin typeface="Poppins"/>
                <a:ea typeface="Poppins"/>
                <a:cs typeface="Poppins"/>
                <a:sym typeface="Poppins"/>
              </a:rPr>
            </a:b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Análise</a:t>
            </a:r>
            <a:br>
              <a:rPr b="1" lang="en-US" sz="2400">
                <a:latin typeface="Poppins"/>
                <a:ea typeface="Poppins"/>
                <a:cs typeface="Poppins"/>
                <a:sym typeface="Poppins"/>
              </a:rPr>
            </a:b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Registro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2400">
                <a:latin typeface="Poppins"/>
                <a:ea typeface="Poppins"/>
                <a:cs typeface="Poppins"/>
                <a:sym typeface="Poppins"/>
              </a:rPr>
            </a:b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Cada uma tem um papel fundamental para transformar ideias em especificações claras.</a:t>
            </a:r>
            <a:br>
              <a:rPr lang="en-US" sz="2400">
                <a:latin typeface="Poppins"/>
                <a:ea typeface="Poppins"/>
                <a:cs typeface="Poppins"/>
                <a:sym typeface="Poppins"/>
              </a:rPr>
            </a:b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bcfcf72a9_0_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4bcfcf72a9_0_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4bcfcf72a9_0_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4bcfcf72a9_0_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1" name="Google Shape;111;g34bcfcf72a9_0_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4bcfcf72a9_0_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4bcfcf72a9_0_9"/>
          <p:cNvSpPr txBox="1"/>
          <p:nvPr/>
        </p:nvSpPr>
        <p:spPr>
          <a:xfrm>
            <a:off x="2043296" y="1189042"/>
            <a:ext cx="710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Coleta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4bcfcf72a9_0_9"/>
          <p:cNvSpPr txBox="1"/>
          <p:nvPr/>
        </p:nvSpPr>
        <p:spPr>
          <a:xfrm>
            <a:off x="1685075" y="3542153"/>
            <a:ext cx="14443800" cy="7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Primeira etapa: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identificar e reunir os requisitos com os stakeholders.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Usa métodos como: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Briefing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Levantamento Orientado a Pontos de Vista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Etnografia (Observação Direta)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Entrevistas e Questionários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Brainstorming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Reunir-se com funcionários da empresa para entender suas dores e desejos.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4bcfcf72a9_0_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4bcfcf72a9_0_9"/>
          <p:cNvSpPr txBox="1"/>
          <p:nvPr/>
        </p:nvSpPr>
        <p:spPr>
          <a:xfrm>
            <a:off x="2043308" y="962025"/>
            <a:ext cx="69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FASES DO LEVANTAMENTO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bd6b50655_0_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4bd6b50655_0_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4bd6b50655_0_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" name="Google Shape;124;g34bd6b50655_0_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5" name="Google Shape;125;g34bd6b50655_0_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4bd6b50655_0_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g34bd6b50655_0_6"/>
          <p:cNvSpPr txBox="1"/>
          <p:nvPr/>
        </p:nvSpPr>
        <p:spPr>
          <a:xfrm>
            <a:off x="2043296" y="1189042"/>
            <a:ext cx="710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Análise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4bd6b50655_0_6"/>
          <p:cNvSpPr txBox="1"/>
          <p:nvPr/>
        </p:nvSpPr>
        <p:spPr>
          <a:xfrm>
            <a:off x="1685075" y="3542153"/>
            <a:ext cx="14443800" cy="6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Após a coleta, os requisitos são: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Organizados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Revisados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Priorizados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Conforme: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Urgência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Impacto.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Exemplo: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Ajustar - "O sistema deve ser rápido"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Para -  "Página inicial deve carregar em até 2 segundos".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g34bd6b50655_0_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4bd6b50655_0_6"/>
          <p:cNvSpPr txBox="1"/>
          <p:nvPr/>
        </p:nvSpPr>
        <p:spPr>
          <a:xfrm>
            <a:off x="2043308" y="962025"/>
            <a:ext cx="69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FASES DO LEVANTAMENTO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bdf5f76db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4bdf5f76db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g34bdf5f76db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" name="Google Shape;138;g34bdf5f76db_0_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39" name="Google Shape;139;g34bdf5f76db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4bdf5f76db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4bdf5f76db_0_0"/>
          <p:cNvSpPr txBox="1"/>
          <p:nvPr/>
        </p:nvSpPr>
        <p:spPr>
          <a:xfrm>
            <a:off x="2043296" y="1189042"/>
            <a:ext cx="710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Registro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4bdf5f76db_0_0"/>
          <p:cNvSpPr txBox="1"/>
          <p:nvPr/>
        </p:nvSpPr>
        <p:spPr>
          <a:xfrm>
            <a:off x="1685075" y="3542153"/>
            <a:ext cx="14443800" cy="5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Todos os requisitos são documentados de forma: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Clara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Detalhada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Oficial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Esse registro será usado nas próximas fases do projeto.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Exemplo: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"Usuário deve poder cadastrar produtos com: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■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Nome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■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Valor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■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Categoria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■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Estoque Disponível."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34bdf5f76db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4bdf5f76db_0_0"/>
          <p:cNvSpPr txBox="1"/>
          <p:nvPr/>
        </p:nvSpPr>
        <p:spPr>
          <a:xfrm>
            <a:off x="2043308" y="962025"/>
            <a:ext cx="69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FASES DO LEVANTAMENTO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bdf5f76db_0_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4bdf5f76db_0_1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34bdf5f76db_0_1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2" name="Google Shape;152;g34bdf5f76db_0_1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53" name="Google Shape;153;g34bdf5f76db_0_1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g34bdf5f76db_0_1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34bdf5f76db_0_17"/>
          <p:cNvSpPr txBox="1"/>
          <p:nvPr/>
        </p:nvSpPr>
        <p:spPr>
          <a:xfrm>
            <a:off x="2043296" y="1189042"/>
            <a:ext cx="710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Registro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4bdf5f76db_0_17"/>
          <p:cNvSpPr txBox="1"/>
          <p:nvPr/>
        </p:nvSpPr>
        <p:spPr>
          <a:xfrm>
            <a:off x="1685075" y="3542153"/>
            <a:ext cx="14443800" cy="5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Todos os requisitos são documentados de forma: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Clara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Detalhada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Oficial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Esse registro será usado nas próximas fases do projeto.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○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Exemplo: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"Usuário deve poder cadastrar produtos com: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■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Nome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■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Valor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■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Categoria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■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Estoque Disponível."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g34bdf5f76db_0_1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4bdf5f76db_0_17"/>
          <p:cNvSpPr txBox="1"/>
          <p:nvPr/>
        </p:nvSpPr>
        <p:spPr>
          <a:xfrm>
            <a:off x="2043308" y="962025"/>
            <a:ext cx="692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FASES DO LEVANTAMENTO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94324d29f_0_1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494324d29f_0_18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g3494324d29f_0_18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6" name="Google Shape;166;g3494324d29f_0_18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67" name="Google Shape;167;g3494324d29f_0_18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g3494324d29f_0_18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g3494324d29f_0_18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g3494324d29f_0_182"/>
          <p:cNvSpPr txBox="1"/>
          <p:nvPr/>
        </p:nvSpPr>
        <p:spPr>
          <a:xfrm>
            <a:off x="1685075" y="3542151"/>
            <a:ext cx="14443800" cy="9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Coleta = </a:t>
            </a: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Recolhe os dados.</a:t>
            </a:r>
            <a:endParaRPr b="0" i="0" sz="3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Análise =</a:t>
            </a: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 Refina e organiza.</a:t>
            </a:r>
            <a:endParaRPr i="0" sz="3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Registro = </a:t>
            </a: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Formaliza os requisitos.</a:t>
            </a:r>
            <a:endParaRPr b="0" i="0" sz="3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Juntas, garantem que o sistema atenda às necessidades reais do cliente.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3494324d29f_0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494324d29f_0_182"/>
          <p:cNvSpPr txBox="1"/>
          <p:nvPr/>
        </p:nvSpPr>
        <p:spPr>
          <a:xfrm>
            <a:off x="2043309" y="962025"/>
            <a:ext cx="760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FASES DO LEVANTAMENTO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bdf5f76db_1_0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4bdf5f76db_1_0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8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g34bdf5f76db_1_0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g34bdf5f76db_1_0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4bdf5f76db_1_0"/>
          <p:cNvSpPr txBox="1"/>
          <p:nvPr/>
        </p:nvSpPr>
        <p:spPr>
          <a:xfrm>
            <a:off x="3611472" y="962025"/>
            <a:ext cx="965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g34bdf5f76db_1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4bdf5f76db_1_0"/>
          <p:cNvSpPr txBox="1"/>
          <p:nvPr/>
        </p:nvSpPr>
        <p:spPr>
          <a:xfrm>
            <a:off x="3611475" y="2570775"/>
            <a:ext cx="140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Sistema de Agendamento – Consultório de Psicologia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g34bdf5f76db_1_0"/>
          <p:cNvSpPr txBox="1"/>
          <p:nvPr/>
        </p:nvSpPr>
        <p:spPr>
          <a:xfrm>
            <a:off x="3611450" y="1545475"/>
            <a:ext cx="2477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Levantamento De Requisitos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g34bdf5f76db_1_0"/>
          <p:cNvSpPr txBox="1"/>
          <p:nvPr/>
        </p:nvSpPr>
        <p:spPr>
          <a:xfrm>
            <a:off x="3611475" y="3117700"/>
            <a:ext cx="14476200" cy="120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consultório Equilíbrio Mental ainda realiza seus agendamentos via caderno e WhatsApp. A psicóloga responsável contratou sua equipe para criar um sistema simples de agendamento e envio automático de lembretes para os pacientes.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Ela está disponível para responder perguntas detalhadas sobre sua rotina, as falhas do processo atual e suas necessidades específicas. Como o consultório é pequeno, só ela e sua secretária usarão o sistema.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Sua tarefa: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seria 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técnica de levantamento de requisitos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mais adequada para esse cenário? Justifique.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Quais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participantes principais (stakeholders)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devem participar diretamente da coleta de requisitos?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bdf5f76db_1_109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4bdf5f76db_1_109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8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g34bdf5f76db_1_109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g34bdf5f76db_1_109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4bdf5f76db_1_109"/>
          <p:cNvSpPr txBox="1"/>
          <p:nvPr/>
        </p:nvSpPr>
        <p:spPr>
          <a:xfrm>
            <a:off x="3611472" y="962025"/>
            <a:ext cx="965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g34bdf5f76db_1_10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4bdf5f76db_1_109"/>
          <p:cNvSpPr txBox="1"/>
          <p:nvPr/>
        </p:nvSpPr>
        <p:spPr>
          <a:xfrm>
            <a:off x="3611475" y="2570775"/>
            <a:ext cx="140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RESPOSTA MODELO: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g34bdf5f76db_1_109"/>
          <p:cNvSpPr txBox="1"/>
          <p:nvPr/>
        </p:nvSpPr>
        <p:spPr>
          <a:xfrm>
            <a:off x="3611450" y="1545475"/>
            <a:ext cx="2477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Levantamento De Requisitos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g34bdf5f76db_1_109"/>
          <p:cNvSpPr txBox="1"/>
          <p:nvPr/>
        </p:nvSpPr>
        <p:spPr>
          <a:xfrm>
            <a:off x="3611475" y="3117700"/>
            <a:ext cx="14476200" cy="9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Técnica escolhida: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Entrevistas e questionários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Justificativa: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 há poucos usuários e todos estão disponíveis, entrevistas ajudam a entender com detalhes o fluxo atual e o que precisa melhorar.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Participantes principais: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Psicóloga (proprietária e usuária principal)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Secretária (usuária do sistema de agendamento)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bdf5f76db_1_13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4bdf5f76db_1_13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g34bdf5f76db_1_13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g34bdf5f76db_1_13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4bdf5f76db_1_13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4bdf5f76db_1_1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9" name="Google Shape;209;g34bdf5f76db_1_13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10" name="Google Shape;210;g34bdf5f76db_1_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g34bdf5f76db_1_1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g34bdf5f76db_1_13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Sistema de Controle de Atendimento em Clínica Odontológica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g34bdf5f76db_1_13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4bdf5f76db_1_13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Levantamento De Requisitos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g34bdf5f76db_1_13"/>
          <p:cNvSpPr txBox="1"/>
          <p:nvPr/>
        </p:nvSpPr>
        <p:spPr>
          <a:xfrm>
            <a:off x="3611475" y="3117700"/>
            <a:ext cx="14476200" cy="7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clínica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Sorriso Ideal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deseja implementar seu primeiro sistema informatizado. A gerente administrativa marcou uma reunião com sua equipe para explicar os principais objetivos do projeto, tirar dúvidas e mostrar as ideias iniciais.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Ela quer que tudo seja registrado para servir de base para o projeto e espera que vocês consigam extrair ao máximo os objetivos do sistema e os limites da clínica neste primeiro contato.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Sua tarefa: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seria a técnica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levantamento de requisitos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mais adequada para esse cenário? Justifique.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Quais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participantes principais (stakeholders)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devem participar diretamente da coleta de requisitos?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bdf5f76db_1_128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4bdf5f76db_1_128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g34bdf5f76db_1_128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g34bdf5f76db_1_128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4bdf5f76db_1_128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4bdf5f76db_1_12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g34bdf5f76db_1_128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27" name="Google Shape;227;g34bdf5f76db_1_1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g34bdf5f76db_1_12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g34bdf5f76db_1_128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Sistema de Gestão Escolar – Escola Técnica com Diversos Setores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g34bdf5f76db_1_128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4bdf5f76db_1_128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Levantamento De Requisitos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g34bdf5f76db_1_128"/>
          <p:cNvSpPr txBox="1"/>
          <p:nvPr/>
        </p:nvSpPr>
        <p:spPr>
          <a:xfrm>
            <a:off x="3611475" y="3117700"/>
            <a:ext cx="14476200" cy="6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escola técnica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EduTec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pretende implantar um sistema unificado para todas as áreas: secretaria, professores, coordenação e biblioteca. Cada setor tem uma rotina e dificuldades diferentes, e a direção pediu que vocês considerem essas realidades para pensar num sistema que atenda todos de forma eficiente.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Sua tarefa: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seria a técnica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levantamento de requisitos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mais adequada para esse cenário? Justifique.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Quais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participantes principais (stakeholders)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devem participar diretamente da coleta de requisitos?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4bdf5f76db_1_146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4bdf5f76db_1_146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g34bdf5f76db_1_146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g34bdf5f76db_1_146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4bdf5f76db_1_146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4bdf5f76db_1_14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3" name="Google Shape;243;g34bdf5f76db_1_146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44" name="Google Shape;244;g34bdf5f76db_1_14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g34bdf5f76db_1_14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g34bdf5f76db_1_146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Organização de Processos – Loja de Roupas em Expansão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g34bdf5f76db_1_146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4bdf5f76db_1_146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Levantamento De Requisitos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g34bdf5f76db_1_146"/>
          <p:cNvSpPr txBox="1"/>
          <p:nvPr/>
        </p:nvSpPr>
        <p:spPr>
          <a:xfrm>
            <a:off x="3611475" y="3117700"/>
            <a:ext cx="14476200" cy="7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loja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EstiloFino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está crescendo e pretende abrir mais unidades. O gerente quer entender como é o dia a dia dos vendedores, do caixa e da reposição para decidir o que precisa ser automatizado no sistema que será criado.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 pediu que sua equipe vá até o local para acompanhar o trabalho durante um ou dois dias, sem interferir nas atividades.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Sua tarefa: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seria a técnica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levantamento de requisitos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mais adequada para esse cenário? Justifique.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Quais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participantes principais (stakeholders)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devem participar diretamente da coleta de requisitos?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bdf5f76db_1_164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4bdf5f76db_1_164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g34bdf5f76db_1_16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g34bdf5f76db_1_164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4bdf5f76db_1_16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4bdf5f76db_1_16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" name="Google Shape;260;g34bdf5f76db_1_164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61" name="Google Shape;261;g34bdf5f76db_1_16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g34bdf5f76db_1_16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g34bdf5f76db_1_164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Sistema de Comunicação com Pais – Escola Infantil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g34bdf5f76db_1_164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4bdf5f76db_1_164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Levantamento De Requisitos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g34bdf5f76db_1_164"/>
          <p:cNvSpPr txBox="1"/>
          <p:nvPr/>
        </p:nvSpPr>
        <p:spPr>
          <a:xfrm>
            <a:off x="3611475" y="3117700"/>
            <a:ext cx="14476200" cy="7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escola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deseja criar um aplicativo de comunicação com os pais. A coordenadora pedagógica quer reunir pais e professores para uma roda de conversa livre onde todos podem sugerir ideias, sem julgamentos, sobre o que gostariam de ver no aplicativo.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objetivo é coletar sugestões diversas para depois avaliar quais são viáveis tecnicamente.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Sua tarefa: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seria a técnica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levantamento de requisitos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mais adequada para esse cenário? Justifique.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Quais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participantes principais (stakeholders)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devem participar diretamente da coleta de requisitos?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4bdf5f76db_1_182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4bdf5f76db_1_182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g34bdf5f76db_1_182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g34bdf5f76db_1_182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4bdf5f76db_1_182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4bdf5f76db_1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7" name="Google Shape;277;g34bdf5f76db_1_182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78" name="Google Shape;278;g34bdf5f76db_1_18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g34bdf5f76db_1_18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g34bdf5f76db_1_182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Sistema de Apoio à Decisão – Cooperativa Agrícola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g34bdf5f76db_1_182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4bdf5f76db_1_182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Levantamento De Requisitos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g34bdf5f76db_1_182"/>
          <p:cNvSpPr txBox="1"/>
          <p:nvPr/>
        </p:nvSpPr>
        <p:spPr>
          <a:xfrm>
            <a:off x="3611475" y="3117700"/>
            <a:ext cx="14476200" cy="7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cooperativa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AgroVida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 um sistema que ajude nas decisões de compra, venda e plantio. A diretoria quer ouvir desde o presidente até os produtores associados para entender diferentes visões e encontrar soluções que funcionem para todos.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ideia é conversar com representantes de cada área e cruzar essas informações para criar um sistema justo e útil para todos os envolvidos.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Sua tarefa: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seria a técnica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levantamento de requisitos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mais adequada para esse cenário? Justifique.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Quais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participantes principais (stakeholders)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devem participar diretamente da coleta de requisitos?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1" name="Google Shape;291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92" name="Google Shape;292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5" name="Google Shape;295;g3494324d29f_0_343"/>
          <p:cNvSpPr txBox="1"/>
          <p:nvPr/>
        </p:nvSpPr>
        <p:spPr>
          <a:xfrm>
            <a:off x="1685075" y="3542151"/>
            <a:ext cx="14443800" cy="13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SOMMERVILLE, Ian.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Engenharia de Software. 10. ed. São Paulo: Pearson, 2020.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Capítulo 4: Requisitos de Software (p. 67-98).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8288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PRESSMAN, Roger S.; MAXIM, Bruce R.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Engenharia de Software: Uma Abordagem Profissional. 8. ed. Porto Alegre: AMGH, 2016.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Seção 5.3: Levantamento de Requisitos (p. 120-135).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Associação Brasileira de Normas Técnicas (ABNT).</a:t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NBR ISO/IEC 12207:2021 – Processos de Ciclo de Vida de Software.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NBR ISO/IEC/IEEE 29148:2018 – Engenharia de Requisitos.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IBM.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Requirements Engineering: Best Practices. 2023.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Disponível em: https://www.ibm.com/br-pt/topics/requirements-engineering.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494324d29f_0_343"/>
          <p:cNvSpPr txBox="1"/>
          <p:nvPr/>
        </p:nvSpPr>
        <p:spPr>
          <a:xfrm>
            <a:off x="2043309" y="962025"/>
            <a:ext cx="769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FASES DO LEVANTAMENTO DE REQUISITOS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" name="Google Shape;305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306" name="Google Shape;306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7" name="Google Shape;307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309" name="Google Shape;309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312" name="Google Shape;312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315" name="Google Shape;315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17" name="Google Shape;317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8" name="Google Shape;318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319" name="Google Shape;319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0" name="Google Shape;320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