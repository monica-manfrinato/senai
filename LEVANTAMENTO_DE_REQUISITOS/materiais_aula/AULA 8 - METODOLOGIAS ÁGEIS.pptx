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10287000" cx="18288000"/>
  <p:notesSz cx="6858000" cy="9144000"/>
  <p:embeddedFontLst>
    <p:embeddedFont>
      <p:font typeface="Poppi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jZBq5M6N01z/2Ys2wPa+mbWrb9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57A0A3-19DD-403D-8A55-7B689318FFE8}">
  <a:tblStyle styleId="{B357A0A3-19DD-403D-8A55-7B689318FF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oppins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customschemas.google.com/relationships/presentationmetadata" Target="meta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e4aa8e35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4e4aa8e35f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e4aa8e35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4e4aa8e35f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4e555ac9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4e555ac9a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e555ac9a0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4e555ac9a0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e555ac9a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4e555ac9a0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e555ac9a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g34e555ac9a0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4e555ac9a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g34e555ac9a0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4e555ac9a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g34e555ac9a0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4e555ac9a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34e555ac9a0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4e555ac9a0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g34e555ac9a0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4e555ac9a0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g34e555ac9a0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4bdf5f76d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g34bdf5f76db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4bdf5f76db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5" name="Google Shape;275;g34bdf5f76db_1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494324d29f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g3494324d29f_0_3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hyperlink" Target="mailto:nome@aluno.senai.br" TargetMode="External"/><Relationship Id="rId7" Type="http://schemas.openxmlformats.org/officeDocument/2006/relationships/hyperlink" Target="http://www.trello.com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agilemanifesto.org" TargetMode="External"/><Relationship Id="rId6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52801" y="4556700"/>
            <a:ext cx="171735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METODOLOGIAS ÁGEIS</a:t>
            </a:r>
            <a:endParaRPr b="1" i="0" sz="76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t/>
            </a:r>
            <a:endParaRPr b="1" i="0" sz="76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977797" y="1499350"/>
            <a:ext cx="63324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p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97" name="Google Shape;97;p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6"/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6"/>
          <p:cNvSpPr txBox="1"/>
          <p:nvPr/>
        </p:nvSpPr>
        <p:spPr>
          <a:xfrm>
            <a:off x="2043300" y="962025"/>
            <a:ext cx="692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METODOLOGIAS ÁGEIS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2043300" y="1189050"/>
            <a:ext cx="1567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que são?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1685075" y="3465953"/>
            <a:ext cx="14443800" cy="4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São formas de organizar e gerenciar projetos com foco em entregas rápidas, colaboração entre equipes, adaptação às mudanças e melhoria contínua.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Ao invés de planejar tudo de uma vez, elas trabalham em ciclos curtos (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SPRINTS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), com testes, feedbacks e ajustes constantes.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São muito usadas no desenvolvimento de software.</a:t>
            </a:r>
            <a:endParaRPr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e4aa8e35f_0_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4e4aa8e35f_0_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g34e4aa8e35f_0_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0" name="Google Shape;110;g34e4aa8e35f_0_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11" name="Google Shape;111;g34e4aa8e35f_0_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g34e4aa8e35f_0_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g34e4aa8e35f_0_2"/>
          <p:cNvSpPr txBox="1"/>
          <p:nvPr/>
        </p:nvSpPr>
        <p:spPr>
          <a:xfrm>
            <a:off x="2043300" y="962025"/>
            <a:ext cx="692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METODOLOGIAS ÁGEIS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g34e4aa8e35f_0_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4e4aa8e35f_0_2"/>
          <p:cNvSpPr txBox="1"/>
          <p:nvPr/>
        </p:nvSpPr>
        <p:spPr>
          <a:xfrm>
            <a:off x="2043300" y="1189050"/>
            <a:ext cx="1567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4e4aa8e35f_0_2"/>
          <p:cNvSpPr txBox="1"/>
          <p:nvPr/>
        </p:nvSpPr>
        <p:spPr>
          <a:xfrm>
            <a:off x="1685075" y="3923153"/>
            <a:ext cx="144438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Criado por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Jeff Sutherland e Ken Schwaber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nos anos 1990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Usado principalmente em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desenvolvimento de software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Também aplicável em outras áreas com necessidade de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gestão ágil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Baseado em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Sprints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(ciclos curtos de trabalho de 1 a 4 semanas)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Objetivo: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entregar partes do produto de forma incremental e frequente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Estimula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flexibilidade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adaptação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rápida 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colaboração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 equipe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Ideal para equipes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multifuncionais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 precisam entregar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valor contínuo</a:t>
            </a:r>
            <a:endParaRPr b="1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e4aa8e35f_0_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4e4aa8e35f_0_1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g34e4aa8e35f_0_17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4" name="Google Shape;124;g34e4aa8e35f_0_17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25" name="Google Shape;125;g34e4aa8e35f_0_1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g34e4aa8e35f_0_1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g34e4aa8e35f_0_17"/>
          <p:cNvSpPr txBox="1"/>
          <p:nvPr/>
        </p:nvSpPr>
        <p:spPr>
          <a:xfrm>
            <a:off x="2043300" y="962025"/>
            <a:ext cx="692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METODOLOGIAS ÁGEIS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g34e4aa8e35f_0_1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4e4aa8e35f_0_17"/>
          <p:cNvSpPr txBox="1"/>
          <p:nvPr/>
        </p:nvSpPr>
        <p:spPr>
          <a:xfrm>
            <a:off x="2043300" y="1189050"/>
            <a:ext cx="15677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SCRUM: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que é uma SPRINT?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4e4aa8e35f_0_17"/>
          <p:cNvSpPr txBox="1"/>
          <p:nvPr/>
        </p:nvSpPr>
        <p:spPr>
          <a:xfrm>
            <a:off x="1685075" y="3465953"/>
            <a:ext cx="14443800" cy="85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Definição: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Ciclo de trabalho com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duração fixa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(geralmente de 1 a 4 semanas) no qual 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equipe Scrum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se compromete a entregar um conjunto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específico de tarefas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Até a conclusão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nenhuma nova demanda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é adicionada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Foco em completar aquilo que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foi planejado no início.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Passos: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Planejamento da Sprint: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define-se o que será feito.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Execução: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equipe trabalha nas tarefas (com reuniões diárias – Daily Scrum).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Revisão: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no final, apresenta-se o que foi feito ao cliente ou professor.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Retrospectiva: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equipe reflete sobre o que funcionou e o que pode melhorar.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e555ac9a0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4e555ac9a0_0_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g34e555ac9a0_0_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8" name="Google Shape;138;g34e555ac9a0_0_0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39" name="Google Shape;139;g34e555ac9a0_0_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g34e555ac9a0_0_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g34e555ac9a0_0_0"/>
          <p:cNvSpPr txBox="1"/>
          <p:nvPr/>
        </p:nvSpPr>
        <p:spPr>
          <a:xfrm>
            <a:off x="2043300" y="962025"/>
            <a:ext cx="692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METODOLOGIAS ÁGEIS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" name="Google Shape;142;g34e555ac9a0_0_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4e555ac9a0_0_0"/>
          <p:cNvSpPr txBox="1"/>
          <p:nvPr/>
        </p:nvSpPr>
        <p:spPr>
          <a:xfrm>
            <a:off x="2043300" y="1189050"/>
            <a:ext cx="15677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SCRUM: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Ciclo na prática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4e555ac9a0_0_0"/>
          <p:cNvSpPr txBox="1"/>
          <p:nvPr/>
        </p:nvSpPr>
        <p:spPr>
          <a:xfrm>
            <a:off x="1685075" y="3465953"/>
            <a:ext cx="14443800" cy="74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Planejamento do Sprint: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tarefas do backlog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Execução com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Daily meetings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(reuniões rápidas)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Revisão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Retrospectiva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ao final do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Sprint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protótipo testado com usuários por Sprint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4e555ac9a0_0_9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4e555ac9a0_0_9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g34e555ac9a0_0_9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2" name="Google Shape;152;g34e555ac9a0_0_9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53" name="Google Shape;153;g34e555ac9a0_0_9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g34e555ac9a0_0_9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g34e555ac9a0_0_92"/>
          <p:cNvSpPr txBox="1"/>
          <p:nvPr/>
        </p:nvSpPr>
        <p:spPr>
          <a:xfrm>
            <a:off x="2043300" y="962025"/>
            <a:ext cx="692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METODOLOGIAS ÁGEIS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" name="Google Shape;156;g34e555ac9a0_0_9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4e555ac9a0_0_92"/>
          <p:cNvSpPr txBox="1"/>
          <p:nvPr/>
        </p:nvSpPr>
        <p:spPr>
          <a:xfrm>
            <a:off x="2043300" y="1189050"/>
            <a:ext cx="1567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RESUMO ATÉ AQUI (SCRUM):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4e555ac9a0_0_92"/>
          <p:cNvSpPr txBox="1"/>
          <p:nvPr/>
        </p:nvSpPr>
        <p:spPr>
          <a:xfrm>
            <a:off x="1685075" y="3465953"/>
            <a:ext cx="14443800" cy="85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É uma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estrutura ágil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Usado principalmente em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desenvolvimento de software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Baseado em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Sprints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(ciclos curtos de trabalho de 1 a 4 semanas)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Possui papéis específicos: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Product Owner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Scrum Master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Development Team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4e555ac9a0_0_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4e555ac9a0_0_1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g34e555ac9a0_0_1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6" name="Google Shape;166;g34e555ac9a0_0_1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67" name="Google Shape;167;g34e555ac9a0_0_1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g34e555ac9a0_0_1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g34e555ac9a0_0_13"/>
          <p:cNvSpPr txBox="1"/>
          <p:nvPr/>
        </p:nvSpPr>
        <p:spPr>
          <a:xfrm>
            <a:off x="2043300" y="962025"/>
            <a:ext cx="692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METODOLOGIAS ÁGEIS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0" name="Google Shape;170;g34e555ac9a0_0_1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4e555ac9a0_0_13"/>
          <p:cNvSpPr txBox="1"/>
          <p:nvPr/>
        </p:nvSpPr>
        <p:spPr>
          <a:xfrm>
            <a:off x="2043300" y="1189050"/>
            <a:ext cx="1567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KANBAN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4e555ac9a0_0_13"/>
          <p:cNvSpPr txBox="1"/>
          <p:nvPr/>
        </p:nvSpPr>
        <p:spPr>
          <a:xfrm>
            <a:off x="1685075" y="3465953"/>
            <a:ext cx="14443800" cy="80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Método visual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 controle de tarefas em fluxo contínuo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Limite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tarefas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 andamento (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WIP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Exemplo: 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Quadro de tarefas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Fazer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Concluído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4e555ac9a0_0_2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4e555ac9a0_0_2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g34e555ac9a0_0_2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0" name="Google Shape;180;g34e555ac9a0_0_28"/>
          <p:cNvGrpSpPr/>
          <p:nvPr/>
        </p:nvGrpSpPr>
        <p:grpSpPr>
          <a:xfrm>
            <a:off x="1084900" y="2880349"/>
            <a:ext cx="16211658" cy="7299925"/>
            <a:chOff x="0" y="-38100"/>
            <a:chExt cx="4269709" cy="2000418"/>
          </a:xfrm>
        </p:grpSpPr>
        <p:sp>
          <p:nvSpPr>
            <p:cNvPr id="181" name="Google Shape;181;g34e555ac9a0_0_2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g34e555ac9a0_0_2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g34e555ac9a0_0_28"/>
          <p:cNvSpPr txBox="1"/>
          <p:nvPr/>
        </p:nvSpPr>
        <p:spPr>
          <a:xfrm>
            <a:off x="2043300" y="962025"/>
            <a:ext cx="692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METODOLOGIAS ÁGEIS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" name="Google Shape;184;g34e555ac9a0_0_2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4e555ac9a0_0_28"/>
          <p:cNvSpPr txBox="1"/>
          <p:nvPr/>
        </p:nvSpPr>
        <p:spPr>
          <a:xfrm>
            <a:off x="2043300" y="1189050"/>
            <a:ext cx="15677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KANBAN: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Estrutura do Quadro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" name="Google Shape;186;g34e555ac9a0_0_28"/>
          <p:cNvSpPr txBox="1"/>
          <p:nvPr/>
        </p:nvSpPr>
        <p:spPr>
          <a:xfrm>
            <a:off x="1685075" y="3465953"/>
            <a:ext cx="14443800" cy="74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Colunas: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Backlog, Em Progresso, Teste, Concluído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7" name="Google Shape;187;g34e555ac9a0_0_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41052" y="5243827"/>
            <a:ext cx="15759761" cy="184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4e555ac9a0_0_4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4e555ac9a0_0_4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g34e555ac9a0_0_4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5" name="Google Shape;195;g34e555ac9a0_0_44"/>
          <p:cNvGrpSpPr/>
          <p:nvPr/>
        </p:nvGrpSpPr>
        <p:grpSpPr>
          <a:xfrm>
            <a:off x="1084900" y="2880349"/>
            <a:ext cx="16211658" cy="7299925"/>
            <a:chOff x="0" y="-38100"/>
            <a:chExt cx="4269709" cy="2000418"/>
          </a:xfrm>
        </p:grpSpPr>
        <p:sp>
          <p:nvSpPr>
            <p:cNvPr id="196" name="Google Shape;196;g34e555ac9a0_0_4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g34e555ac9a0_0_4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g34e555ac9a0_0_44"/>
          <p:cNvSpPr txBox="1"/>
          <p:nvPr/>
        </p:nvSpPr>
        <p:spPr>
          <a:xfrm>
            <a:off x="2043300" y="962025"/>
            <a:ext cx="692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METODOLOGIAS ÁGEIS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" name="Google Shape;199;g34e555ac9a0_0_4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4e555ac9a0_0_44"/>
          <p:cNvSpPr txBox="1"/>
          <p:nvPr/>
        </p:nvSpPr>
        <p:spPr>
          <a:xfrm>
            <a:off x="2043300" y="1189050"/>
            <a:ext cx="15677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KANBAN: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Estrutura do Quadro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1" name="Google Shape;201;g34e555ac9a0_0_44"/>
          <p:cNvSpPr txBox="1"/>
          <p:nvPr/>
        </p:nvSpPr>
        <p:spPr>
          <a:xfrm>
            <a:off x="1685075" y="3465953"/>
            <a:ext cx="14443800" cy="80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Cartões: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tarefas com prazos e responsáveis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2" name="Google Shape;202;g34e555ac9a0_0_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43675" y="3967080"/>
            <a:ext cx="9926588" cy="594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4e555ac9a0_0_6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4e555ac9a0_0_6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g34e555ac9a0_0_6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0" name="Google Shape;210;g34e555ac9a0_0_61"/>
          <p:cNvGrpSpPr/>
          <p:nvPr/>
        </p:nvGrpSpPr>
        <p:grpSpPr>
          <a:xfrm>
            <a:off x="1084900" y="2880349"/>
            <a:ext cx="16211658" cy="7299925"/>
            <a:chOff x="0" y="-38100"/>
            <a:chExt cx="4269709" cy="2000418"/>
          </a:xfrm>
        </p:grpSpPr>
        <p:sp>
          <p:nvSpPr>
            <p:cNvPr id="211" name="Google Shape;211;g34e555ac9a0_0_6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g34e555ac9a0_0_6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g34e555ac9a0_0_61"/>
          <p:cNvSpPr txBox="1"/>
          <p:nvPr/>
        </p:nvSpPr>
        <p:spPr>
          <a:xfrm>
            <a:off x="2043300" y="962025"/>
            <a:ext cx="692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METODOLOGIAS ÁGEIS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" name="Google Shape;214;g34e555ac9a0_0_6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4e555ac9a0_0_61"/>
          <p:cNvSpPr txBox="1"/>
          <p:nvPr/>
        </p:nvSpPr>
        <p:spPr>
          <a:xfrm>
            <a:off x="2043300" y="1189050"/>
            <a:ext cx="15677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KANBAN: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Estrutura do Quadro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" name="Google Shape;216;g34e555ac9a0_0_61"/>
          <p:cNvSpPr txBox="1"/>
          <p:nvPr/>
        </p:nvSpPr>
        <p:spPr>
          <a:xfrm>
            <a:off x="1685075" y="3465953"/>
            <a:ext cx="14443800" cy="85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Limites de WIP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evitam sobrecarga e identificam gargalos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7" name="Google Shape;217;g34e555ac9a0_0_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85075" y="4115800"/>
            <a:ext cx="14924825" cy="55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4e555ac9a0_0_7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4e555ac9a0_0_7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g34e555ac9a0_0_7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5" name="Google Shape;225;g34e555ac9a0_0_76"/>
          <p:cNvGrpSpPr/>
          <p:nvPr/>
        </p:nvGrpSpPr>
        <p:grpSpPr>
          <a:xfrm>
            <a:off x="1084900" y="2880349"/>
            <a:ext cx="16211658" cy="7299925"/>
            <a:chOff x="0" y="-38100"/>
            <a:chExt cx="4269709" cy="2000418"/>
          </a:xfrm>
        </p:grpSpPr>
        <p:sp>
          <p:nvSpPr>
            <p:cNvPr id="226" name="Google Shape;226;g34e555ac9a0_0_7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g34e555ac9a0_0_7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g34e555ac9a0_0_76"/>
          <p:cNvSpPr txBox="1"/>
          <p:nvPr/>
        </p:nvSpPr>
        <p:spPr>
          <a:xfrm>
            <a:off x="2043300" y="962025"/>
            <a:ext cx="692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METODOLOGIAS ÁGEIS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9" name="Google Shape;229;g34e555ac9a0_0_7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4e555ac9a0_0_76"/>
          <p:cNvSpPr txBox="1"/>
          <p:nvPr/>
        </p:nvSpPr>
        <p:spPr>
          <a:xfrm>
            <a:off x="2043300" y="1189050"/>
            <a:ext cx="15677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KANBAN: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Gestão e Melhoria Contínua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1" name="Google Shape;231;g34e555ac9a0_0_76"/>
          <p:cNvSpPr txBox="1"/>
          <p:nvPr/>
        </p:nvSpPr>
        <p:spPr>
          <a:xfrm>
            <a:off x="1685075" y="3465953"/>
            <a:ext cx="14443800" cy="116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Reuniões rápidas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alinhamento (stand-ups)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Métricas: 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Lead Time (Tempo Total de Entrega)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Cycle Time (Tempo de Ciclo)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Feedback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constante e análise 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gargalos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4e555ac9a0_0_1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4e555ac9a0_0_11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g34e555ac9a0_0_11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9" name="Google Shape;239;g34e555ac9a0_0_118"/>
          <p:cNvGrpSpPr/>
          <p:nvPr/>
        </p:nvGrpSpPr>
        <p:grpSpPr>
          <a:xfrm>
            <a:off x="1084900" y="2880349"/>
            <a:ext cx="16211658" cy="7299925"/>
            <a:chOff x="0" y="-38100"/>
            <a:chExt cx="4269709" cy="2000418"/>
          </a:xfrm>
        </p:grpSpPr>
        <p:sp>
          <p:nvSpPr>
            <p:cNvPr id="240" name="Google Shape;240;g34e555ac9a0_0_11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g34e555ac9a0_0_11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g34e555ac9a0_0_118"/>
          <p:cNvSpPr txBox="1"/>
          <p:nvPr/>
        </p:nvSpPr>
        <p:spPr>
          <a:xfrm>
            <a:off x="2043300" y="962025"/>
            <a:ext cx="692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METODOLOGIAS ÁGEIS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g34e555ac9a0_0_11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4e555ac9a0_0_118"/>
          <p:cNvSpPr txBox="1"/>
          <p:nvPr/>
        </p:nvSpPr>
        <p:spPr>
          <a:xfrm>
            <a:off x="2043300" y="1189050"/>
            <a:ext cx="15677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KANBAN: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Etapas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g34e555ac9a0_0_118"/>
          <p:cNvSpPr txBox="1"/>
          <p:nvPr/>
        </p:nvSpPr>
        <p:spPr>
          <a:xfrm>
            <a:off x="1685075" y="3465953"/>
            <a:ext cx="14443800" cy="139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Listagem de Tarefas (Cartões):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Cada atividade vira um cartão, com nome, responsável e prazo.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Priorização: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Definir o que é mais urgente.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Mapeamento do Fluxo de Trabalho: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Colunas como “A Fazer”, “Em Progresso”, “Teste”, “Concluído”.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4. Limites de WIP (Work In Progress - Trabalho em Andamento):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Define quantas tarefas podem estar em execução ao mesmo tempo para evitar gargalos.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4e555ac9a0_0_10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4e555ac9a0_0_10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" name="Google Shape;252;g34e555ac9a0_0_105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3" name="Google Shape;253;g34e555ac9a0_0_105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54" name="Google Shape;254;g34e555ac9a0_0_10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g34e555ac9a0_0_10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g34e555ac9a0_0_105"/>
          <p:cNvSpPr txBox="1"/>
          <p:nvPr/>
        </p:nvSpPr>
        <p:spPr>
          <a:xfrm>
            <a:off x="2043300" y="962025"/>
            <a:ext cx="692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METODOLOGIAS ÁGEIS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7" name="Google Shape;257;g34e555ac9a0_0_10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4e555ac9a0_0_105"/>
          <p:cNvSpPr txBox="1"/>
          <p:nvPr/>
        </p:nvSpPr>
        <p:spPr>
          <a:xfrm>
            <a:off x="2043300" y="1189050"/>
            <a:ext cx="1567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RESUMO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4e555ac9a0_0_105"/>
          <p:cNvSpPr txBox="1"/>
          <p:nvPr/>
        </p:nvSpPr>
        <p:spPr>
          <a:xfrm>
            <a:off x="1685075" y="3465953"/>
            <a:ext cx="14443800" cy="6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Scrum: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Sprints curtos, entregas incrementais, papéis definidos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Kanban: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Fluxo contínuo e visual com foco em eficiência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Ambas: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Promovem agilidade, colaboração e melhoria contínua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4bdf5f76db_1_0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4bdf5f76db_1_0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8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g34bdf5f76db_1_0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g34bdf5f76db_1_0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4bdf5f76db_1_0"/>
          <p:cNvSpPr txBox="1"/>
          <p:nvPr/>
        </p:nvSpPr>
        <p:spPr>
          <a:xfrm>
            <a:off x="3611472" y="962025"/>
            <a:ext cx="965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9" name="Google Shape;269;g34bdf5f76db_1_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4bdf5f76db_1_0"/>
          <p:cNvSpPr txBox="1"/>
          <p:nvPr/>
        </p:nvSpPr>
        <p:spPr>
          <a:xfrm>
            <a:off x="3611475" y="2570775"/>
            <a:ext cx="14003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Criação do Trello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1" name="Google Shape;271;g34bdf5f76db_1_0"/>
          <p:cNvSpPr txBox="1"/>
          <p:nvPr/>
        </p:nvSpPr>
        <p:spPr>
          <a:xfrm>
            <a:off x="3611450" y="1545475"/>
            <a:ext cx="2477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Metodologias ágeis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2" name="Google Shape;272;g34bdf5f76db_1_0"/>
          <p:cNvSpPr txBox="1"/>
          <p:nvPr/>
        </p:nvSpPr>
        <p:spPr>
          <a:xfrm>
            <a:off x="3611475" y="3117700"/>
            <a:ext cx="14476200" cy="7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Antes de iniciarmos qualquer atividade vamos primeiro criar o TRELLO, lembrem-se que precisa ser na conta do SENAI de vocês (</a:t>
            </a: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nome@aluno.senai.br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Acessem o link: </a:t>
            </a: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7"/>
              </a:rPr>
              <a:t>www.trello.com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 façam o primeiro acesso.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4bdf5f76db_1_13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4bdf5f76db_1_13"/>
          <p:cNvSpPr/>
          <p:nvPr/>
        </p:nvSpPr>
        <p:spPr>
          <a:xfrm rot="5374217">
            <a:off x="-3628511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g34bdf5f76db_1_13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g34bdf5f76db_1_13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4bdf5f76db_1_13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4bdf5f76db_1_1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3" name="Google Shape;283;g34bdf5f76db_1_13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84" name="Google Shape;284;g34bdf5f76db_1_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g34bdf5f76db_1_13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g34bdf5f76db_1_13"/>
          <p:cNvSpPr txBox="1"/>
          <p:nvPr/>
        </p:nvSpPr>
        <p:spPr>
          <a:xfrm>
            <a:off x="3611472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Desenvolvimento de um Mini Sistema de Controle de Tarefas Escolares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7" name="Google Shape;287;g34bdf5f76db_1_13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4bdf5f76db_1_13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Metodologias ágeis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9" name="Google Shape;289;g34bdf5f76db_1_13"/>
          <p:cNvSpPr txBox="1"/>
          <p:nvPr/>
        </p:nvSpPr>
        <p:spPr>
          <a:xfrm>
            <a:off x="3611475" y="3117700"/>
            <a:ext cx="14476200" cy="22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que deve conter</a:t>
            </a: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Nome da funcionalidade, Descrição, Responsável pela tarefa, Prazo para entrega (data estimada), Prioridade (P0 a P3), Checklist (se for uma tarefa que precisa ser dividida em partes menores)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Estrutura do Quadro Kanban(TRELLO):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290" name="Google Shape;290;g34bdf5f76db_1_13"/>
          <p:cNvGraphicFramePr/>
          <p:nvPr/>
        </p:nvGraphicFramePr>
        <p:xfrm>
          <a:off x="3975275" y="533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{B357A0A3-19DD-403D-8A55-7B689318FFE8}</a:tableStyleId>
              </a:tblPr>
              <a:tblGrid>
                <a:gridCol w="6382500"/>
                <a:gridCol w="6382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Nome do Cartão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Descrição do Cartão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Tela de Cadastro/Login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Permitir que o estudante crie uma conta e acesse o app com segurança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Adicionar Nova Tarefa	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Campo onde o usuário digita o nome da tarefa, descrição e define data de entrega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Categorizar Tarefa	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Opção para o aluno escolher uma categoria (ex: prova, dever, trabalho em grupo)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Marcar como Concluída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Ao finalizar a tarefa, ela pode ser marcada como feita e movida para lista de concluídas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Notificações e Alertas	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Sistema que envia alerta antes do vencimento de uma tarefa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Integração com Calendário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Integração com o Google Agenda (simulada) para mostrar prazos no calendário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Tela de Visualização de Tarefas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Tela que mostra todas as tarefas organizadas por data e categoria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Modo Escuro	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Opção para o usuário trocar entre tema claro e escuro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Feedback do Usuário	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Criar uma tela onde o usuário possa enviar sugestões ou avisar problemas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494324d29f_0_34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494324d29f_0_34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g3494324d29f_0_34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8" name="Google Shape;298;g3494324d29f_0_34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99" name="Google Shape;299;g3494324d29f_0_34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g3494324d29f_0_34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1" name="Google Shape;301;g3494324d29f_0_343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2" name="Google Shape;302;g3494324d29f_0_343"/>
          <p:cNvSpPr txBox="1"/>
          <p:nvPr/>
        </p:nvSpPr>
        <p:spPr>
          <a:xfrm>
            <a:off x="1685075" y="3542151"/>
            <a:ext cx="14443800" cy="114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BECK, Kent et al.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 Manifesto para Desenvolvimento Ágil de Software.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2001. </a:t>
            </a:r>
            <a:r>
              <a:rPr lang="en-US" sz="24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https://agilemanifesto.org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RUBIN, Kenneth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S.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 Scrum Essencial.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São Paulo: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Alta Books, 2013.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KNIBERG, Henrik.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 Kanban e Scrum: obtendo o melhor de ambos.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C4Media, 2010.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ATLASSIAN.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Guia Kanban.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https://www.atlassian.com/br/agile/kanban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3" name="Google Shape;303;g3494324d29f_0_34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494324d29f_0_343"/>
          <p:cNvSpPr txBox="1"/>
          <p:nvPr/>
        </p:nvSpPr>
        <p:spPr>
          <a:xfrm>
            <a:off x="2043309" y="962025"/>
            <a:ext cx="769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METODOLOGIAS ÁGEIS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p16"/>
          <p:cNvCxnSpPr/>
          <p:nvPr/>
        </p:nvCxnSpPr>
        <p:spPr>
          <a:xfrm rot="10800000">
            <a:off x="9645833" y="4419143"/>
            <a:ext cx="18900" cy="20583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16"/>
          <p:cNvSpPr txBox="1"/>
          <p:nvPr/>
        </p:nvSpPr>
        <p:spPr>
          <a:xfrm>
            <a:off x="10341007" y="4336637"/>
            <a:ext cx="244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(11) 2396-1999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2" name="Google Shape;312;p16"/>
          <p:cNvGrpSpPr/>
          <p:nvPr/>
        </p:nvGrpSpPr>
        <p:grpSpPr>
          <a:xfrm>
            <a:off x="10340993" y="2885700"/>
            <a:ext cx="5951925" cy="1458644"/>
            <a:chOff x="-19" y="-85717"/>
            <a:chExt cx="7935900" cy="1944859"/>
          </a:xfrm>
        </p:grpSpPr>
        <p:sp>
          <p:nvSpPr>
            <p:cNvPr id="313" name="Google Shape;313;p16"/>
            <p:cNvSpPr txBox="1"/>
            <p:nvPr/>
          </p:nvSpPr>
          <p:spPr>
            <a:xfrm>
              <a:off x="0" y="677142"/>
              <a:ext cx="3902700" cy="11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Av. Goiás, 139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4" name="Google Shape;314;p16"/>
            <p:cNvSpPr txBox="1"/>
            <p:nvPr/>
          </p:nvSpPr>
          <p:spPr>
            <a:xfrm>
              <a:off x="-19" y="-85717"/>
              <a:ext cx="7935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93831"/>
                  </a:solidFill>
                  <a:latin typeface="Poppins"/>
                  <a:ea typeface="Poppins"/>
                  <a:cs typeface="Poppins"/>
                  <a:sym typeface="Poppins"/>
                </a:rPr>
                <a:t>ESCOLA SENAI ÍTALO BOLOGNA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5" name="Google Shape;315;p16"/>
          <p:cNvGrpSpPr/>
          <p:nvPr/>
        </p:nvGrpSpPr>
        <p:grpSpPr>
          <a:xfrm>
            <a:off x="10340999" y="5663950"/>
            <a:ext cx="2283308" cy="846825"/>
            <a:chOff x="-11" y="-66670"/>
            <a:chExt cx="3044411" cy="1129101"/>
          </a:xfrm>
        </p:grpSpPr>
        <p:sp>
          <p:nvSpPr>
            <p:cNvPr id="316" name="Google Shape;316;p16"/>
            <p:cNvSpPr txBox="1"/>
            <p:nvPr/>
          </p:nvSpPr>
          <p:spPr>
            <a:xfrm>
              <a:off x="-11" y="-66670"/>
              <a:ext cx="2667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Instagram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6"/>
            <p:cNvSpPr txBox="1"/>
            <p:nvPr/>
          </p:nvSpPr>
          <p:spPr>
            <a:xfrm>
              <a:off x="0" y="569831"/>
              <a:ext cx="3044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@senai.itu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8" name="Google Shape;318;p16"/>
          <p:cNvGrpSpPr/>
          <p:nvPr/>
        </p:nvGrpSpPr>
        <p:grpSpPr>
          <a:xfrm>
            <a:off x="10340997" y="7046976"/>
            <a:ext cx="5697225" cy="804499"/>
            <a:chOff x="-13" y="-66675"/>
            <a:chExt cx="7596300" cy="1072665"/>
          </a:xfrm>
        </p:grpSpPr>
        <p:sp>
          <p:nvSpPr>
            <p:cNvPr id="319" name="Google Shape;319;p16"/>
            <p:cNvSpPr txBox="1"/>
            <p:nvPr/>
          </p:nvSpPr>
          <p:spPr>
            <a:xfrm>
              <a:off x="0" y="-66675"/>
              <a:ext cx="1655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6"/>
            <p:cNvSpPr txBox="1"/>
            <p:nvPr/>
          </p:nvSpPr>
          <p:spPr>
            <a:xfrm>
              <a:off x="-13" y="513390"/>
              <a:ext cx="759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1" name="Google Shape;321;p16"/>
          <p:cNvGrpSpPr/>
          <p:nvPr/>
        </p:nvGrpSpPr>
        <p:grpSpPr>
          <a:xfrm>
            <a:off x="13422228" y="5663946"/>
            <a:ext cx="2133000" cy="845495"/>
            <a:chOff x="0" y="-66675"/>
            <a:chExt cx="2844000" cy="1127326"/>
          </a:xfrm>
        </p:grpSpPr>
        <p:sp>
          <p:nvSpPr>
            <p:cNvPr id="322" name="Google Shape;322;p16"/>
            <p:cNvSpPr txBox="1"/>
            <p:nvPr/>
          </p:nvSpPr>
          <p:spPr>
            <a:xfrm>
              <a:off x="0" y="-66675"/>
              <a:ext cx="2039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Facebok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6"/>
            <p:cNvSpPr txBox="1"/>
            <p:nvPr/>
          </p:nvSpPr>
          <p:spPr>
            <a:xfrm>
              <a:off x="0" y="568051"/>
              <a:ext cx="2844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/senaisp.itu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24" name="Google Shape;324;p16"/>
          <p:cNvSpPr/>
          <p:nvPr/>
        </p:nvSpPr>
        <p:spPr>
          <a:xfrm>
            <a:off x="14706022" y="599788"/>
            <a:ext cx="3200983" cy="833009"/>
          </a:xfrm>
          <a:custGeom>
            <a:rect b="b" l="l" r="r" t="t"/>
            <a:pathLst>
              <a:path extrusionOk="0" h="1015865" w="3988764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5" name="Google Shape;325;p16"/>
          <p:cNvGrpSpPr/>
          <p:nvPr/>
        </p:nvGrpSpPr>
        <p:grpSpPr>
          <a:xfrm>
            <a:off x="1534959" y="2851188"/>
            <a:ext cx="7762810" cy="5194221"/>
            <a:chOff x="1648350" y="1982600"/>
            <a:chExt cx="6664501" cy="4459324"/>
          </a:xfrm>
        </p:grpSpPr>
        <p:pic>
          <p:nvPicPr>
            <p:cNvPr id="326" name="Google Shape;326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8350" y="1982600"/>
              <a:ext cx="6664501" cy="4459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7" name="Google Shape;327;p16"/>
            <p:cNvSpPr/>
            <p:nvPr/>
          </p:nvSpPr>
          <p:spPr>
            <a:xfrm>
              <a:off x="1648350" y="1982603"/>
              <a:ext cx="6664500" cy="445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FOTO DA ESCOLA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