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Poppins" panose="020B060402020202020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8" roundtripDataSignature="AMtx7mjZBq5M6N01z/2Ys2wPa+mbWrb95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357A0A3-19DD-403D-8A55-7B689318FFE8}">
  <a:tblStyle styleId="{B357A0A3-19DD-403D-8A55-7B689318FFE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256" autoAdjust="0"/>
  </p:normalViewPr>
  <p:slideViewPr>
    <p:cSldViewPr snapToGrid="0">
      <p:cViewPr varScale="1">
        <p:scale>
          <a:sx n="32" d="100"/>
          <a:sy n="32" d="100"/>
        </p:scale>
        <p:origin x="53" y="80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1" name="Google Shape;9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4e4aa8e35f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5" name="Google Shape;105;g34e4aa8e35f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4e4aa8e35f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34e4aa8e35f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4e555ac9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3" name="Google Shape;133;g34e555ac9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4e555ac9a0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7" name="Google Shape;147;g34e555ac9a0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4e555ac9a0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1" name="Google Shape;161;g34e555ac9a0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4e555ac9a0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5" name="Google Shape;175;g34e555ac9a0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4e555ac9a0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0" name="Google Shape;190;g34e555ac9a0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4e555ac9a0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5" name="Google Shape;205;g34e555ac9a0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4e555ac9a0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0" name="Google Shape;220;g34e555ac9a0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4e555ac9a0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4" name="Google Shape;234;g34e555ac9a0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4e555ac9a0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8" name="Google Shape;248;g34e555ac9a0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4bdf5f76db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2" name="Google Shape;262;g34bdf5f76db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4bdf5f76db_1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275" name="Google Shape;275;g34bdf5f76db_1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494324d29f_0_3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3" name="Google Shape;293;g3494324d29f_0_3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7" name="Google Shape;30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2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400" cy="1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4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2308950" y="-251550"/>
            <a:ext cx="45261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4732350" y="2171688"/>
            <a:ext cx="58515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541350" y="190488"/>
            <a:ext cx="585150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://www.trello.com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nome@aluno.senai.br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hyperlink" Target="https://agilemanifesto.org" TargetMode="Externa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7561289" y="8666140"/>
            <a:ext cx="3165421" cy="809423"/>
          </a:xfrm>
          <a:custGeom>
            <a:avLst/>
            <a:gdLst/>
            <a:ahLst/>
            <a:cxnLst/>
            <a:rect l="l" t="t" r="r" b="b"/>
            <a:pathLst>
              <a:path w="3165421" h="809423" extrusionOk="0">
                <a:moveTo>
                  <a:pt x="0" y="0"/>
                </a:moveTo>
                <a:lnTo>
                  <a:pt x="3165422" y="0"/>
                </a:lnTo>
                <a:lnTo>
                  <a:pt x="3165422" y="809423"/>
                </a:lnTo>
                <a:lnTo>
                  <a:pt x="0" y="8094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752801" y="4556700"/>
            <a:ext cx="17173500" cy="28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624"/>
              <a:buFont typeface="Arial"/>
              <a:buNone/>
            </a:pPr>
            <a:r>
              <a:rPr lang="en-US" sz="7624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METODOLOGIAS ÁGEIS</a:t>
            </a:r>
            <a:endParaRPr sz="7624" b="1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40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624"/>
              <a:buFont typeface="Arial"/>
              <a:buNone/>
            </a:pPr>
            <a:endParaRPr sz="7624" b="1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7422396" y="962025"/>
            <a:ext cx="3337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Professores:</a:t>
            </a:r>
            <a:endParaRPr sz="2400" b="1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5977797" y="1499350"/>
            <a:ext cx="6332400" cy="140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Celso Giusti</a:t>
            </a:r>
            <a:endParaRPr sz="2400" b="0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Daniel Manoel Filho</a:t>
            </a:r>
            <a:endParaRPr sz="2400" b="0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Marlon Palata Fanger Rodrigues</a:t>
            </a:r>
            <a:endParaRPr sz="2400" b="0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0" y="0"/>
            <a:ext cx="18288000" cy="6217920"/>
          </a:xfrm>
          <a:custGeom>
            <a:avLst/>
            <a:gdLst/>
            <a:ahLst/>
            <a:cxnLst/>
            <a:rect l="l" t="t" r="r" b="b"/>
            <a:pathLst>
              <a:path w="18288000" h="6217920" extrusionOk="0">
                <a:moveTo>
                  <a:pt x="0" y="0"/>
                </a:moveTo>
                <a:lnTo>
                  <a:pt x="18288000" y="0"/>
                </a:lnTo>
                <a:lnTo>
                  <a:pt x="18288000" y="6217920"/>
                </a:lnTo>
                <a:lnTo>
                  <a:pt x="0" y="62179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5" name="Google Shape;95;p6"/>
          <p:cNvCxnSpPr/>
          <p:nvPr/>
        </p:nvCxnSpPr>
        <p:spPr>
          <a:xfrm rot="10800000" flipH="1">
            <a:off x="1068398" y="16195"/>
            <a:ext cx="16500" cy="2135700"/>
          </a:xfrm>
          <a:prstGeom prst="straightConnector1">
            <a:avLst/>
          </a:prstGeom>
          <a:noFill/>
          <a:ln w="38100" cap="flat" cmpd="sng">
            <a:solidFill>
              <a:srgbClr val="D9383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96" name="Google Shape;96;p6"/>
          <p:cNvGrpSpPr/>
          <p:nvPr/>
        </p:nvGrpSpPr>
        <p:grpSpPr>
          <a:xfrm>
            <a:off x="1038175" y="2946624"/>
            <a:ext cx="16211658" cy="7299925"/>
            <a:chOff x="0" y="-38100"/>
            <a:chExt cx="4269709" cy="2000418"/>
          </a:xfrm>
        </p:grpSpPr>
        <p:sp>
          <p:nvSpPr>
            <p:cNvPr id="97" name="Google Shape;97;p6"/>
            <p:cNvSpPr/>
            <p:nvPr/>
          </p:nvSpPr>
          <p:spPr>
            <a:xfrm>
              <a:off x="0" y="0"/>
              <a:ext cx="4269709" cy="1962318"/>
            </a:xfrm>
            <a:custGeom>
              <a:avLst/>
              <a:gdLst/>
              <a:ahLst/>
              <a:cxnLst/>
              <a:rect l="l" t="t" r="r" b="b"/>
              <a:pathLst>
                <a:path w="4269709" h="1962318" extrusionOk="0">
                  <a:moveTo>
                    <a:pt x="9551" y="0"/>
                  </a:moveTo>
                  <a:lnTo>
                    <a:pt x="4260158" y="0"/>
                  </a:lnTo>
                  <a:cubicBezTo>
                    <a:pt x="4262691" y="0"/>
                    <a:pt x="4265120" y="1006"/>
                    <a:pt x="4266911" y="2797"/>
                  </a:cubicBezTo>
                  <a:cubicBezTo>
                    <a:pt x="4268703" y="4589"/>
                    <a:pt x="4269709" y="7018"/>
                    <a:pt x="4269709" y="9551"/>
                  </a:cubicBezTo>
                  <a:lnTo>
                    <a:pt x="4269709" y="1952767"/>
                  </a:lnTo>
                  <a:cubicBezTo>
                    <a:pt x="4269709" y="1955300"/>
                    <a:pt x="4268703" y="1957730"/>
                    <a:pt x="4266911" y="1959521"/>
                  </a:cubicBezTo>
                  <a:cubicBezTo>
                    <a:pt x="4265120" y="1961312"/>
                    <a:pt x="4262691" y="1962318"/>
                    <a:pt x="4260158" y="1962318"/>
                  </a:cubicBezTo>
                  <a:lnTo>
                    <a:pt x="9551" y="1962318"/>
                  </a:lnTo>
                  <a:cubicBezTo>
                    <a:pt x="7018" y="1962318"/>
                    <a:pt x="4589" y="1961312"/>
                    <a:pt x="2797" y="1959521"/>
                  </a:cubicBezTo>
                  <a:cubicBezTo>
                    <a:pt x="1006" y="1957730"/>
                    <a:pt x="0" y="1955300"/>
                    <a:pt x="0" y="1952767"/>
                  </a:cubicBezTo>
                  <a:lnTo>
                    <a:pt x="0" y="9551"/>
                  </a:lnTo>
                  <a:cubicBezTo>
                    <a:pt x="0" y="7018"/>
                    <a:pt x="1006" y="4589"/>
                    <a:pt x="2797" y="2797"/>
                  </a:cubicBezTo>
                  <a:cubicBezTo>
                    <a:pt x="4589" y="1006"/>
                    <a:pt x="7018" y="0"/>
                    <a:pt x="95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6"/>
            <p:cNvSpPr txBox="1"/>
            <p:nvPr/>
          </p:nvSpPr>
          <p:spPr>
            <a:xfrm>
              <a:off x="0" y="-38100"/>
              <a:ext cx="4269709" cy="20004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9" name="Google Shape;99;p6"/>
          <p:cNvSpPr txBox="1"/>
          <p:nvPr/>
        </p:nvSpPr>
        <p:spPr>
          <a:xfrm>
            <a:off x="2043300" y="962025"/>
            <a:ext cx="6921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METODOLOGIAS ÁGEIS</a:t>
            </a:r>
            <a:endParaRPr sz="2000" b="1">
              <a:solidFill>
                <a:srgbClr val="D9383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14702148" y="624310"/>
            <a:ext cx="3018346" cy="768717"/>
          </a:xfrm>
          <a:custGeom>
            <a:avLst/>
            <a:gdLst/>
            <a:ahLst/>
            <a:cxnLst/>
            <a:rect l="l" t="t" r="r" b="b"/>
            <a:pathLst>
              <a:path w="3018346" h="768717" extrusionOk="0">
                <a:moveTo>
                  <a:pt x="0" y="0"/>
                </a:moveTo>
                <a:lnTo>
                  <a:pt x="3018346" y="0"/>
                </a:lnTo>
                <a:lnTo>
                  <a:pt x="3018346" y="768717"/>
                </a:lnTo>
                <a:lnTo>
                  <a:pt x="0" y="7687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 txBox="1"/>
          <p:nvPr/>
        </p:nvSpPr>
        <p:spPr>
          <a:xfrm>
            <a:off x="2043300" y="1189050"/>
            <a:ext cx="156771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O que são?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6"/>
          <p:cNvSpPr txBox="1"/>
          <p:nvPr/>
        </p:nvSpPr>
        <p:spPr>
          <a:xfrm>
            <a:off x="1685075" y="3465953"/>
            <a:ext cx="14443800" cy="46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São formas de organizar e gerenciar projetos com foco em entregas rápidas, colaboração entre equipes, adaptação às mudanças e melhoria contínua. 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marR="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Ao invés de planejar tudo de uma vez, elas trabalham em ciclos curtos (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SPRINTS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), com testes, feedbacks e ajustes constantes. 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marR="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São muito usadas no desenvolvimento de software.</a:t>
            </a:r>
            <a:endParaRPr sz="240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4e4aa8e35f_0_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g34e4aa8e35f_0_2"/>
          <p:cNvSpPr/>
          <p:nvPr/>
        </p:nvSpPr>
        <p:spPr>
          <a:xfrm>
            <a:off x="0" y="0"/>
            <a:ext cx="18288000" cy="6217920"/>
          </a:xfrm>
          <a:custGeom>
            <a:avLst/>
            <a:gdLst/>
            <a:ahLst/>
            <a:cxnLst/>
            <a:rect l="l" t="t" r="r" b="b"/>
            <a:pathLst>
              <a:path w="18288000" h="6217920" extrusionOk="0">
                <a:moveTo>
                  <a:pt x="0" y="0"/>
                </a:moveTo>
                <a:lnTo>
                  <a:pt x="18288000" y="0"/>
                </a:lnTo>
                <a:lnTo>
                  <a:pt x="18288000" y="6217920"/>
                </a:lnTo>
                <a:lnTo>
                  <a:pt x="0" y="62179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9" name="Google Shape;109;g34e4aa8e35f_0_2"/>
          <p:cNvCxnSpPr/>
          <p:nvPr/>
        </p:nvCxnSpPr>
        <p:spPr>
          <a:xfrm rot="10800000" flipH="1">
            <a:off x="1068398" y="16195"/>
            <a:ext cx="16500" cy="2135700"/>
          </a:xfrm>
          <a:prstGeom prst="straightConnector1">
            <a:avLst/>
          </a:prstGeom>
          <a:noFill/>
          <a:ln w="38100" cap="flat" cmpd="sng">
            <a:solidFill>
              <a:srgbClr val="D9383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10" name="Google Shape;110;g34e4aa8e35f_0_2"/>
          <p:cNvGrpSpPr/>
          <p:nvPr/>
        </p:nvGrpSpPr>
        <p:grpSpPr>
          <a:xfrm>
            <a:off x="1038175" y="2946624"/>
            <a:ext cx="16211658" cy="7299925"/>
            <a:chOff x="0" y="-38100"/>
            <a:chExt cx="4269709" cy="2000418"/>
          </a:xfrm>
        </p:grpSpPr>
        <p:sp>
          <p:nvSpPr>
            <p:cNvPr id="111" name="Google Shape;111;g34e4aa8e35f_0_2"/>
            <p:cNvSpPr/>
            <p:nvPr/>
          </p:nvSpPr>
          <p:spPr>
            <a:xfrm>
              <a:off x="0" y="0"/>
              <a:ext cx="4269709" cy="1962318"/>
            </a:xfrm>
            <a:custGeom>
              <a:avLst/>
              <a:gdLst/>
              <a:ahLst/>
              <a:cxnLst/>
              <a:rect l="l" t="t" r="r" b="b"/>
              <a:pathLst>
                <a:path w="4269709" h="1962318" extrusionOk="0">
                  <a:moveTo>
                    <a:pt x="9551" y="0"/>
                  </a:moveTo>
                  <a:lnTo>
                    <a:pt x="4260158" y="0"/>
                  </a:lnTo>
                  <a:cubicBezTo>
                    <a:pt x="4262691" y="0"/>
                    <a:pt x="4265120" y="1006"/>
                    <a:pt x="4266911" y="2797"/>
                  </a:cubicBezTo>
                  <a:cubicBezTo>
                    <a:pt x="4268703" y="4589"/>
                    <a:pt x="4269709" y="7018"/>
                    <a:pt x="4269709" y="9551"/>
                  </a:cubicBezTo>
                  <a:lnTo>
                    <a:pt x="4269709" y="1952767"/>
                  </a:lnTo>
                  <a:cubicBezTo>
                    <a:pt x="4269709" y="1955300"/>
                    <a:pt x="4268703" y="1957730"/>
                    <a:pt x="4266911" y="1959521"/>
                  </a:cubicBezTo>
                  <a:cubicBezTo>
                    <a:pt x="4265120" y="1961312"/>
                    <a:pt x="4262691" y="1962318"/>
                    <a:pt x="4260158" y="1962318"/>
                  </a:cubicBezTo>
                  <a:lnTo>
                    <a:pt x="9551" y="1962318"/>
                  </a:lnTo>
                  <a:cubicBezTo>
                    <a:pt x="7018" y="1962318"/>
                    <a:pt x="4589" y="1961312"/>
                    <a:pt x="2797" y="1959521"/>
                  </a:cubicBezTo>
                  <a:cubicBezTo>
                    <a:pt x="1006" y="1957730"/>
                    <a:pt x="0" y="1955300"/>
                    <a:pt x="0" y="1952767"/>
                  </a:cubicBezTo>
                  <a:lnTo>
                    <a:pt x="0" y="9551"/>
                  </a:lnTo>
                  <a:cubicBezTo>
                    <a:pt x="0" y="7018"/>
                    <a:pt x="1006" y="4589"/>
                    <a:pt x="2797" y="2797"/>
                  </a:cubicBezTo>
                  <a:cubicBezTo>
                    <a:pt x="4589" y="1006"/>
                    <a:pt x="7018" y="0"/>
                    <a:pt x="95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12;g34e4aa8e35f_0_2"/>
            <p:cNvSpPr txBox="1"/>
            <p:nvPr/>
          </p:nvSpPr>
          <p:spPr>
            <a:xfrm>
              <a:off x="0" y="-38100"/>
              <a:ext cx="4269600" cy="20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3" name="Google Shape;113;g34e4aa8e35f_0_2"/>
          <p:cNvSpPr txBox="1"/>
          <p:nvPr/>
        </p:nvSpPr>
        <p:spPr>
          <a:xfrm>
            <a:off x="2043300" y="962025"/>
            <a:ext cx="6921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METODOLOGIAS ÁGEIS</a:t>
            </a:r>
            <a:endParaRPr sz="2000" b="1">
              <a:solidFill>
                <a:srgbClr val="D9383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" name="Google Shape;114;g34e4aa8e35f_0_2"/>
          <p:cNvSpPr/>
          <p:nvPr/>
        </p:nvSpPr>
        <p:spPr>
          <a:xfrm>
            <a:off x="14702148" y="624310"/>
            <a:ext cx="3018346" cy="768717"/>
          </a:xfrm>
          <a:custGeom>
            <a:avLst/>
            <a:gdLst/>
            <a:ahLst/>
            <a:cxnLst/>
            <a:rect l="l" t="t" r="r" b="b"/>
            <a:pathLst>
              <a:path w="3018346" h="768717" extrusionOk="0">
                <a:moveTo>
                  <a:pt x="0" y="0"/>
                </a:moveTo>
                <a:lnTo>
                  <a:pt x="3018346" y="0"/>
                </a:lnTo>
                <a:lnTo>
                  <a:pt x="3018346" y="768717"/>
                </a:lnTo>
                <a:lnTo>
                  <a:pt x="0" y="7687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g34e4aa8e35f_0_2"/>
          <p:cNvSpPr txBox="1"/>
          <p:nvPr/>
        </p:nvSpPr>
        <p:spPr>
          <a:xfrm>
            <a:off x="2043300" y="1189050"/>
            <a:ext cx="156771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SCRUM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g34e4aa8e35f_0_2"/>
          <p:cNvSpPr txBox="1"/>
          <p:nvPr/>
        </p:nvSpPr>
        <p:spPr>
          <a:xfrm>
            <a:off x="1685075" y="3923153"/>
            <a:ext cx="14443800" cy="48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Criado por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Jeff Sutherland e Ken Schwaber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nos anos 1990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Usado principalmente em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desenvolvimento de software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Também aplicável em outras áreas com necessidade de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gestão ágil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Baseado em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Sprints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(ciclos curtos de trabalho de 1 a 4 semanas)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1371600" lvl="1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○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Objetivo: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entregar partes do produto de forma incremental e frequente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Estimula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flexibilidade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adaptação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rápida e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colaboração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em equipe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Ideal para equipes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multifuncionais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que precisam entregar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valor contínuo</a:t>
            </a:r>
            <a:endParaRPr sz="2400" b="1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4e4aa8e35f_0_17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g34e4aa8e35f_0_17"/>
          <p:cNvSpPr/>
          <p:nvPr/>
        </p:nvSpPr>
        <p:spPr>
          <a:xfrm>
            <a:off x="0" y="0"/>
            <a:ext cx="18288000" cy="6217920"/>
          </a:xfrm>
          <a:custGeom>
            <a:avLst/>
            <a:gdLst/>
            <a:ahLst/>
            <a:cxnLst/>
            <a:rect l="l" t="t" r="r" b="b"/>
            <a:pathLst>
              <a:path w="18288000" h="6217920" extrusionOk="0">
                <a:moveTo>
                  <a:pt x="0" y="0"/>
                </a:moveTo>
                <a:lnTo>
                  <a:pt x="18288000" y="0"/>
                </a:lnTo>
                <a:lnTo>
                  <a:pt x="18288000" y="6217920"/>
                </a:lnTo>
                <a:lnTo>
                  <a:pt x="0" y="62179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3" name="Google Shape;123;g34e4aa8e35f_0_17"/>
          <p:cNvCxnSpPr/>
          <p:nvPr/>
        </p:nvCxnSpPr>
        <p:spPr>
          <a:xfrm rot="10800000" flipH="1">
            <a:off x="1068398" y="16195"/>
            <a:ext cx="16500" cy="2135700"/>
          </a:xfrm>
          <a:prstGeom prst="straightConnector1">
            <a:avLst/>
          </a:prstGeom>
          <a:noFill/>
          <a:ln w="38100" cap="flat" cmpd="sng">
            <a:solidFill>
              <a:srgbClr val="D9383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4" name="Google Shape;124;g34e4aa8e35f_0_17"/>
          <p:cNvGrpSpPr/>
          <p:nvPr/>
        </p:nvGrpSpPr>
        <p:grpSpPr>
          <a:xfrm>
            <a:off x="1038175" y="2946624"/>
            <a:ext cx="16211658" cy="7299925"/>
            <a:chOff x="0" y="-38100"/>
            <a:chExt cx="4269709" cy="2000418"/>
          </a:xfrm>
        </p:grpSpPr>
        <p:sp>
          <p:nvSpPr>
            <p:cNvPr id="125" name="Google Shape;125;g34e4aa8e35f_0_17"/>
            <p:cNvSpPr/>
            <p:nvPr/>
          </p:nvSpPr>
          <p:spPr>
            <a:xfrm>
              <a:off x="0" y="0"/>
              <a:ext cx="4269709" cy="1962318"/>
            </a:xfrm>
            <a:custGeom>
              <a:avLst/>
              <a:gdLst/>
              <a:ahLst/>
              <a:cxnLst/>
              <a:rect l="l" t="t" r="r" b="b"/>
              <a:pathLst>
                <a:path w="4269709" h="1962318" extrusionOk="0">
                  <a:moveTo>
                    <a:pt x="9551" y="0"/>
                  </a:moveTo>
                  <a:lnTo>
                    <a:pt x="4260158" y="0"/>
                  </a:lnTo>
                  <a:cubicBezTo>
                    <a:pt x="4262691" y="0"/>
                    <a:pt x="4265120" y="1006"/>
                    <a:pt x="4266911" y="2797"/>
                  </a:cubicBezTo>
                  <a:cubicBezTo>
                    <a:pt x="4268703" y="4589"/>
                    <a:pt x="4269709" y="7018"/>
                    <a:pt x="4269709" y="9551"/>
                  </a:cubicBezTo>
                  <a:lnTo>
                    <a:pt x="4269709" y="1952767"/>
                  </a:lnTo>
                  <a:cubicBezTo>
                    <a:pt x="4269709" y="1955300"/>
                    <a:pt x="4268703" y="1957730"/>
                    <a:pt x="4266911" y="1959521"/>
                  </a:cubicBezTo>
                  <a:cubicBezTo>
                    <a:pt x="4265120" y="1961312"/>
                    <a:pt x="4262691" y="1962318"/>
                    <a:pt x="4260158" y="1962318"/>
                  </a:cubicBezTo>
                  <a:lnTo>
                    <a:pt x="9551" y="1962318"/>
                  </a:lnTo>
                  <a:cubicBezTo>
                    <a:pt x="7018" y="1962318"/>
                    <a:pt x="4589" y="1961312"/>
                    <a:pt x="2797" y="1959521"/>
                  </a:cubicBezTo>
                  <a:cubicBezTo>
                    <a:pt x="1006" y="1957730"/>
                    <a:pt x="0" y="1955300"/>
                    <a:pt x="0" y="1952767"/>
                  </a:cubicBezTo>
                  <a:lnTo>
                    <a:pt x="0" y="9551"/>
                  </a:lnTo>
                  <a:cubicBezTo>
                    <a:pt x="0" y="7018"/>
                    <a:pt x="1006" y="4589"/>
                    <a:pt x="2797" y="2797"/>
                  </a:cubicBezTo>
                  <a:cubicBezTo>
                    <a:pt x="4589" y="1006"/>
                    <a:pt x="7018" y="0"/>
                    <a:pt x="95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" name="Google Shape;126;g34e4aa8e35f_0_17"/>
            <p:cNvSpPr txBox="1"/>
            <p:nvPr/>
          </p:nvSpPr>
          <p:spPr>
            <a:xfrm>
              <a:off x="0" y="-38100"/>
              <a:ext cx="4269600" cy="20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7" name="Google Shape;127;g34e4aa8e35f_0_17"/>
          <p:cNvSpPr txBox="1"/>
          <p:nvPr/>
        </p:nvSpPr>
        <p:spPr>
          <a:xfrm>
            <a:off x="2043300" y="962025"/>
            <a:ext cx="6921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METODOLOGIAS ÁGEIS</a:t>
            </a:r>
            <a:endParaRPr sz="2000" b="1">
              <a:solidFill>
                <a:srgbClr val="D9383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" name="Google Shape;128;g34e4aa8e35f_0_17"/>
          <p:cNvSpPr/>
          <p:nvPr/>
        </p:nvSpPr>
        <p:spPr>
          <a:xfrm>
            <a:off x="14702148" y="624310"/>
            <a:ext cx="3018346" cy="768717"/>
          </a:xfrm>
          <a:custGeom>
            <a:avLst/>
            <a:gdLst/>
            <a:ahLst/>
            <a:cxnLst/>
            <a:rect l="l" t="t" r="r" b="b"/>
            <a:pathLst>
              <a:path w="3018346" h="768717" extrusionOk="0">
                <a:moveTo>
                  <a:pt x="0" y="0"/>
                </a:moveTo>
                <a:lnTo>
                  <a:pt x="3018346" y="0"/>
                </a:lnTo>
                <a:lnTo>
                  <a:pt x="3018346" y="768717"/>
                </a:lnTo>
                <a:lnTo>
                  <a:pt x="0" y="7687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g34e4aa8e35f_0_17"/>
          <p:cNvSpPr txBox="1"/>
          <p:nvPr/>
        </p:nvSpPr>
        <p:spPr>
          <a:xfrm>
            <a:off x="2043300" y="1189050"/>
            <a:ext cx="156771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SCRUM:</a:t>
            </a:r>
            <a:endParaRPr sz="6000" b="1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O que é uma SPRINT?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g34e4aa8e35f_0_17"/>
          <p:cNvSpPr txBox="1"/>
          <p:nvPr/>
        </p:nvSpPr>
        <p:spPr>
          <a:xfrm>
            <a:off x="1685075" y="3465953"/>
            <a:ext cx="14443800" cy="85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Definição: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Ciclo de trabalho com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duração fixa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(geralmente de 1 a 4 semanas) no qual a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equipe Scrum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se compromete a entregar um conjunto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específico de tarefas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Até a conclusão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nenhuma nova demanda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é adicionada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Foco em completar aquilo que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foi planejado no início.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Passos: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Planejamento da Sprint: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define-se o que será feito.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Execução: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equipe trabalha nas tarefas (com reuniões diárias – Daily Scrum).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Revisão: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no final, apresenta-se o que foi feito ao cliente ou professor.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Retrospectiva: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 equipe reflete sobre o que funcionou e o que pode melhorar.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4e555ac9a0_0_0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g34e555ac9a0_0_0"/>
          <p:cNvSpPr/>
          <p:nvPr/>
        </p:nvSpPr>
        <p:spPr>
          <a:xfrm>
            <a:off x="0" y="0"/>
            <a:ext cx="18288000" cy="6217920"/>
          </a:xfrm>
          <a:custGeom>
            <a:avLst/>
            <a:gdLst/>
            <a:ahLst/>
            <a:cxnLst/>
            <a:rect l="l" t="t" r="r" b="b"/>
            <a:pathLst>
              <a:path w="18288000" h="6217920" extrusionOk="0">
                <a:moveTo>
                  <a:pt x="0" y="0"/>
                </a:moveTo>
                <a:lnTo>
                  <a:pt x="18288000" y="0"/>
                </a:lnTo>
                <a:lnTo>
                  <a:pt x="18288000" y="6217920"/>
                </a:lnTo>
                <a:lnTo>
                  <a:pt x="0" y="62179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" name="Google Shape;137;g34e555ac9a0_0_0"/>
          <p:cNvCxnSpPr/>
          <p:nvPr/>
        </p:nvCxnSpPr>
        <p:spPr>
          <a:xfrm rot="10800000" flipH="1">
            <a:off x="1068398" y="16195"/>
            <a:ext cx="16500" cy="2135700"/>
          </a:xfrm>
          <a:prstGeom prst="straightConnector1">
            <a:avLst/>
          </a:prstGeom>
          <a:noFill/>
          <a:ln w="38100" cap="flat" cmpd="sng">
            <a:solidFill>
              <a:srgbClr val="D9383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38" name="Google Shape;138;g34e555ac9a0_0_0"/>
          <p:cNvGrpSpPr/>
          <p:nvPr/>
        </p:nvGrpSpPr>
        <p:grpSpPr>
          <a:xfrm>
            <a:off x="1038175" y="2946624"/>
            <a:ext cx="16211658" cy="7299925"/>
            <a:chOff x="0" y="-38100"/>
            <a:chExt cx="4269709" cy="2000418"/>
          </a:xfrm>
        </p:grpSpPr>
        <p:sp>
          <p:nvSpPr>
            <p:cNvPr id="139" name="Google Shape;139;g34e555ac9a0_0_0"/>
            <p:cNvSpPr/>
            <p:nvPr/>
          </p:nvSpPr>
          <p:spPr>
            <a:xfrm>
              <a:off x="0" y="0"/>
              <a:ext cx="4269709" cy="1962318"/>
            </a:xfrm>
            <a:custGeom>
              <a:avLst/>
              <a:gdLst/>
              <a:ahLst/>
              <a:cxnLst/>
              <a:rect l="l" t="t" r="r" b="b"/>
              <a:pathLst>
                <a:path w="4269709" h="1962318" extrusionOk="0">
                  <a:moveTo>
                    <a:pt x="9551" y="0"/>
                  </a:moveTo>
                  <a:lnTo>
                    <a:pt x="4260158" y="0"/>
                  </a:lnTo>
                  <a:cubicBezTo>
                    <a:pt x="4262691" y="0"/>
                    <a:pt x="4265120" y="1006"/>
                    <a:pt x="4266911" y="2797"/>
                  </a:cubicBezTo>
                  <a:cubicBezTo>
                    <a:pt x="4268703" y="4589"/>
                    <a:pt x="4269709" y="7018"/>
                    <a:pt x="4269709" y="9551"/>
                  </a:cubicBezTo>
                  <a:lnTo>
                    <a:pt x="4269709" y="1952767"/>
                  </a:lnTo>
                  <a:cubicBezTo>
                    <a:pt x="4269709" y="1955300"/>
                    <a:pt x="4268703" y="1957730"/>
                    <a:pt x="4266911" y="1959521"/>
                  </a:cubicBezTo>
                  <a:cubicBezTo>
                    <a:pt x="4265120" y="1961312"/>
                    <a:pt x="4262691" y="1962318"/>
                    <a:pt x="4260158" y="1962318"/>
                  </a:cubicBezTo>
                  <a:lnTo>
                    <a:pt x="9551" y="1962318"/>
                  </a:lnTo>
                  <a:cubicBezTo>
                    <a:pt x="7018" y="1962318"/>
                    <a:pt x="4589" y="1961312"/>
                    <a:pt x="2797" y="1959521"/>
                  </a:cubicBezTo>
                  <a:cubicBezTo>
                    <a:pt x="1006" y="1957730"/>
                    <a:pt x="0" y="1955300"/>
                    <a:pt x="0" y="1952767"/>
                  </a:cubicBezTo>
                  <a:lnTo>
                    <a:pt x="0" y="9551"/>
                  </a:lnTo>
                  <a:cubicBezTo>
                    <a:pt x="0" y="7018"/>
                    <a:pt x="1006" y="4589"/>
                    <a:pt x="2797" y="2797"/>
                  </a:cubicBezTo>
                  <a:cubicBezTo>
                    <a:pt x="4589" y="1006"/>
                    <a:pt x="7018" y="0"/>
                    <a:pt x="95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0" name="Google Shape;140;g34e555ac9a0_0_0"/>
            <p:cNvSpPr txBox="1"/>
            <p:nvPr/>
          </p:nvSpPr>
          <p:spPr>
            <a:xfrm>
              <a:off x="0" y="-38100"/>
              <a:ext cx="4269600" cy="20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1" name="Google Shape;141;g34e555ac9a0_0_0"/>
          <p:cNvSpPr txBox="1"/>
          <p:nvPr/>
        </p:nvSpPr>
        <p:spPr>
          <a:xfrm>
            <a:off x="2043300" y="962025"/>
            <a:ext cx="6921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METODOLOGIAS ÁGEIS</a:t>
            </a:r>
            <a:endParaRPr sz="2000" b="1">
              <a:solidFill>
                <a:srgbClr val="D9383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2" name="Google Shape;142;g34e555ac9a0_0_0"/>
          <p:cNvSpPr/>
          <p:nvPr/>
        </p:nvSpPr>
        <p:spPr>
          <a:xfrm>
            <a:off x="14702148" y="624310"/>
            <a:ext cx="3018346" cy="768717"/>
          </a:xfrm>
          <a:custGeom>
            <a:avLst/>
            <a:gdLst/>
            <a:ahLst/>
            <a:cxnLst/>
            <a:rect l="l" t="t" r="r" b="b"/>
            <a:pathLst>
              <a:path w="3018346" h="768717" extrusionOk="0">
                <a:moveTo>
                  <a:pt x="0" y="0"/>
                </a:moveTo>
                <a:lnTo>
                  <a:pt x="3018346" y="0"/>
                </a:lnTo>
                <a:lnTo>
                  <a:pt x="3018346" y="768717"/>
                </a:lnTo>
                <a:lnTo>
                  <a:pt x="0" y="7687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g34e555ac9a0_0_0"/>
          <p:cNvSpPr txBox="1"/>
          <p:nvPr/>
        </p:nvSpPr>
        <p:spPr>
          <a:xfrm>
            <a:off x="2043300" y="1189050"/>
            <a:ext cx="156771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SCRUM:</a:t>
            </a:r>
            <a:endParaRPr sz="6000" b="1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Ciclo na prática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g34e555ac9a0_0_0"/>
          <p:cNvSpPr txBox="1"/>
          <p:nvPr/>
        </p:nvSpPr>
        <p:spPr>
          <a:xfrm>
            <a:off x="1685075" y="3465953"/>
            <a:ext cx="14443800" cy="74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Planejamento do Sprint: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tarefas do backlog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Execução com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Daily meetings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(reuniões rápidas)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Revisão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Retrospectiva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ao final do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Sprint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Exemplo: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protótipo testado com usuários por Sprint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4e555ac9a0_0_9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g34e555ac9a0_0_92"/>
          <p:cNvSpPr/>
          <p:nvPr/>
        </p:nvSpPr>
        <p:spPr>
          <a:xfrm>
            <a:off x="0" y="0"/>
            <a:ext cx="18288000" cy="6217920"/>
          </a:xfrm>
          <a:custGeom>
            <a:avLst/>
            <a:gdLst/>
            <a:ahLst/>
            <a:cxnLst/>
            <a:rect l="l" t="t" r="r" b="b"/>
            <a:pathLst>
              <a:path w="18288000" h="6217920" extrusionOk="0">
                <a:moveTo>
                  <a:pt x="0" y="0"/>
                </a:moveTo>
                <a:lnTo>
                  <a:pt x="18288000" y="0"/>
                </a:lnTo>
                <a:lnTo>
                  <a:pt x="18288000" y="6217920"/>
                </a:lnTo>
                <a:lnTo>
                  <a:pt x="0" y="62179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1" name="Google Shape;151;g34e555ac9a0_0_92"/>
          <p:cNvCxnSpPr/>
          <p:nvPr/>
        </p:nvCxnSpPr>
        <p:spPr>
          <a:xfrm rot="10800000" flipH="1">
            <a:off x="1068398" y="16195"/>
            <a:ext cx="16500" cy="2135700"/>
          </a:xfrm>
          <a:prstGeom prst="straightConnector1">
            <a:avLst/>
          </a:prstGeom>
          <a:noFill/>
          <a:ln w="38100" cap="flat" cmpd="sng">
            <a:solidFill>
              <a:srgbClr val="D9383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52" name="Google Shape;152;g34e555ac9a0_0_92"/>
          <p:cNvGrpSpPr/>
          <p:nvPr/>
        </p:nvGrpSpPr>
        <p:grpSpPr>
          <a:xfrm>
            <a:off x="1038175" y="2946624"/>
            <a:ext cx="16211658" cy="7299925"/>
            <a:chOff x="0" y="-38100"/>
            <a:chExt cx="4269709" cy="2000418"/>
          </a:xfrm>
        </p:grpSpPr>
        <p:sp>
          <p:nvSpPr>
            <p:cNvPr id="153" name="Google Shape;153;g34e555ac9a0_0_92"/>
            <p:cNvSpPr/>
            <p:nvPr/>
          </p:nvSpPr>
          <p:spPr>
            <a:xfrm>
              <a:off x="0" y="0"/>
              <a:ext cx="4269709" cy="1962318"/>
            </a:xfrm>
            <a:custGeom>
              <a:avLst/>
              <a:gdLst/>
              <a:ahLst/>
              <a:cxnLst/>
              <a:rect l="l" t="t" r="r" b="b"/>
              <a:pathLst>
                <a:path w="4269709" h="1962318" extrusionOk="0">
                  <a:moveTo>
                    <a:pt x="9551" y="0"/>
                  </a:moveTo>
                  <a:lnTo>
                    <a:pt x="4260158" y="0"/>
                  </a:lnTo>
                  <a:cubicBezTo>
                    <a:pt x="4262691" y="0"/>
                    <a:pt x="4265120" y="1006"/>
                    <a:pt x="4266911" y="2797"/>
                  </a:cubicBezTo>
                  <a:cubicBezTo>
                    <a:pt x="4268703" y="4589"/>
                    <a:pt x="4269709" y="7018"/>
                    <a:pt x="4269709" y="9551"/>
                  </a:cubicBezTo>
                  <a:lnTo>
                    <a:pt x="4269709" y="1952767"/>
                  </a:lnTo>
                  <a:cubicBezTo>
                    <a:pt x="4269709" y="1955300"/>
                    <a:pt x="4268703" y="1957730"/>
                    <a:pt x="4266911" y="1959521"/>
                  </a:cubicBezTo>
                  <a:cubicBezTo>
                    <a:pt x="4265120" y="1961312"/>
                    <a:pt x="4262691" y="1962318"/>
                    <a:pt x="4260158" y="1962318"/>
                  </a:cubicBezTo>
                  <a:lnTo>
                    <a:pt x="9551" y="1962318"/>
                  </a:lnTo>
                  <a:cubicBezTo>
                    <a:pt x="7018" y="1962318"/>
                    <a:pt x="4589" y="1961312"/>
                    <a:pt x="2797" y="1959521"/>
                  </a:cubicBezTo>
                  <a:cubicBezTo>
                    <a:pt x="1006" y="1957730"/>
                    <a:pt x="0" y="1955300"/>
                    <a:pt x="0" y="1952767"/>
                  </a:cubicBezTo>
                  <a:lnTo>
                    <a:pt x="0" y="9551"/>
                  </a:lnTo>
                  <a:cubicBezTo>
                    <a:pt x="0" y="7018"/>
                    <a:pt x="1006" y="4589"/>
                    <a:pt x="2797" y="2797"/>
                  </a:cubicBezTo>
                  <a:cubicBezTo>
                    <a:pt x="4589" y="1006"/>
                    <a:pt x="7018" y="0"/>
                    <a:pt x="95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" name="Google Shape;154;g34e555ac9a0_0_92"/>
            <p:cNvSpPr txBox="1"/>
            <p:nvPr/>
          </p:nvSpPr>
          <p:spPr>
            <a:xfrm>
              <a:off x="0" y="-38100"/>
              <a:ext cx="4269600" cy="20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5" name="Google Shape;155;g34e555ac9a0_0_92"/>
          <p:cNvSpPr txBox="1"/>
          <p:nvPr/>
        </p:nvSpPr>
        <p:spPr>
          <a:xfrm>
            <a:off x="2043300" y="962025"/>
            <a:ext cx="6921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METODOLOGIAS ÁGEIS</a:t>
            </a:r>
            <a:endParaRPr sz="2000" b="1">
              <a:solidFill>
                <a:srgbClr val="D9383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6" name="Google Shape;156;g34e555ac9a0_0_92"/>
          <p:cNvSpPr/>
          <p:nvPr/>
        </p:nvSpPr>
        <p:spPr>
          <a:xfrm>
            <a:off x="14702148" y="624310"/>
            <a:ext cx="3018346" cy="768717"/>
          </a:xfrm>
          <a:custGeom>
            <a:avLst/>
            <a:gdLst/>
            <a:ahLst/>
            <a:cxnLst/>
            <a:rect l="l" t="t" r="r" b="b"/>
            <a:pathLst>
              <a:path w="3018346" h="768717" extrusionOk="0">
                <a:moveTo>
                  <a:pt x="0" y="0"/>
                </a:moveTo>
                <a:lnTo>
                  <a:pt x="3018346" y="0"/>
                </a:lnTo>
                <a:lnTo>
                  <a:pt x="3018346" y="768717"/>
                </a:lnTo>
                <a:lnTo>
                  <a:pt x="0" y="7687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4e555ac9a0_0_92"/>
          <p:cNvSpPr txBox="1"/>
          <p:nvPr/>
        </p:nvSpPr>
        <p:spPr>
          <a:xfrm>
            <a:off x="2043300" y="1189050"/>
            <a:ext cx="156771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RESUMO ATÉ AQUI (SCRUM):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g34e555ac9a0_0_92"/>
          <p:cNvSpPr txBox="1"/>
          <p:nvPr/>
        </p:nvSpPr>
        <p:spPr>
          <a:xfrm>
            <a:off x="1685075" y="3465953"/>
            <a:ext cx="14443800" cy="85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✅ É uma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estrutura ágil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✅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Usado principalmente em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desenvolvimento de software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✅ Baseado em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Sprints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(ciclos curtos de trabalho de 1 a 4 semanas)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✅ Possui papéis específicos: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Product Owner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	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Scrum Master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Development Team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4e555ac9a0_0_13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34e555ac9a0_0_13"/>
          <p:cNvSpPr/>
          <p:nvPr/>
        </p:nvSpPr>
        <p:spPr>
          <a:xfrm>
            <a:off x="0" y="0"/>
            <a:ext cx="18288000" cy="6217920"/>
          </a:xfrm>
          <a:custGeom>
            <a:avLst/>
            <a:gdLst/>
            <a:ahLst/>
            <a:cxnLst/>
            <a:rect l="l" t="t" r="r" b="b"/>
            <a:pathLst>
              <a:path w="18288000" h="6217920" extrusionOk="0">
                <a:moveTo>
                  <a:pt x="0" y="0"/>
                </a:moveTo>
                <a:lnTo>
                  <a:pt x="18288000" y="0"/>
                </a:lnTo>
                <a:lnTo>
                  <a:pt x="18288000" y="6217920"/>
                </a:lnTo>
                <a:lnTo>
                  <a:pt x="0" y="62179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5" name="Google Shape;165;g34e555ac9a0_0_13"/>
          <p:cNvCxnSpPr/>
          <p:nvPr/>
        </p:nvCxnSpPr>
        <p:spPr>
          <a:xfrm rot="10800000" flipH="1">
            <a:off x="1068398" y="16195"/>
            <a:ext cx="16500" cy="2135700"/>
          </a:xfrm>
          <a:prstGeom prst="straightConnector1">
            <a:avLst/>
          </a:prstGeom>
          <a:noFill/>
          <a:ln w="38100" cap="flat" cmpd="sng">
            <a:solidFill>
              <a:srgbClr val="D9383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66" name="Google Shape;166;g34e555ac9a0_0_13"/>
          <p:cNvGrpSpPr/>
          <p:nvPr/>
        </p:nvGrpSpPr>
        <p:grpSpPr>
          <a:xfrm>
            <a:off x="1038175" y="2946624"/>
            <a:ext cx="16211658" cy="7299925"/>
            <a:chOff x="0" y="-38100"/>
            <a:chExt cx="4269709" cy="2000418"/>
          </a:xfrm>
        </p:grpSpPr>
        <p:sp>
          <p:nvSpPr>
            <p:cNvPr id="167" name="Google Shape;167;g34e555ac9a0_0_13"/>
            <p:cNvSpPr/>
            <p:nvPr/>
          </p:nvSpPr>
          <p:spPr>
            <a:xfrm>
              <a:off x="0" y="0"/>
              <a:ext cx="4269709" cy="1962318"/>
            </a:xfrm>
            <a:custGeom>
              <a:avLst/>
              <a:gdLst/>
              <a:ahLst/>
              <a:cxnLst/>
              <a:rect l="l" t="t" r="r" b="b"/>
              <a:pathLst>
                <a:path w="4269709" h="1962318" extrusionOk="0">
                  <a:moveTo>
                    <a:pt x="9551" y="0"/>
                  </a:moveTo>
                  <a:lnTo>
                    <a:pt x="4260158" y="0"/>
                  </a:lnTo>
                  <a:cubicBezTo>
                    <a:pt x="4262691" y="0"/>
                    <a:pt x="4265120" y="1006"/>
                    <a:pt x="4266911" y="2797"/>
                  </a:cubicBezTo>
                  <a:cubicBezTo>
                    <a:pt x="4268703" y="4589"/>
                    <a:pt x="4269709" y="7018"/>
                    <a:pt x="4269709" y="9551"/>
                  </a:cubicBezTo>
                  <a:lnTo>
                    <a:pt x="4269709" y="1952767"/>
                  </a:lnTo>
                  <a:cubicBezTo>
                    <a:pt x="4269709" y="1955300"/>
                    <a:pt x="4268703" y="1957730"/>
                    <a:pt x="4266911" y="1959521"/>
                  </a:cubicBezTo>
                  <a:cubicBezTo>
                    <a:pt x="4265120" y="1961312"/>
                    <a:pt x="4262691" y="1962318"/>
                    <a:pt x="4260158" y="1962318"/>
                  </a:cubicBezTo>
                  <a:lnTo>
                    <a:pt x="9551" y="1962318"/>
                  </a:lnTo>
                  <a:cubicBezTo>
                    <a:pt x="7018" y="1962318"/>
                    <a:pt x="4589" y="1961312"/>
                    <a:pt x="2797" y="1959521"/>
                  </a:cubicBezTo>
                  <a:cubicBezTo>
                    <a:pt x="1006" y="1957730"/>
                    <a:pt x="0" y="1955300"/>
                    <a:pt x="0" y="1952767"/>
                  </a:cubicBezTo>
                  <a:lnTo>
                    <a:pt x="0" y="9551"/>
                  </a:lnTo>
                  <a:cubicBezTo>
                    <a:pt x="0" y="7018"/>
                    <a:pt x="1006" y="4589"/>
                    <a:pt x="2797" y="2797"/>
                  </a:cubicBezTo>
                  <a:cubicBezTo>
                    <a:pt x="4589" y="1006"/>
                    <a:pt x="7018" y="0"/>
                    <a:pt x="95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g34e555ac9a0_0_13"/>
            <p:cNvSpPr txBox="1"/>
            <p:nvPr/>
          </p:nvSpPr>
          <p:spPr>
            <a:xfrm>
              <a:off x="0" y="-38100"/>
              <a:ext cx="4269600" cy="20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9" name="Google Shape;169;g34e555ac9a0_0_13"/>
          <p:cNvSpPr txBox="1"/>
          <p:nvPr/>
        </p:nvSpPr>
        <p:spPr>
          <a:xfrm>
            <a:off x="2043300" y="962025"/>
            <a:ext cx="6921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METODOLOGIAS ÁGEIS</a:t>
            </a:r>
            <a:endParaRPr sz="2000" b="1">
              <a:solidFill>
                <a:srgbClr val="D9383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0" name="Google Shape;170;g34e555ac9a0_0_13"/>
          <p:cNvSpPr/>
          <p:nvPr/>
        </p:nvSpPr>
        <p:spPr>
          <a:xfrm>
            <a:off x="14702148" y="624310"/>
            <a:ext cx="3018346" cy="768717"/>
          </a:xfrm>
          <a:custGeom>
            <a:avLst/>
            <a:gdLst/>
            <a:ahLst/>
            <a:cxnLst/>
            <a:rect l="l" t="t" r="r" b="b"/>
            <a:pathLst>
              <a:path w="3018346" h="768717" extrusionOk="0">
                <a:moveTo>
                  <a:pt x="0" y="0"/>
                </a:moveTo>
                <a:lnTo>
                  <a:pt x="3018346" y="0"/>
                </a:lnTo>
                <a:lnTo>
                  <a:pt x="3018346" y="768717"/>
                </a:lnTo>
                <a:lnTo>
                  <a:pt x="0" y="7687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g34e555ac9a0_0_13"/>
          <p:cNvSpPr txBox="1"/>
          <p:nvPr/>
        </p:nvSpPr>
        <p:spPr>
          <a:xfrm>
            <a:off x="2043300" y="1189050"/>
            <a:ext cx="156771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KANBAN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g34e555ac9a0_0_13"/>
          <p:cNvSpPr txBox="1"/>
          <p:nvPr/>
        </p:nvSpPr>
        <p:spPr>
          <a:xfrm>
            <a:off x="1685075" y="3465953"/>
            <a:ext cx="14443800" cy="80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Método visual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 controle de tarefas em fluxo contínuo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Limite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tarefas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em andamento (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WIP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914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914400" lvl="1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○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Exemplo: 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914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914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Quadro de tarefas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 Fazer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→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Concluído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4e555ac9a0_0_28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g34e555ac9a0_0_28"/>
          <p:cNvSpPr/>
          <p:nvPr/>
        </p:nvSpPr>
        <p:spPr>
          <a:xfrm>
            <a:off x="0" y="0"/>
            <a:ext cx="18288000" cy="6217920"/>
          </a:xfrm>
          <a:custGeom>
            <a:avLst/>
            <a:gdLst/>
            <a:ahLst/>
            <a:cxnLst/>
            <a:rect l="l" t="t" r="r" b="b"/>
            <a:pathLst>
              <a:path w="18288000" h="6217920" extrusionOk="0">
                <a:moveTo>
                  <a:pt x="0" y="0"/>
                </a:moveTo>
                <a:lnTo>
                  <a:pt x="18288000" y="0"/>
                </a:lnTo>
                <a:lnTo>
                  <a:pt x="18288000" y="6217920"/>
                </a:lnTo>
                <a:lnTo>
                  <a:pt x="0" y="62179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9" name="Google Shape;179;g34e555ac9a0_0_28"/>
          <p:cNvCxnSpPr/>
          <p:nvPr/>
        </p:nvCxnSpPr>
        <p:spPr>
          <a:xfrm rot="10800000" flipH="1">
            <a:off x="1068398" y="16195"/>
            <a:ext cx="16500" cy="2135700"/>
          </a:xfrm>
          <a:prstGeom prst="straightConnector1">
            <a:avLst/>
          </a:prstGeom>
          <a:noFill/>
          <a:ln w="38100" cap="flat" cmpd="sng">
            <a:solidFill>
              <a:srgbClr val="D9383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80" name="Google Shape;180;g34e555ac9a0_0_28"/>
          <p:cNvGrpSpPr/>
          <p:nvPr/>
        </p:nvGrpSpPr>
        <p:grpSpPr>
          <a:xfrm>
            <a:off x="1084900" y="2880349"/>
            <a:ext cx="16211658" cy="7299925"/>
            <a:chOff x="0" y="-38100"/>
            <a:chExt cx="4269709" cy="2000418"/>
          </a:xfrm>
        </p:grpSpPr>
        <p:sp>
          <p:nvSpPr>
            <p:cNvPr id="181" name="Google Shape;181;g34e555ac9a0_0_28"/>
            <p:cNvSpPr/>
            <p:nvPr/>
          </p:nvSpPr>
          <p:spPr>
            <a:xfrm>
              <a:off x="0" y="0"/>
              <a:ext cx="4269709" cy="1962318"/>
            </a:xfrm>
            <a:custGeom>
              <a:avLst/>
              <a:gdLst/>
              <a:ahLst/>
              <a:cxnLst/>
              <a:rect l="l" t="t" r="r" b="b"/>
              <a:pathLst>
                <a:path w="4269709" h="1962318" extrusionOk="0">
                  <a:moveTo>
                    <a:pt x="9551" y="0"/>
                  </a:moveTo>
                  <a:lnTo>
                    <a:pt x="4260158" y="0"/>
                  </a:lnTo>
                  <a:cubicBezTo>
                    <a:pt x="4262691" y="0"/>
                    <a:pt x="4265120" y="1006"/>
                    <a:pt x="4266911" y="2797"/>
                  </a:cubicBezTo>
                  <a:cubicBezTo>
                    <a:pt x="4268703" y="4589"/>
                    <a:pt x="4269709" y="7018"/>
                    <a:pt x="4269709" y="9551"/>
                  </a:cubicBezTo>
                  <a:lnTo>
                    <a:pt x="4269709" y="1952767"/>
                  </a:lnTo>
                  <a:cubicBezTo>
                    <a:pt x="4269709" y="1955300"/>
                    <a:pt x="4268703" y="1957730"/>
                    <a:pt x="4266911" y="1959521"/>
                  </a:cubicBezTo>
                  <a:cubicBezTo>
                    <a:pt x="4265120" y="1961312"/>
                    <a:pt x="4262691" y="1962318"/>
                    <a:pt x="4260158" y="1962318"/>
                  </a:cubicBezTo>
                  <a:lnTo>
                    <a:pt x="9551" y="1962318"/>
                  </a:lnTo>
                  <a:cubicBezTo>
                    <a:pt x="7018" y="1962318"/>
                    <a:pt x="4589" y="1961312"/>
                    <a:pt x="2797" y="1959521"/>
                  </a:cubicBezTo>
                  <a:cubicBezTo>
                    <a:pt x="1006" y="1957730"/>
                    <a:pt x="0" y="1955300"/>
                    <a:pt x="0" y="1952767"/>
                  </a:cubicBezTo>
                  <a:lnTo>
                    <a:pt x="0" y="9551"/>
                  </a:lnTo>
                  <a:cubicBezTo>
                    <a:pt x="0" y="7018"/>
                    <a:pt x="1006" y="4589"/>
                    <a:pt x="2797" y="2797"/>
                  </a:cubicBezTo>
                  <a:cubicBezTo>
                    <a:pt x="4589" y="1006"/>
                    <a:pt x="7018" y="0"/>
                    <a:pt x="95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g34e555ac9a0_0_28"/>
            <p:cNvSpPr txBox="1"/>
            <p:nvPr/>
          </p:nvSpPr>
          <p:spPr>
            <a:xfrm>
              <a:off x="0" y="-38100"/>
              <a:ext cx="4269600" cy="20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3" name="Google Shape;183;g34e555ac9a0_0_28"/>
          <p:cNvSpPr txBox="1"/>
          <p:nvPr/>
        </p:nvSpPr>
        <p:spPr>
          <a:xfrm>
            <a:off x="2043300" y="962025"/>
            <a:ext cx="6921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METODOLOGIAS ÁGEIS</a:t>
            </a:r>
            <a:endParaRPr sz="2000" b="1">
              <a:solidFill>
                <a:srgbClr val="D9383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4" name="Google Shape;184;g34e555ac9a0_0_28"/>
          <p:cNvSpPr/>
          <p:nvPr/>
        </p:nvSpPr>
        <p:spPr>
          <a:xfrm>
            <a:off x="14702148" y="624310"/>
            <a:ext cx="3018346" cy="768717"/>
          </a:xfrm>
          <a:custGeom>
            <a:avLst/>
            <a:gdLst/>
            <a:ahLst/>
            <a:cxnLst/>
            <a:rect l="l" t="t" r="r" b="b"/>
            <a:pathLst>
              <a:path w="3018346" h="768717" extrusionOk="0">
                <a:moveTo>
                  <a:pt x="0" y="0"/>
                </a:moveTo>
                <a:lnTo>
                  <a:pt x="3018346" y="0"/>
                </a:lnTo>
                <a:lnTo>
                  <a:pt x="3018346" y="768717"/>
                </a:lnTo>
                <a:lnTo>
                  <a:pt x="0" y="7687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g34e555ac9a0_0_28"/>
          <p:cNvSpPr txBox="1"/>
          <p:nvPr/>
        </p:nvSpPr>
        <p:spPr>
          <a:xfrm>
            <a:off x="2043300" y="1189050"/>
            <a:ext cx="156771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KANBAN:</a:t>
            </a:r>
            <a:endParaRPr sz="6000" b="1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Estrutura do Quadro</a:t>
            </a:r>
            <a:endParaRPr sz="6000" b="1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6" name="Google Shape;186;g34e555ac9a0_0_28"/>
          <p:cNvSpPr txBox="1"/>
          <p:nvPr/>
        </p:nvSpPr>
        <p:spPr>
          <a:xfrm>
            <a:off x="1685075" y="3465953"/>
            <a:ext cx="14443800" cy="74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Colunas: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Backlog, Em Progresso, Teste, Concluído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87" name="Google Shape;187;g34e555ac9a0_0_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41052" y="5243827"/>
            <a:ext cx="15759761" cy="1847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4e555ac9a0_0_44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g34e555ac9a0_0_44"/>
          <p:cNvSpPr/>
          <p:nvPr/>
        </p:nvSpPr>
        <p:spPr>
          <a:xfrm>
            <a:off x="0" y="0"/>
            <a:ext cx="18288000" cy="6217920"/>
          </a:xfrm>
          <a:custGeom>
            <a:avLst/>
            <a:gdLst/>
            <a:ahLst/>
            <a:cxnLst/>
            <a:rect l="l" t="t" r="r" b="b"/>
            <a:pathLst>
              <a:path w="18288000" h="6217920" extrusionOk="0">
                <a:moveTo>
                  <a:pt x="0" y="0"/>
                </a:moveTo>
                <a:lnTo>
                  <a:pt x="18288000" y="0"/>
                </a:lnTo>
                <a:lnTo>
                  <a:pt x="18288000" y="6217920"/>
                </a:lnTo>
                <a:lnTo>
                  <a:pt x="0" y="62179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4" name="Google Shape;194;g34e555ac9a0_0_44"/>
          <p:cNvCxnSpPr/>
          <p:nvPr/>
        </p:nvCxnSpPr>
        <p:spPr>
          <a:xfrm rot="10800000" flipH="1">
            <a:off x="1068398" y="16195"/>
            <a:ext cx="16500" cy="2135700"/>
          </a:xfrm>
          <a:prstGeom prst="straightConnector1">
            <a:avLst/>
          </a:prstGeom>
          <a:noFill/>
          <a:ln w="38100" cap="flat" cmpd="sng">
            <a:solidFill>
              <a:srgbClr val="D9383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95" name="Google Shape;195;g34e555ac9a0_0_44"/>
          <p:cNvGrpSpPr/>
          <p:nvPr/>
        </p:nvGrpSpPr>
        <p:grpSpPr>
          <a:xfrm>
            <a:off x="1084900" y="2880349"/>
            <a:ext cx="16211658" cy="7299925"/>
            <a:chOff x="0" y="-38100"/>
            <a:chExt cx="4269709" cy="2000418"/>
          </a:xfrm>
        </p:grpSpPr>
        <p:sp>
          <p:nvSpPr>
            <p:cNvPr id="196" name="Google Shape;196;g34e555ac9a0_0_44"/>
            <p:cNvSpPr/>
            <p:nvPr/>
          </p:nvSpPr>
          <p:spPr>
            <a:xfrm>
              <a:off x="0" y="0"/>
              <a:ext cx="4269709" cy="1962318"/>
            </a:xfrm>
            <a:custGeom>
              <a:avLst/>
              <a:gdLst/>
              <a:ahLst/>
              <a:cxnLst/>
              <a:rect l="l" t="t" r="r" b="b"/>
              <a:pathLst>
                <a:path w="4269709" h="1962318" extrusionOk="0">
                  <a:moveTo>
                    <a:pt x="9551" y="0"/>
                  </a:moveTo>
                  <a:lnTo>
                    <a:pt x="4260158" y="0"/>
                  </a:lnTo>
                  <a:cubicBezTo>
                    <a:pt x="4262691" y="0"/>
                    <a:pt x="4265120" y="1006"/>
                    <a:pt x="4266911" y="2797"/>
                  </a:cubicBezTo>
                  <a:cubicBezTo>
                    <a:pt x="4268703" y="4589"/>
                    <a:pt x="4269709" y="7018"/>
                    <a:pt x="4269709" y="9551"/>
                  </a:cubicBezTo>
                  <a:lnTo>
                    <a:pt x="4269709" y="1952767"/>
                  </a:lnTo>
                  <a:cubicBezTo>
                    <a:pt x="4269709" y="1955300"/>
                    <a:pt x="4268703" y="1957730"/>
                    <a:pt x="4266911" y="1959521"/>
                  </a:cubicBezTo>
                  <a:cubicBezTo>
                    <a:pt x="4265120" y="1961312"/>
                    <a:pt x="4262691" y="1962318"/>
                    <a:pt x="4260158" y="1962318"/>
                  </a:cubicBezTo>
                  <a:lnTo>
                    <a:pt x="9551" y="1962318"/>
                  </a:lnTo>
                  <a:cubicBezTo>
                    <a:pt x="7018" y="1962318"/>
                    <a:pt x="4589" y="1961312"/>
                    <a:pt x="2797" y="1959521"/>
                  </a:cubicBezTo>
                  <a:cubicBezTo>
                    <a:pt x="1006" y="1957730"/>
                    <a:pt x="0" y="1955300"/>
                    <a:pt x="0" y="1952767"/>
                  </a:cubicBezTo>
                  <a:lnTo>
                    <a:pt x="0" y="9551"/>
                  </a:lnTo>
                  <a:cubicBezTo>
                    <a:pt x="0" y="7018"/>
                    <a:pt x="1006" y="4589"/>
                    <a:pt x="2797" y="2797"/>
                  </a:cubicBezTo>
                  <a:cubicBezTo>
                    <a:pt x="4589" y="1006"/>
                    <a:pt x="7018" y="0"/>
                    <a:pt x="95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" name="Google Shape;197;g34e555ac9a0_0_44"/>
            <p:cNvSpPr txBox="1"/>
            <p:nvPr/>
          </p:nvSpPr>
          <p:spPr>
            <a:xfrm>
              <a:off x="0" y="-38100"/>
              <a:ext cx="4269600" cy="20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8" name="Google Shape;198;g34e555ac9a0_0_44"/>
          <p:cNvSpPr txBox="1"/>
          <p:nvPr/>
        </p:nvSpPr>
        <p:spPr>
          <a:xfrm>
            <a:off x="2043300" y="962025"/>
            <a:ext cx="6921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METODOLOGIAS ÁGEIS</a:t>
            </a:r>
            <a:endParaRPr sz="2000" b="1">
              <a:solidFill>
                <a:srgbClr val="D9383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9" name="Google Shape;199;g34e555ac9a0_0_44"/>
          <p:cNvSpPr/>
          <p:nvPr/>
        </p:nvSpPr>
        <p:spPr>
          <a:xfrm>
            <a:off x="14702148" y="624310"/>
            <a:ext cx="3018346" cy="768717"/>
          </a:xfrm>
          <a:custGeom>
            <a:avLst/>
            <a:gdLst/>
            <a:ahLst/>
            <a:cxnLst/>
            <a:rect l="l" t="t" r="r" b="b"/>
            <a:pathLst>
              <a:path w="3018346" h="768717" extrusionOk="0">
                <a:moveTo>
                  <a:pt x="0" y="0"/>
                </a:moveTo>
                <a:lnTo>
                  <a:pt x="3018346" y="0"/>
                </a:lnTo>
                <a:lnTo>
                  <a:pt x="3018346" y="768717"/>
                </a:lnTo>
                <a:lnTo>
                  <a:pt x="0" y="7687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g34e555ac9a0_0_44"/>
          <p:cNvSpPr txBox="1"/>
          <p:nvPr/>
        </p:nvSpPr>
        <p:spPr>
          <a:xfrm>
            <a:off x="2043300" y="1189050"/>
            <a:ext cx="156771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KANBAN:</a:t>
            </a:r>
            <a:endParaRPr sz="6000" b="1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Estrutura do Quadro</a:t>
            </a:r>
            <a:endParaRPr sz="6000" b="1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01" name="Google Shape;201;g34e555ac9a0_0_44"/>
          <p:cNvSpPr txBox="1"/>
          <p:nvPr/>
        </p:nvSpPr>
        <p:spPr>
          <a:xfrm>
            <a:off x="1685075" y="3465953"/>
            <a:ext cx="14443800" cy="80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Cartões: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tarefas com prazos e responsáveis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02" name="Google Shape;202;g34e555ac9a0_0_4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43675" y="3967080"/>
            <a:ext cx="9926588" cy="5948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4e555ac9a0_0_61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g34e555ac9a0_0_61"/>
          <p:cNvSpPr/>
          <p:nvPr/>
        </p:nvSpPr>
        <p:spPr>
          <a:xfrm>
            <a:off x="0" y="0"/>
            <a:ext cx="18288000" cy="6217920"/>
          </a:xfrm>
          <a:custGeom>
            <a:avLst/>
            <a:gdLst/>
            <a:ahLst/>
            <a:cxnLst/>
            <a:rect l="l" t="t" r="r" b="b"/>
            <a:pathLst>
              <a:path w="18288000" h="6217920" extrusionOk="0">
                <a:moveTo>
                  <a:pt x="0" y="0"/>
                </a:moveTo>
                <a:lnTo>
                  <a:pt x="18288000" y="0"/>
                </a:lnTo>
                <a:lnTo>
                  <a:pt x="18288000" y="6217920"/>
                </a:lnTo>
                <a:lnTo>
                  <a:pt x="0" y="62179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9" name="Google Shape;209;g34e555ac9a0_0_61"/>
          <p:cNvCxnSpPr/>
          <p:nvPr/>
        </p:nvCxnSpPr>
        <p:spPr>
          <a:xfrm rot="10800000" flipH="1">
            <a:off x="1068398" y="16195"/>
            <a:ext cx="16500" cy="2135700"/>
          </a:xfrm>
          <a:prstGeom prst="straightConnector1">
            <a:avLst/>
          </a:prstGeom>
          <a:noFill/>
          <a:ln w="38100" cap="flat" cmpd="sng">
            <a:solidFill>
              <a:srgbClr val="D9383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10" name="Google Shape;210;g34e555ac9a0_0_61"/>
          <p:cNvGrpSpPr/>
          <p:nvPr/>
        </p:nvGrpSpPr>
        <p:grpSpPr>
          <a:xfrm>
            <a:off x="1084900" y="2880349"/>
            <a:ext cx="16211658" cy="7299925"/>
            <a:chOff x="0" y="-38100"/>
            <a:chExt cx="4269709" cy="2000418"/>
          </a:xfrm>
        </p:grpSpPr>
        <p:sp>
          <p:nvSpPr>
            <p:cNvPr id="211" name="Google Shape;211;g34e555ac9a0_0_61"/>
            <p:cNvSpPr/>
            <p:nvPr/>
          </p:nvSpPr>
          <p:spPr>
            <a:xfrm>
              <a:off x="0" y="0"/>
              <a:ext cx="4269709" cy="1962318"/>
            </a:xfrm>
            <a:custGeom>
              <a:avLst/>
              <a:gdLst/>
              <a:ahLst/>
              <a:cxnLst/>
              <a:rect l="l" t="t" r="r" b="b"/>
              <a:pathLst>
                <a:path w="4269709" h="1962318" extrusionOk="0">
                  <a:moveTo>
                    <a:pt x="9551" y="0"/>
                  </a:moveTo>
                  <a:lnTo>
                    <a:pt x="4260158" y="0"/>
                  </a:lnTo>
                  <a:cubicBezTo>
                    <a:pt x="4262691" y="0"/>
                    <a:pt x="4265120" y="1006"/>
                    <a:pt x="4266911" y="2797"/>
                  </a:cubicBezTo>
                  <a:cubicBezTo>
                    <a:pt x="4268703" y="4589"/>
                    <a:pt x="4269709" y="7018"/>
                    <a:pt x="4269709" y="9551"/>
                  </a:cubicBezTo>
                  <a:lnTo>
                    <a:pt x="4269709" y="1952767"/>
                  </a:lnTo>
                  <a:cubicBezTo>
                    <a:pt x="4269709" y="1955300"/>
                    <a:pt x="4268703" y="1957730"/>
                    <a:pt x="4266911" y="1959521"/>
                  </a:cubicBezTo>
                  <a:cubicBezTo>
                    <a:pt x="4265120" y="1961312"/>
                    <a:pt x="4262691" y="1962318"/>
                    <a:pt x="4260158" y="1962318"/>
                  </a:cubicBezTo>
                  <a:lnTo>
                    <a:pt x="9551" y="1962318"/>
                  </a:lnTo>
                  <a:cubicBezTo>
                    <a:pt x="7018" y="1962318"/>
                    <a:pt x="4589" y="1961312"/>
                    <a:pt x="2797" y="1959521"/>
                  </a:cubicBezTo>
                  <a:cubicBezTo>
                    <a:pt x="1006" y="1957730"/>
                    <a:pt x="0" y="1955300"/>
                    <a:pt x="0" y="1952767"/>
                  </a:cubicBezTo>
                  <a:lnTo>
                    <a:pt x="0" y="9551"/>
                  </a:lnTo>
                  <a:cubicBezTo>
                    <a:pt x="0" y="7018"/>
                    <a:pt x="1006" y="4589"/>
                    <a:pt x="2797" y="2797"/>
                  </a:cubicBezTo>
                  <a:cubicBezTo>
                    <a:pt x="4589" y="1006"/>
                    <a:pt x="7018" y="0"/>
                    <a:pt x="95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g34e555ac9a0_0_61"/>
            <p:cNvSpPr txBox="1"/>
            <p:nvPr/>
          </p:nvSpPr>
          <p:spPr>
            <a:xfrm>
              <a:off x="0" y="-38100"/>
              <a:ext cx="4269600" cy="20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3" name="Google Shape;213;g34e555ac9a0_0_61"/>
          <p:cNvSpPr txBox="1"/>
          <p:nvPr/>
        </p:nvSpPr>
        <p:spPr>
          <a:xfrm>
            <a:off x="2043300" y="962025"/>
            <a:ext cx="6921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METODOLOGIAS ÁGEIS</a:t>
            </a:r>
            <a:endParaRPr sz="2000" b="1">
              <a:solidFill>
                <a:srgbClr val="D9383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4" name="Google Shape;214;g34e555ac9a0_0_61"/>
          <p:cNvSpPr/>
          <p:nvPr/>
        </p:nvSpPr>
        <p:spPr>
          <a:xfrm>
            <a:off x="14702148" y="624310"/>
            <a:ext cx="3018346" cy="768717"/>
          </a:xfrm>
          <a:custGeom>
            <a:avLst/>
            <a:gdLst/>
            <a:ahLst/>
            <a:cxnLst/>
            <a:rect l="l" t="t" r="r" b="b"/>
            <a:pathLst>
              <a:path w="3018346" h="768717" extrusionOk="0">
                <a:moveTo>
                  <a:pt x="0" y="0"/>
                </a:moveTo>
                <a:lnTo>
                  <a:pt x="3018346" y="0"/>
                </a:lnTo>
                <a:lnTo>
                  <a:pt x="3018346" y="768717"/>
                </a:lnTo>
                <a:lnTo>
                  <a:pt x="0" y="7687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g34e555ac9a0_0_61"/>
          <p:cNvSpPr txBox="1"/>
          <p:nvPr/>
        </p:nvSpPr>
        <p:spPr>
          <a:xfrm>
            <a:off x="2043300" y="1189050"/>
            <a:ext cx="156771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KANBAN:</a:t>
            </a:r>
            <a:endParaRPr sz="6000" b="1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Estrutura do Quadro</a:t>
            </a:r>
            <a:endParaRPr sz="6000" b="1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6" name="Google Shape;216;g34e555ac9a0_0_61"/>
          <p:cNvSpPr txBox="1"/>
          <p:nvPr/>
        </p:nvSpPr>
        <p:spPr>
          <a:xfrm>
            <a:off x="1685075" y="3465953"/>
            <a:ext cx="14443800" cy="85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Limites de WIP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evitam sobrecarga e identificam gargalos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17" name="Google Shape;217;g34e555ac9a0_0_6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85075" y="4115800"/>
            <a:ext cx="14924825" cy="553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4e555ac9a0_0_7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g34e555ac9a0_0_76"/>
          <p:cNvSpPr/>
          <p:nvPr/>
        </p:nvSpPr>
        <p:spPr>
          <a:xfrm>
            <a:off x="0" y="0"/>
            <a:ext cx="18288000" cy="6217920"/>
          </a:xfrm>
          <a:custGeom>
            <a:avLst/>
            <a:gdLst/>
            <a:ahLst/>
            <a:cxnLst/>
            <a:rect l="l" t="t" r="r" b="b"/>
            <a:pathLst>
              <a:path w="18288000" h="6217920" extrusionOk="0">
                <a:moveTo>
                  <a:pt x="0" y="0"/>
                </a:moveTo>
                <a:lnTo>
                  <a:pt x="18288000" y="0"/>
                </a:lnTo>
                <a:lnTo>
                  <a:pt x="18288000" y="6217920"/>
                </a:lnTo>
                <a:lnTo>
                  <a:pt x="0" y="62179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4" name="Google Shape;224;g34e555ac9a0_0_76"/>
          <p:cNvCxnSpPr/>
          <p:nvPr/>
        </p:nvCxnSpPr>
        <p:spPr>
          <a:xfrm rot="10800000" flipH="1">
            <a:off x="1068398" y="16195"/>
            <a:ext cx="16500" cy="2135700"/>
          </a:xfrm>
          <a:prstGeom prst="straightConnector1">
            <a:avLst/>
          </a:prstGeom>
          <a:noFill/>
          <a:ln w="38100" cap="flat" cmpd="sng">
            <a:solidFill>
              <a:srgbClr val="D9383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25" name="Google Shape;225;g34e555ac9a0_0_76"/>
          <p:cNvGrpSpPr/>
          <p:nvPr/>
        </p:nvGrpSpPr>
        <p:grpSpPr>
          <a:xfrm>
            <a:off x="1084900" y="2880349"/>
            <a:ext cx="16211658" cy="7299925"/>
            <a:chOff x="0" y="-38100"/>
            <a:chExt cx="4269709" cy="2000418"/>
          </a:xfrm>
        </p:grpSpPr>
        <p:sp>
          <p:nvSpPr>
            <p:cNvPr id="226" name="Google Shape;226;g34e555ac9a0_0_76"/>
            <p:cNvSpPr/>
            <p:nvPr/>
          </p:nvSpPr>
          <p:spPr>
            <a:xfrm>
              <a:off x="0" y="0"/>
              <a:ext cx="4269709" cy="1962318"/>
            </a:xfrm>
            <a:custGeom>
              <a:avLst/>
              <a:gdLst/>
              <a:ahLst/>
              <a:cxnLst/>
              <a:rect l="l" t="t" r="r" b="b"/>
              <a:pathLst>
                <a:path w="4269709" h="1962318" extrusionOk="0">
                  <a:moveTo>
                    <a:pt x="9551" y="0"/>
                  </a:moveTo>
                  <a:lnTo>
                    <a:pt x="4260158" y="0"/>
                  </a:lnTo>
                  <a:cubicBezTo>
                    <a:pt x="4262691" y="0"/>
                    <a:pt x="4265120" y="1006"/>
                    <a:pt x="4266911" y="2797"/>
                  </a:cubicBezTo>
                  <a:cubicBezTo>
                    <a:pt x="4268703" y="4589"/>
                    <a:pt x="4269709" y="7018"/>
                    <a:pt x="4269709" y="9551"/>
                  </a:cubicBezTo>
                  <a:lnTo>
                    <a:pt x="4269709" y="1952767"/>
                  </a:lnTo>
                  <a:cubicBezTo>
                    <a:pt x="4269709" y="1955300"/>
                    <a:pt x="4268703" y="1957730"/>
                    <a:pt x="4266911" y="1959521"/>
                  </a:cubicBezTo>
                  <a:cubicBezTo>
                    <a:pt x="4265120" y="1961312"/>
                    <a:pt x="4262691" y="1962318"/>
                    <a:pt x="4260158" y="1962318"/>
                  </a:cubicBezTo>
                  <a:lnTo>
                    <a:pt x="9551" y="1962318"/>
                  </a:lnTo>
                  <a:cubicBezTo>
                    <a:pt x="7018" y="1962318"/>
                    <a:pt x="4589" y="1961312"/>
                    <a:pt x="2797" y="1959521"/>
                  </a:cubicBezTo>
                  <a:cubicBezTo>
                    <a:pt x="1006" y="1957730"/>
                    <a:pt x="0" y="1955300"/>
                    <a:pt x="0" y="1952767"/>
                  </a:cubicBezTo>
                  <a:lnTo>
                    <a:pt x="0" y="9551"/>
                  </a:lnTo>
                  <a:cubicBezTo>
                    <a:pt x="0" y="7018"/>
                    <a:pt x="1006" y="4589"/>
                    <a:pt x="2797" y="2797"/>
                  </a:cubicBezTo>
                  <a:cubicBezTo>
                    <a:pt x="4589" y="1006"/>
                    <a:pt x="7018" y="0"/>
                    <a:pt x="95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7" name="Google Shape;227;g34e555ac9a0_0_76"/>
            <p:cNvSpPr txBox="1"/>
            <p:nvPr/>
          </p:nvSpPr>
          <p:spPr>
            <a:xfrm>
              <a:off x="0" y="-38100"/>
              <a:ext cx="4269600" cy="20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8" name="Google Shape;228;g34e555ac9a0_0_76"/>
          <p:cNvSpPr txBox="1"/>
          <p:nvPr/>
        </p:nvSpPr>
        <p:spPr>
          <a:xfrm>
            <a:off x="2043300" y="962025"/>
            <a:ext cx="6921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METODOLOGIAS ÁGEIS</a:t>
            </a:r>
            <a:endParaRPr sz="2000" b="1">
              <a:solidFill>
                <a:srgbClr val="D9383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29" name="Google Shape;229;g34e555ac9a0_0_76"/>
          <p:cNvSpPr/>
          <p:nvPr/>
        </p:nvSpPr>
        <p:spPr>
          <a:xfrm>
            <a:off x="14702148" y="624310"/>
            <a:ext cx="3018346" cy="768717"/>
          </a:xfrm>
          <a:custGeom>
            <a:avLst/>
            <a:gdLst/>
            <a:ahLst/>
            <a:cxnLst/>
            <a:rect l="l" t="t" r="r" b="b"/>
            <a:pathLst>
              <a:path w="3018346" h="768717" extrusionOk="0">
                <a:moveTo>
                  <a:pt x="0" y="0"/>
                </a:moveTo>
                <a:lnTo>
                  <a:pt x="3018346" y="0"/>
                </a:lnTo>
                <a:lnTo>
                  <a:pt x="3018346" y="768717"/>
                </a:lnTo>
                <a:lnTo>
                  <a:pt x="0" y="7687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g34e555ac9a0_0_76"/>
          <p:cNvSpPr txBox="1"/>
          <p:nvPr/>
        </p:nvSpPr>
        <p:spPr>
          <a:xfrm>
            <a:off x="2043300" y="1189050"/>
            <a:ext cx="156771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KANBAN:</a:t>
            </a:r>
            <a:endParaRPr sz="6000" b="1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Gestão e Melhoria Contínua</a:t>
            </a:r>
            <a:endParaRPr sz="6000" b="1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1" name="Google Shape;231;g34e555ac9a0_0_76"/>
          <p:cNvSpPr txBox="1"/>
          <p:nvPr/>
        </p:nvSpPr>
        <p:spPr>
          <a:xfrm>
            <a:off x="1685075" y="3465953"/>
            <a:ext cx="14443800" cy="116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Reuniões rápidas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de alinhamento (stand-ups)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Métricas: 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914400" lvl="1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○"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Lead Time (Tempo Total de Entrega) 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914400" lvl="1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○"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Cycle Time (Tempo de Ciclo)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Char char="●"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Feedback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constante e análise de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gargalos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4e555ac9a0_0_118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g34e555ac9a0_0_118"/>
          <p:cNvSpPr/>
          <p:nvPr/>
        </p:nvSpPr>
        <p:spPr>
          <a:xfrm>
            <a:off x="0" y="0"/>
            <a:ext cx="18288000" cy="6217920"/>
          </a:xfrm>
          <a:custGeom>
            <a:avLst/>
            <a:gdLst/>
            <a:ahLst/>
            <a:cxnLst/>
            <a:rect l="l" t="t" r="r" b="b"/>
            <a:pathLst>
              <a:path w="18288000" h="6217920" extrusionOk="0">
                <a:moveTo>
                  <a:pt x="0" y="0"/>
                </a:moveTo>
                <a:lnTo>
                  <a:pt x="18288000" y="0"/>
                </a:lnTo>
                <a:lnTo>
                  <a:pt x="18288000" y="6217920"/>
                </a:lnTo>
                <a:lnTo>
                  <a:pt x="0" y="62179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8" name="Google Shape;238;g34e555ac9a0_0_118"/>
          <p:cNvCxnSpPr/>
          <p:nvPr/>
        </p:nvCxnSpPr>
        <p:spPr>
          <a:xfrm rot="10800000" flipH="1">
            <a:off x="1068398" y="16195"/>
            <a:ext cx="16500" cy="2135700"/>
          </a:xfrm>
          <a:prstGeom prst="straightConnector1">
            <a:avLst/>
          </a:prstGeom>
          <a:noFill/>
          <a:ln w="38100" cap="flat" cmpd="sng">
            <a:solidFill>
              <a:srgbClr val="D9383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39" name="Google Shape;239;g34e555ac9a0_0_118"/>
          <p:cNvGrpSpPr/>
          <p:nvPr/>
        </p:nvGrpSpPr>
        <p:grpSpPr>
          <a:xfrm>
            <a:off x="1084900" y="2880349"/>
            <a:ext cx="16211658" cy="7299925"/>
            <a:chOff x="0" y="-38100"/>
            <a:chExt cx="4269709" cy="2000418"/>
          </a:xfrm>
        </p:grpSpPr>
        <p:sp>
          <p:nvSpPr>
            <p:cNvPr id="240" name="Google Shape;240;g34e555ac9a0_0_118"/>
            <p:cNvSpPr/>
            <p:nvPr/>
          </p:nvSpPr>
          <p:spPr>
            <a:xfrm>
              <a:off x="0" y="0"/>
              <a:ext cx="4269709" cy="1962318"/>
            </a:xfrm>
            <a:custGeom>
              <a:avLst/>
              <a:gdLst/>
              <a:ahLst/>
              <a:cxnLst/>
              <a:rect l="l" t="t" r="r" b="b"/>
              <a:pathLst>
                <a:path w="4269709" h="1962318" extrusionOk="0">
                  <a:moveTo>
                    <a:pt x="9551" y="0"/>
                  </a:moveTo>
                  <a:lnTo>
                    <a:pt x="4260158" y="0"/>
                  </a:lnTo>
                  <a:cubicBezTo>
                    <a:pt x="4262691" y="0"/>
                    <a:pt x="4265120" y="1006"/>
                    <a:pt x="4266911" y="2797"/>
                  </a:cubicBezTo>
                  <a:cubicBezTo>
                    <a:pt x="4268703" y="4589"/>
                    <a:pt x="4269709" y="7018"/>
                    <a:pt x="4269709" y="9551"/>
                  </a:cubicBezTo>
                  <a:lnTo>
                    <a:pt x="4269709" y="1952767"/>
                  </a:lnTo>
                  <a:cubicBezTo>
                    <a:pt x="4269709" y="1955300"/>
                    <a:pt x="4268703" y="1957730"/>
                    <a:pt x="4266911" y="1959521"/>
                  </a:cubicBezTo>
                  <a:cubicBezTo>
                    <a:pt x="4265120" y="1961312"/>
                    <a:pt x="4262691" y="1962318"/>
                    <a:pt x="4260158" y="1962318"/>
                  </a:cubicBezTo>
                  <a:lnTo>
                    <a:pt x="9551" y="1962318"/>
                  </a:lnTo>
                  <a:cubicBezTo>
                    <a:pt x="7018" y="1962318"/>
                    <a:pt x="4589" y="1961312"/>
                    <a:pt x="2797" y="1959521"/>
                  </a:cubicBezTo>
                  <a:cubicBezTo>
                    <a:pt x="1006" y="1957730"/>
                    <a:pt x="0" y="1955300"/>
                    <a:pt x="0" y="1952767"/>
                  </a:cubicBezTo>
                  <a:lnTo>
                    <a:pt x="0" y="9551"/>
                  </a:lnTo>
                  <a:cubicBezTo>
                    <a:pt x="0" y="7018"/>
                    <a:pt x="1006" y="4589"/>
                    <a:pt x="2797" y="2797"/>
                  </a:cubicBezTo>
                  <a:cubicBezTo>
                    <a:pt x="4589" y="1006"/>
                    <a:pt x="7018" y="0"/>
                    <a:pt x="95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1" name="Google Shape;241;g34e555ac9a0_0_118"/>
            <p:cNvSpPr txBox="1"/>
            <p:nvPr/>
          </p:nvSpPr>
          <p:spPr>
            <a:xfrm>
              <a:off x="0" y="-38100"/>
              <a:ext cx="4269600" cy="20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2" name="Google Shape;242;g34e555ac9a0_0_118"/>
          <p:cNvSpPr txBox="1"/>
          <p:nvPr/>
        </p:nvSpPr>
        <p:spPr>
          <a:xfrm>
            <a:off x="2043300" y="962025"/>
            <a:ext cx="6921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METODOLOGIAS ÁGEIS</a:t>
            </a:r>
            <a:endParaRPr sz="2000" b="1">
              <a:solidFill>
                <a:srgbClr val="D9383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3" name="Google Shape;243;g34e555ac9a0_0_118"/>
          <p:cNvSpPr/>
          <p:nvPr/>
        </p:nvSpPr>
        <p:spPr>
          <a:xfrm>
            <a:off x="14702148" y="624310"/>
            <a:ext cx="3018346" cy="768717"/>
          </a:xfrm>
          <a:custGeom>
            <a:avLst/>
            <a:gdLst/>
            <a:ahLst/>
            <a:cxnLst/>
            <a:rect l="l" t="t" r="r" b="b"/>
            <a:pathLst>
              <a:path w="3018346" h="768717" extrusionOk="0">
                <a:moveTo>
                  <a:pt x="0" y="0"/>
                </a:moveTo>
                <a:lnTo>
                  <a:pt x="3018346" y="0"/>
                </a:lnTo>
                <a:lnTo>
                  <a:pt x="3018346" y="768717"/>
                </a:lnTo>
                <a:lnTo>
                  <a:pt x="0" y="7687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g34e555ac9a0_0_118"/>
          <p:cNvSpPr txBox="1"/>
          <p:nvPr/>
        </p:nvSpPr>
        <p:spPr>
          <a:xfrm>
            <a:off x="2043300" y="1189050"/>
            <a:ext cx="156771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KANBAN:</a:t>
            </a:r>
            <a:endParaRPr sz="6000" b="1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Etapas</a:t>
            </a:r>
            <a:endParaRPr sz="6000" b="1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5" name="Google Shape;245;g34e555ac9a0_0_118"/>
          <p:cNvSpPr txBox="1"/>
          <p:nvPr/>
        </p:nvSpPr>
        <p:spPr>
          <a:xfrm>
            <a:off x="1685075" y="3465953"/>
            <a:ext cx="14443800" cy="1391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1. Listagem de Tarefas (Cartões):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Cada atividade vira um cartão, com nome, responsável e prazo.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2. Priorização: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Definir o que é mais urgente.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3. Mapeamento do Fluxo de Trabalho: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Colunas como “A Fazer”, “Em Progresso”, “Teste”, “Concluído”.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4. Limites de WIP (Work In Progress - Trabalho em Andamento):</a:t>
            </a: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Define quantas tarefas podem estar em execução ao mesmo tempo para evitar gargalos.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4e555ac9a0_0_105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g34e555ac9a0_0_105"/>
          <p:cNvSpPr/>
          <p:nvPr/>
        </p:nvSpPr>
        <p:spPr>
          <a:xfrm>
            <a:off x="0" y="0"/>
            <a:ext cx="18288000" cy="6217920"/>
          </a:xfrm>
          <a:custGeom>
            <a:avLst/>
            <a:gdLst/>
            <a:ahLst/>
            <a:cxnLst/>
            <a:rect l="l" t="t" r="r" b="b"/>
            <a:pathLst>
              <a:path w="18288000" h="6217920" extrusionOk="0">
                <a:moveTo>
                  <a:pt x="0" y="0"/>
                </a:moveTo>
                <a:lnTo>
                  <a:pt x="18288000" y="0"/>
                </a:lnTo>
                <a:lnTo>
                  <a:pt x="18288000" y="6217920"/>
                </a:lnTo>
                <a:lnTo>
                  <a:pt x="0" y="62179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2" name="Google Shape;252;g34e555ac9a0_0_105"/>
          <p:cNvCxnSpPr/>
          <p:nvPr/>
        </p:nvCxnSpPr>
        <p:spPr>
          <a:xfrm rot="10800000" flipH="1">
            <a:off x="1068398" y="16195"/>
            <a:ext cx="16500" cy="2135700"/>
          </a:xfrm>
          <a:prstGeom prst="straightConnector1">
            <a:avLst/>
          </a:prstGeom>
          <a:noFill/>
          <a:ln w="38100" cap="flat" cmpd="sng">
            <a:solidFill>
              <a:srgbClr val="D9383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53" name="Google Shape;253;g34e555ac9a0_0_105"/>
          <p:cNvGrpSpPr/>
          <p:nvPr/>
        </p:nvGrpSpPr>
        <p:grpSpPr>
          <a:xfrm>
            <a:off x="1038175" y="2946624"/>
            <a:ext cx="16211658" cy="7299925"/>
            <a:chOff x="0" y="-38100"/>
            <a:chExt cx="4269709" cy="2000418"/>
          </a:xfrm>
        </p:grpSpPr>
        <p:sp>
          <p:nvSpPr>
            <p:cNvPr id="254" name="Google Shape;254;g34e555ac9a0_0_105"/>
            <p:cNvSpPr/>
            <p:nvPr/>
          </p:nvSpPr>
          <p:spPr>
            <a:xfrm>
              <a:off x="0" y="0"/>
              <a:ext cx="4269709" cy="1962318"/>
            </a:xfrm>
            <a:custGeom>
              <a:avLst/>
              <a:gdLst/>
              <a:ahLst/>
              <a:cxnLst/>
              <a:rect l="l" t="t" r="r" b="b"/>
              <a:pathLst>
                <a:path w="4269709" h="1962318" extrusionOk="0">
                  <a:moveTo>
                    <a:pt x="9551" y="0"/>
                  </a:moveTo>
                  <a:lnTo>
                    <a:pt x="4260158" y="0"/>
                  </a:lnTo>
                  <a:cubicBezTo>
                    <a:pt x="4262691" y="0"/>
                    <a:pt x="4265120" y="1006"/>
                    <a:pt x="4266911" y="2797"/>
                  </a:cubicBezTo>
                  <a:cubicBezTo>
                    <a:pt x="4268703" y="4589"/>
                    <a:pt x="4269709" y="7018"/>
                    <a:pt x="4269709" y="9551"/>
                  </a:cubicBezTo>
                  <a:lnTo>
                    <a:pt x="4269709" y="1952767"/>
                  </a:lnTo>
                  <a:cubicBezTo>
                    <a:pt x="4269709" y="1955300"/>
                    <a:pt x="4268703" y="1957730"/>
                    <a:pt x="4266911" y="1959521"/>
                  </a:cubicBezTo>
                  <a:cubicBezTo>
                    <a:pt x="4265120" y="1961312"/>
                    <a:pt x="4262691" y="1962318"/>
                    <a:pt x="4260158" y="1962318"/>
                  </a:cubicBezTo>
                  <a:lnTo>
                    <a:pt x="9551" y="1962318"/>
                  </a:lnTo>
                  <a:cubicBezTo>
                    <a:pt x="7018" y="1962318"/>
                    <a:pt x="4589" y="1961312"/>
                    <a:pt x="2797" y="1959521"/>
                  </a:cubicBezTo>
                  <a:cubicBezTo>
                    <a:pt x="1006" y="1957730"/>
                    <a:pt x="0" y="1955300"/>
                    <a:pt x="0" y="1952767"/>
                  </a:cubicBezTo>
                  <a:lnTo>
                    <a:pt x="0" y="9551"/>
                  </a:lnTo>
                  <a:cubicBezTo>
                    <a:pt x="0" y="7018"/>
                    <a:pt x="1006" y="4589"/>
                    <a:pt x="2797" y="2797"/>
                  </a:cubicBezTo>
                  <a:cubicBezTo>
                    <a:pt x="4589" y="1006"/>
                    <a:pt x="7018" y="0"/>
                    <a:pt x="95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5" name="Google Shape;255;g34e555ac9a0_0_105"/>
            <p:cNvSpPr txBox="1"/>
            <p:nvPr/>
          </p:nvSpPr>
          <p:spPr>
            <a:xfrm>
              <a:off x="0" y="-38100"/>
              <a:ext cx="4269600" cy="20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6" name="Google Shape;256;g34e555ac9a0_0_105"/>
          <p:cNvSpPr txBox="1"/>
          <p:nvPr/>
        </p:nvSpPr>
        <p:spPr>
          <a:xfrm>
            <a:off x="2043300" y="962025"/>
            <a:ext cx="6921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METODOLOGIAS ÁGEIS</a:t>
            </a:r>
            <a:endParaRPr sz="2000" b="1">
              <a:solidFill>
                <a:srgbClr val="D9383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7" name="Google Shape;257;g34e555ac9a0_0_105"/>
          <p:cNvSpPr/>
          <p:nvPr/>
        </p:nvSpPr>
        <p:spPr>
          <a:xfrm>
            <a:off x="14702148" y="624310"/>
            <a:ext cx="3018346" cy="768717"/>
          </a:xfrm>
          <a:custGeom>
            <a:avLst/>
            <a:gdLst/>
            <a:ahLst/>
            <a:cxnLst/>
            <a:rect l="l" t="t" r="r" b="b"/>
            <a:pathLst>
              <a:path w="3018346" h="768717" extrusionOk="0">
                <a:moveTo>
                  <a:pt x="0" y="0"/>
                </a:moveTo>
                <a:lnTo>
                  <a:pt x="3018346" y="0"/>
                </a:lnTo>
                <a:lnTo>
                  <a:pt x="3018346" y="768717"/>
                </a:lnTo>
                <a:lnTo>
                  <a:pt x="0" y="7687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g34e555ac9a0_0_105"/>
          <p:cNvSpPr txBox="1"/>
          <p:nvPr/>
        </p:nvSpPr>
        <p:spPr>
          <a:xfrm>
            <a:off x="2043300" y="1189050"/>
            <a:ext cx="156771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RESUMO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g34e555ac9a0_0_105"/>
          <p:cNvSpPr txBox="1"/>
          <p:nvPr/>
        </p:nvSpPr>
        <p:spPr>
          <a:xfrm>
            <a:off x="1685075" y="3465953"/>
            <a:ext cx="14443800" cy="68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✅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Scrum: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Sprints curtos, entregas incrementais, papéis definidos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✅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Kanban: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Fluxo contínuo e visual com foco em eficiência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✅ </a:t>
            </a:r>
            <a:r>
              <a:rPr lang="en-US"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Ambas: 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Promovem agilidade, colaboração e melhoria contínua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4bdf5f76db_1_0"/>
          <p:cNvSpPr/>
          <p:nvPr/>
        </p:nvSpPr>
        <p:spPr>
          <a:xfrm>
            <a:off x="89899" y="25685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g34bdf5f76db_1_0"/>
          <p:cNvSpPr/>
          <p:nvPr/>
        </p:nvSpPr>
        <p:spPr>
          <a:xfrm rot="5374217">
            <a:off x="-3628510" y="3673600"/>
            <a:ext cx="10291961" cy="2958053"/>
          </a:xfrm>
          <a:custGeom>
            <a:avLst/>
            <a:gdLst/>
            <a:ahLst/>
            <a:cxnLst/>
            <a:rect l="l" t="t" r="r" b="b"/>
            <a:pathLst>
              <a:path w="10291672" h="2957970" extrusionOk="0">
                <a:moveTo>
                  <a:pt x="0" y="0"/>
                </a:moveTo>
                <a:lnTo>
                  <a:pt x="10291672" y="0"/>
                </a:lnTo>
                <a:lnTo>
                  <a:pt x="10291672" y="2957970"/>
                </a:lnTo>
                <a:lnTo>
                  <a:pt x="0" y="29579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18284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6" name="Google Shape;266;g34bdf5f76db_1_0"/>
          <p:cNvCxnSpPr/>
          <p:nvPr/>
        </p:nvCxnSpPr>
        <p:spPr>
          <a:xfrm rot="10800000">
            <a:off x="3130080" y="16417"/>
            <a:ext cx="49800" cy="2268000"/>
          </a:xfrm>
          <a:prstGeom prst="straightConnector1">
            <a:avLst/>
          </a:prstGeom>
          <a:noFill/>
          <a:ln w="38100" cap="flat" cmpd="sng">
            <a:solidFill>
              <a:srgbClr val="D9383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7" name="Google Shape;267;g34bdf5f76db_1_0"/>
          <p:cNvSpPr txBox="1"/>
          <p:nvPr/>
        </p:nvSpPr>
        <p:spPr>
          <a:xfrm>
            <a:off x="3611441" y="1189042"/>
            <a:ext cx="710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g34bdf5f76db_1_0"/>
          <p:cNvSpPr txBox="1"/>
          <p:nvPr/>
        </p:nvSpPr>
        <p:spPr>
          <a:xfrm>
            <a:off x="3611472" y="962025"/>
            <a:ext cx="965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ATIVIDADE</a:t>
            </a:r>
            <a:endParaRPr sz="2000" b="1" i="0" u="none" strike="noStrike" cap="none">
              <a:solidFill>
                <a:srgbClr val="D9383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69" name="Google Shape;269;g34bdf5f76db_1_0"/>
          <p:cNvSpPr/>
          <p:nvPr/>
        </p:nvSpPr>
        <p:spPr>
          <a:xfrm>
            <a:off x="14702148" y="624310"/>
            <a:ext cx="3018346" cy="768717"/>
          </a:xfrm>
          <a:custGeom>
            <a:avLst/>
            <a:gdLst/>
            <a:ahLst/>
            <a:cxnLst/>
            <a:rect l="l" t="t" r="r" b="b"/>
            <a:pathLst>
              <a:path w="3018346" h="768717" extrusionOk="0">
                <a:moveTo>
                  <a:pt x="0" y="0"/>
                </a:moveTo>
                <a:lnTo>
                  <a:pt x="3018346" y="0"/>
                </a:lnTo>
                <a:lnTo>
                  <a:pt x="3018346" y="768717"/>
                </a:lnTo>
                <a:lnTo>
                  <a:pt x="0" y="7687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g34bdf5f76db_1_0"/>
          <p:cNvSpPr txBox="1"/>
          <p:nvPr/>
        </p:nvSpPr>
        <p:spPr>
          <a:xfrm>
            <a:off x="3611475" y="2570775"/>
            <a:ext cx="14003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Criação do Trello</a:t>
            </a:r>
            <a:endParaRPr sz="2800" b="1" i="0" u="none" strike="noStrike" cap="none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1" name="Google Shape;271;g34bdf5f76db_1_0"/>
          <p:cNvSpPr txBox="1"/>
          <p:nvPr/>
        </p:nvSpPr>
        <p:spPr>
          <a:xfrm>
            <a:off x="3611450" y="1545475"/>
            <a:ext cx="247797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Metodologias ágeis</a:t>
            </a:r>
            <a:endParaRPr sz="6000" b="1" i="0" u="none" strike="noStrike" cap="none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2" name="Google Shape;272;g34bdf5f76db_1_0"/>
          <p:cNvSpPr txBox="1"/>
          <p:nvPr/>
        </p:nvSpPr>
        <p:spPr>
          <a:xfrm>
            <a:off x="3611475" y="3117700"/>
            <a:ext cx="14476200" cy="76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Antes de iniciarmos qualquer atividade vamos primeiro criar o TRELLO, lembrem-se que precisa ser na conta do SENAI de vocês (</a:t>
            </a:r>
            <a:r>
              <a:rPr lang="en-US" sz="2400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6"/>
              </a:rPr>
              <a:t>nome@aluno.senai.br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Acessem o link: </a:t>
            </a:r>
            <a:r>
              <a:rPr lang="en-US" sz="2400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7"/>
              </a:rPr>
              <a:t>www.trello.com</a:t>
            </a:r>
            <a:r>
              <a:rPr lang="en-US" sz="2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e façam o primeiro acesso. 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4bdf5f76db_1_13"/>
          <p:cNvSpPr/>
          <p:nvPr/>
        </p:nvSpPr>
        <p:spPr>
          <a:xfrm>
            <a:off x="89899" y="25685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g34bdf5f76db_1_13"/>
          <p:cNvSpPr/>
          <p:nvPr/>
        </p:nvSpPr>
        <p:spPr>
          <a:xfrm rot="5374217">
            <a:off x="-3628511" y="3673600"/>
            <a:ext cx="10291961" cy="2958053"/>
          </a:xfrm>
          <a:custGeom>
            <a:avLst/>
            <a:gdLst/>
            <a:ahLst/>
            <a:cxnLst/>
            <a:rect l="l" t="t" r="r" b="b"/>
            <a:pathLst>
              <a:path w="10291672" h="2957970" extrusionOk="0">
                <a:moveTo>
                  <a:pt x="0" y="0"/>
                </a:moveTo>
                <a:lnTo>
                  <a:pt x="10291672" y="0"/>
                </a:lnTo>
                <a:lnTo>
                  <a:pt x="10291672" y="2957970"/>
                </a:lnTo>
                <a:lnTo>
                  <a:pt x="0" y="29579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18295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9" name="Google Shape;279;g34bdf5f76db_1_13"/>
          <p:cNvCxnSpPr/>
          <p:nvPr/>
        </p:nvCxnSpPr>
        <p:spPr>
          <a:xfrm rot="10800000">
            <a:off x="3130080" y="16417"/>
            <a:ext cx="49800" cy="2268000"/>
          </a:xfrm>
          <a:prstGeom prst="straightConnector1">
            <a:avLst/>
          </a:prstGeom>
          <a:noFill/>
          <a:ln w="38100" cap="flat" cmpd="sng">
            <a:solidFill>
              <a:srgbClr val="D9383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0" name="Google Shape;280;g34bdf5f76db_1_13"/>
          <p:cNvSpPr txBox="1"/>
          <p:nvPr/>
        </p:nvSpPr>
        <p:spPr>
          <a:xfrm>
            <a:off x="3611441" y="1189042"/>
            <a:ext cx="710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g34bdf5f76db_1_13"/>
          <p:cNvSpPr txBox="1"/>
          <p:nvPr/>
        </p:nvSpPr>
        <p:spPr>
          <a:xfrm>
            <a:off x="3611441" y="962025"/>
            <a:ext cx="2865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ATIVIDADE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g34bdf5f76db_1_13"/>
          <p:cNvSpPr/>
          <p:nvPr/>
        </p:nvSpPr>
        <p:spPr>
          <a:xfrm>
            <a:off x="14702148" y="624310"/>
            <a:ext cx="3018346" cy="768717"/>
          </a:xfrm>
          <a:custGeom>
            <a:avLst/>
            <a:gdLst/>
            <a:ahLst/>
            <a:cxnLst/>
            <a:rect l="l" t="t" r="r" b="b"/>
            <a:pathLst>
              <a:path w="3018346" h="768717" extrusionOk="0">
                <a:moveTo>
                  <a:pt x="0" y="0"/>
                </a:moveTo>
                <a:lnTo>
                  <a:pt x="3018346" y="0"/>
                </a:lnTo>
                <a:lnTo>
                  <a:pt x="3018346" y="768717"/>
                </a:lnTo>
                <a:lnTo>
                  <a:pt x="0" y="7687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3" name="Google Shape;283;g34bdf5f76db_1_13"/>
          <p:cNvGrpSpPr/>
          <p:nvPr/>
        </p:nvGrpSpPr>
        <p:grpSpPr>
          <a:xfrm>
            <a:off x="2503914" y="2355893"/>
            <a:ext cx="921228" cy="921228"/>
            <a:chOff x="0" y="0"/>
            <a:chExt cx="812800" cy="812800"/>
          </a:xfrm>
        </p:grpSpPr>
        <p:sp>
          <p:nvSpPr>
            <p:cNvPr id="284" name="Google Shape;284;g34bdf5f76db_1_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5" name="Google Shape;285;g34bdf5f76db_1_13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6" name="Google Shape;286;g34bdf5f76db_1_13"/>
          <p:cNvSpPr txBox="1"/>
          <p:nvPr/>
        </p:nvSpPr>
        <p:spPr>
          <a:xfrm>
            <a:off x="3611472" y="2570775"/>
            <a:ext cx="140037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2800" b="1" dirty="0" err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Desenvolvimento</a:t>
            </a:r>
            <a:r>
              <a:rPr lang="en-US" sz="2800" b="1" dirty="0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 de um </a:t>
            </a:r>
            <a:r>
              <a:rPr lang="en-US" sz="2800" b="1" dirty="0">
                <a:solidFill>
                  <a:srgbClr val="0E1113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Mini Sistema de </a:t>
            </a:r>
            <a:r>
              <a:rPr lang="en-US" sz="2800" b="1" dirty="0" err="1">
                <a:solidFill>
                  <a:srgbClr val="0E1113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Controle</a:t>
            </a:r>
            <a:r>
              <a:rPr lang="en-US" sz="2800" b="1" dirty="0">
                <a:solidFill>
                  <a:srgbClr val="0E1113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 de </a:t>
            </a:r>
            <a:r>
              <a:rPr lang="en-US" sz="2800" b="1" dirty="0" err="1">
                <a:solidFill>
                  <a:srgbClr val="0E1113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Tarefas</a:t>
            </a:r>
            <a:r>
              <a:rPr lang="en-US" sz="2800" b="1" dirty="0">
                <a:solidFill>
                  <a:srgbClr val="0E1113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800" b="1" dirty="0" err="1">
                <a:solidFill>
                  <a:srgbClr val="0E1113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Escolares</a:t>
            </a:r>
            <a:endParaRPr sz="2800" b="1" i="0" u="none" strike="noStrike" cap="none" dirty="0">
              <a:solidFill>
                <a:srgbClr val="0E1113"/>
              </a:solidFill>
              <a:highlight>
                <a:srgbClr val="FFFF00"/>
              </a:highlight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996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1" i="0" u="none" strike="noStrike" cap="none" dirty="0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7" name="Google Shape;287;g34bdf5f76db_1_13"/>
          <p:cNvSpPr txBox="1"/>
          <p:nvPr/>
        </p:nvSpPr>
        <p:spPr>
          <a:xfrm>
            <a:off x="2907197" y="2570767"/>
            <a:ext cx="114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6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g34bdf5f76db_1_13"/>
          <p:cNvSpPr txBox="1"/>
          <p:nvPr/>
        </p:nvSpPr>
        <p:spPr>
          <a:xfrm>
            <a:off x="3611450" y="1393075"/>
            <a:ext cx="123699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en-US" sz="6000" b="1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Metodologias ágeis</a:t>
            </a:r>
            <a:endParaRPr sz="6000" b="1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9" name="Google Shape;289;g34bdf5f76db_1_13"/>
          <p:cNvSpPr txBox="1"/>
          <p:nvPr/>
        </p:nvSpPr>
        <p:spPr>
          <a:xfrm>
            <a:off x="3611475" y="3117700"/>
            <a:ext cx="14476200" cy="2308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O que </a:t>
            </a:r>
            <a:r>
              <a:rPr lang="en-US" sz="24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deve</a:t>
            </a:r>
            <a:r>
              <a:rPr lang="en-US" sz="24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conter</a:t>
            </a:r>
            <a:r>
              <a:rPr lang="en-US" sz="2400" b="1" i="0" u="none" strike="noStrike" cap="none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:</a:t>
            </a:r>
            <a:r>
              <a:rPr lang="en-US" sz="240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 dirty="0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Nome da </a:t>
            </a:r>
            <a:r>
              <a:rPr lang="en-US" sz="2400" dirty="0" err="1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funcionalidade</a:t>
            </a:r>
            <a:r>
              <a:rPr lang="en-US" sz="2400" dirty="0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2400" dirty="0" err="1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Descrição</a:t>
            </a:r>
            <a:r>
              <a:rPr lang="en-US" sz="2400" dirty="0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2400" dirty="0" err="1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Responsável</a:t>
            </a:r>
            <a:r>
              <a:rPr lang="en-US" sz="2400" dirty="0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 pela </a:t>
            </a:r>
            <a:r>
              <a:rPr lang="en-US" sz="2400" dirty="0" err="1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tarefa</a:t>
            </a:r>
            <a:r>
              <a:rPr lang="en-US" sz="2400" dirty="0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2400" dirty="0" err="1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Prazo</a:t>
            </a:r>
            <a:r>
              <a:rPr lang="en-US" sz="2400" dirty="0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 para </a:t>
            </a:r>
            <a:r>
              <a:rPr lang="en-US" sz="2400" dirty="0" err="1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entrega</a:t>
            </a:r>
            <a:r>
              <a:rPr lang="en-US" sz="2400" dirty="0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 (data </a:t>
            </a:r>
            <a:r>
              <a:rPr lang="en-US" sz="2400" dirty="0" err="1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estimada</a:t>
            </a:r>
            <a:r>
              <a:rPr lang="en-US" sz="2400" dirty="0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), </a:t>
            </a:r>
            <a:r>
              <a:rPr lang="en-US" sz="2400" dirty="0" err="1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Prioridade</a:t>
            </a:r>
            <a:r>
              <a:rPr lang="en-US" sz="2400" dirty="0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 (P0 a P3), Checklist (se for </a:t>
            </a:r>
            <a:r>
              <a:rPr lang="en-US" sz="2400" dirty="0" err="1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uma</a:t>
            </a:r>
            <a:r>
              <a:rPr lang="en-US" sz="2400" dirty="0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 dirty="0" err="1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tarefa</a:t>
            </a:r>
            <a:r>
              <a:rPr lang="en-US" sz="2400" dirty="0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 que </a:t>
            </a:r>
            <a:r>
              <a:rPr lang="en-US" sz="2400" dirty="0" err="1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precisa</a:t>
            </a:r>
            <a:r>
              <a:rPr lang="en-US" sz="2400" dirty="0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 ser </a:t>
            </a:r>
            <a:r>
              <a:rPr lang="en-US" sz="2400" dirty="0" err="1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dividida</a:t>
            </a:r>
            <a:r>
              <a:rPr lang="en-US" sz="2400" dirty="0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 dirty="0" err="1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em</a:t>
            </a:r>
            <a:r>
              <a:rPr lang="en-US" sz="2400" dirty="0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 dirty="0" err="1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partes</a:t>
            </a:r>
            <a:r>
              <a:rPr lang="en-US" sz="2400" dirty="0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 dirty="0" err="1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menores</a:t>
            </a:r>
            <a:r>
              <a:rPr lang="en-US" sz="2400" dirty="0">
                <a:solidFill>
                  <a:schemeClr val="dk1"/>
                </a:solidFill>
                <a:highlight>
                  <a:srgbClr val="FFFF00"/>
                </a:highlight>
                <a:latin typeface="Poppins"/>
                <a:ea typeface="Poppins"/>
                <a:cs typeface="Poppins"/>
                <a:sym typeface="Poppins"/>
              </a:rPr>
              <a:t>)</a:t>
            </a:r>
            <a:endParaRPr sz="2400" dirty="0">
              <a:solidFill>
                <a:schemeClr val="dk1"/>
              </a:solidFill>
              <a:highlight>
                <a:srgbClr val="FFFF00"/>
              </a:highlight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Estrutura</a:t>
            </a:r>
            <a:r>
              <a:rPr lang="en-US" sz="24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do Quadro Kanban(TRELLO):</a:t>
            </a:r>
            <a:endParaRPr sz="2400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290" name="Google Shape;290;g34bdf5f76db_1_13"/>
          <p:cNvGraphicFramePr/>
          <p:nvPr>
            <p:extLst>
              <p:ext uri="{D42A27DB-BD31-4B8C-83A1-F6EECF244321}">
                <p14:modId xmlns:p14="http://schemas.microsoft.com/office/powerpoint/2010/main" val="1758944150"/>
              </p:ext>
            </p:extLst>
          </p:nvPr>
        </p:nvGraphicFramePr>
        <p:xfrm>
          <a:off x="3975275" y="5336450"/>
          <a:ext cx="12765000" cy="4815540"/>
        </p:xfrm>
        <a:graphic>
          <a:graphicData uri="http://schemas.openxmlformats.org/drawingml/2006/table">
            <a:tbl>
              <a:tblPr>
                <a:noFill/>
                <a:tableStyleId>{B357A0A3-19DD-403D-8A55-7B689318FFE8}</a:tableStyleId>
              </a:tblPr>
              <a:tblGrid>
                <a:gridCol w="6382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8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/>
                        <a:t>Nome do Cartão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/>
                        <a:t>Descrição do Cartão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/>
                        <a:t>Tela</a:t>
                      </a:r>
                      <a:r>
                        <a:rPr lang="en-US" dirty="0"/>
                        <a:t> de </a:t>
                      </a:r>
                      <a:r>
                        <a:rPr lang="en-US" dirty="0" err="1"/>
                        <a:t>Cadastro</a:t>
                      </a:r>
                      <a:r>
                        <a:rPr lang="en-US" dirty="0"/>
                        <a:t>/Login</a:t>
                      </a:r>
                      <a:endParaRPr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/>
                        <a:t>Permitir</a:t>
                      </a:r>
                      <a:r>
                        <a:rPr lang="en-US" dirty="0"/>
                        <a:t> que o </a:t>
                      </a:r>
                      <a:r>
                        <a:rPr lang="en-US" dirty="0" err="1"/>
                        <a:t>estudante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crie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uma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conta</a:t>
                      </a:r>
                      <a:r>
                        <a:rPr lang="en-US" dirty="0"/>
                        <a:t> e </a:t>
                      </a:r>
                      <a:r>
                        <a:rPr lang="en-US" dirty="0" err="1"/>
                        <a:t>acesse</a:t>
                      </a:r>
                      <a:r>
                        <a:rPr lang="en-US" dirty="0"/>
                        <a:t> o app com </a:t>
                      </a:r>
                      <a:r>
                        <a:rPr lang="en-US" dirty="0" err="1"/>
                        <a:t>segurança</a:t>
                      </a:r>
                      <a:endParaRPr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Adicionar Nova Tarefa	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Campo </a:t>
                      </a:r>
                      <a:r>
                        <a:rPr lang="en-US" dirty="0" err="1"/>
                        <a:t>onde</a:t>
                      </a:r>
                      <a:r>
                        <a:rPr lang="en-US" dirty="0"/>
                        <a:t> o </a:t>
                      </a:r>
                      <a:r>
                        <a:rPr lang="en-US" dirty="0" err="1"/>
                        <a:t>usuário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digita</a:t>
                      </a:r>
                      <a:r>
                        <a:rPr lang="en-US" dirty="0"/>
                        <a:t> o </a:t>
                      </a:r>
                      <a:r>
                        <a:rPr lang="en-US" dirty="0" err="1"/>
                        <a:t>nome</a:t>
                      </a:r>
                      <a:r>
                        <a:rPr lang="en-US" dirty="0"/>
                        <a:t> da </a:t>
                      </a:r>
                      <a:r>
                        <a:rPr lang="en-US" dirty="0" err="1"/>
                        <a:t>tarefa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descrição</a:t>
                      </a:r>
                      <a:r>
                        <a:rPr lang="en-US" dirty="0"/>
                        <a:t> e define data de </a:t>
                      </a:r>
                      <a:r>
                        <a:rPr lang="en-US" dirty="0" err="1"/>
                        <a:t>entrega</a:t>
                      </a:r>
                      <a:endParaRPr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Categorizar Tarefa	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/>
                        <a:t>Opção</a:t>
                      </a:r>
                      <a:r>
                        <a:rPr lang="en-US" dirty="0"/>
                        <a:t> para o </a:t>
                      </a:r>
                      <a:r>
                        <a:rPr lang="en-US" dirty="0" err="1"/>
                        <a:t>aluno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escolher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uma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categoria</a:t>
                      </a:r>
                      <a:r>
                        <a:rPr lang="en-US" dirty="0"/>
                        <a:t> (ex: </a:t>
                      </a:r>
                      <a:r>
                        <a:rPr lang="en-US" dirty="0" err="1"/>
                        <a:t>prova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dever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trabalho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em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grupo</a:t>
                      </a:r>
                      <a:r>
                        <a:rPr lang="en-US" dirty="0"/>
                        <a:t>)</a:t>
                      </a:r>
                      <a:endParaRPr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Marcar como Concluída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/>
                        <a:t>Ao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finalizar</a:t>
                      </a:r>
                      <a:r>
                        <a:rPr lang="en-US" dirty="0"/>
                        <a:t> a </a:t>
                      </a:r>
                      <a:r>
                        <a:rPr lang="en-US" dirty="0" err="1"/>
                        <a:t>tarefa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ela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pode</a:t>
                      </a:r>
                      <a:r>
                        <a:rPr lang="en-US" dirty="0"/>
                        <a:t> ser </a:t>
                      </a:r>
                      <a:r>
                        <a:rPr lang="en-US" dirty="0" err="1"/>
                        <a:t>marcada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como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feita</a:t>
                      </a:r>
                      <a:r>
                        <a:rPr lang="en-US" dirty="0"/>
                        <a:t> e </a:t>
                      </a:r>
                      <a:r>
                        <a:rPr lang="en-US" dirty="0" err="1"/>
                        <a:t>movida</a:t>
                      </a:r>
                      <a:r>
                        <a:rPr lang="en-US" dirty="0"/>
                        <a:t> para </a:t>
                      </a:r>
                      <a:r>
                        <a:rPr lang="en-US" dirty="0" err="1"/>
                        <a:t>lista</a:t>
                      </a:r>
                      <a:r>
                        <a:rPr lang="en-US" dirty="0"/>
                        <a:t> de </a:t>
                      </a:r>
                      <a:r>
                        <a:rPr lang="en-US" dirty="0" err="1"/>
                        <a:t>concluídas</a:t>
                      </a:r>
                      <a:endParaRPr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Notificações e Alertas	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Sistema que </a:t>
                      </a:r>
                      <a:r>
                        <a:rPr lang="en-US" dirty="0" err="1"/>
                        <a:t>envia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alerta</a:t>
                      </a:r>
                      <a:r>
                        <a:rPr lang="en-US" dirty="0"/>
                        <a:t> antes do </a:t>
                      </a:r>
                      <a:r>
                        <a:rPr lang="en-US" dirty="0" err="1"/>
                        <a:t>vencimento</a:t>
                      </a:r>
                      <a:r>
                        <a:rPr lang="en-US" dirty="0"/>
                        <a:t> de </a:t>
                      </a:r>
                      <a:r>
                        <a:rPr lang="en-US" dirty="0" err="1"/>
                        <a:t>uma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tarefa</a:t>
                      </a:r>
                      <a:endParaRPr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Integração com Calendário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/>
                        <a:t>Integração</a:t>
                      </a:r>
                      <a:r>
                        <a:rPr lang="en-US" dirty="0"/>
                        <a:t> com o Google Agenda (</a:t>
                      </a:r>
                      <a:r>
                        <a:rPr lang="en-US" dirty="0" err="1"/>
                        <a:t>simulada</a:t>
                      </a:r>
                      <a:r>
                        <a:rPr lang="en-US" dirty="0"/>
                        <a:t>) para </a:t>
                      </a:r>
                      <a:r>
                        <a:rPr lang="en-US" dirty="0" err="1"/>
                        <a:t>mostrar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prazos</a:t>
                      </a:r>
                      <a:r>
                        <a:rPr lang="en-US" dirty="0"/>
                        <a:t> no </a:t>
                      </a:r>
                      <a:r>
                        <a:rPr lang="en-US" dirty="0" err="1"/>
                        <a:t>calendário</a:t>
                      </a:r>
                      <a:endParaRPr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Tela de Visualização de Tarefas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/>
                        <a:t>Tela</a:t>
                      </a:r>
                      <a:r>
                        <a:rPr lang="en-US" dirty="0"/>
                        <a:t> que </a:t>
                      </a:r>
                      <a:r>
                        <a:rPr lang="en-US" dirty="0" err="1"/>
                        <a:t>mostra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todas</a:t>
                      </a:r>
                      <a:r>
                        <a:rPr lang="en-US" dirty="0"/>
                        <a:t> as </a:t>
                      </a:r>
                      <a:r>
                        <a:rPr lang="en-US" dirty="0" err="1"/>
                        <a:t>tarefas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organizadas</a:t>
                      </a:r>
                      <a:r>
                        <a:rPr lang="en-US" dirty="0"/>
                        <a:t> por data e </a:t>
                      </a:r>
                      <a:r>
                        <a:rPr lang="en-US" dirty="0" err="1"/>
                        <a:t>categoria</a:t>
                      </a:r>
                      <a:endParaRPr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Modo Escuro	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/>
                        <a:t>Opção</a:t>
                      </a:r>
                      <a:r>
                        <a:rPr lang="en-US" dirty="0"/>
                        <a:t> para o </a:t>
                      </a:r>
                      <a:r>
                        <a:rPr lang="en-US" dirty="0" err="1"/>
                        <a:t>usuário</a:t>
                      </a:r>
                      <a:r>
                        <a:rPr lang="en-US" dirty="0"/>
                        <a:t> trocar entre </a:t>
                      </a:r>
                      <a:r>
                        <a:rPr lang="en-US" dirty="0" err="1"/>
                        <a:t>tema</a:t>
                      </a:r>
                      <a:r>
                        <a:rPr lang="en-US" dirty="0"/>
                        <a:t> claro e </a:t>
                      </a:r>
                      <a:r>
                        <a:rPr lang="en-US" dirty="0" err="1"/>
                        <a:t>escuro</a:t>
                      </a:r>
                      <a:endParaRPr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Feedback do Usuário	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/>
                        <a:t>Criar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uma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tela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onde</a:t>
                      </a:r>
                      <a:r>
                        <a:rPr lang="en-US" dirty="0"/>
                        <a:t> o </a:t>
                      </a:r>
                      <a:r>
                        <a:rPr lang="en-US" dirty="0" err="1"/>
                        <a:t>usuário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possa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enviar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sugestões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ou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avisar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problemas</a:t>
                      </a:r>
                      <a:endParaRPr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494324d29f_0_343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g3494324d29f_0_343"/>
          <p:cNvSpPr/>
          <p:nvPr/>
        </p:nvSpPr>
        <p:spPr>
          <a:xfrm>
            <a:off x="0" y="0"/>
            <a:ext cx="18288000" cy="6217920"/>
          </a:xfrm>
          <a:custGeom>
            <a:avLst/>
            <a:gdLst/>
            <a:ahLst/>
            <a:cxnLst/>
            <a:rect l="l" t="t" r="r" b="b"/>
            <a:pathLst>
              <a:path w="18288000" h="6217920" extrusionOk="0">
                <a:moveTo>
                  <a:pt x="0" y="0"/>
                </a:moveTo>
                <a:lnTo>
                  <a:pt x="18288000" y="0"/>
                </a:lnTo>
                <a:lnTo>
                  <a:pt x="18288000" y="6217920"/>
                </a:lnTo>
                <a:lnTo>
                  <a:pt x="0" y="62179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7" name="Google Shape;297;g3494324d29f_0_343"/>
          <p:cNvCxnSpPr/>
          <p:nvPr/>
        </p:nvCxnSpPr>
        <p:spPr>
          <a:xfrm rot="10800000" flipH="1">
            <a:off x="1068398" y="16195"/>
            <a:ext cx="16500" cy="2135700"/>
          </a:xfrm>
          <a:prstGeom prst="straightConnector1">
            <a:avLst/>
          </a:prstGeom>
          <a:noFill/>
          <a:ln w="38100" cap="flat" cmpd="sng">
            <a:solidFill>
              <a:srgbClr val="D9383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98" name="Google Shape;298;g3494324d29f_0_343"/>
          <p:cNvGrpSpPr/>
          <p:nvPr/>
        </p:nvGrpSpPr>
        <p:grpSpPr>
          <a:xfrm>
            <a:off x="1038175" y="2946624"/>
            <a:ext cx="16211658" cy="7299925"/>
            <a:chOff x="0" y="-38100"/>
            <a:chExt cx="4269709" cy="2000418"/>
          </a:xfrm>
        </p:grpSpPr>
        <p:sp>
          <p:nvSpPr>
            <p:cNvPr id="299" name="Google Shape;299;g3494324d29f_0_343"/>
            <p:cNvSpPr/>
            <p:nvPr/>
          </p:nvSpPr>
          <p:spPr>
            <a:xfrm>
              <a:off x="0" y="0"/>
              <a:ext cx="4269709" cy="1962318"/>
            </a:xfrm>
            <a:custGeom>
              <a:avLst/>
              <a:gdLst/>
              <a:ahLst/>
              <a:cxnLst/>
              <a:rect l="l" t="t" r="r" b="b"/>
              <a:pathLst>
                <a:path w="4269709" h="1962318" extrusionOk="0">
                  <a:moveTo>
                    <a:pt x="9551" y="0"/>
                  </a:moveTo>
                  <a:lnTo>
                    <a:pt x="4260158" y="0"/>
                  </a:lnTo>
                  <a:cubicBezTo>
                    <a:pt x="4262691" y="0"/>
                    <a:pt x="4265120" y="1006"/>
                    <a:pt x="4266911" y="2797"/>
                  </a:cubicBezTo>
                  <a:cubicBezTo>
                    <a:pt x="4268703" y="4589"/>
                    <a:pt x="4269709" y="7018"/>
                    <a:pt x="4269709" y="9551"/>
                  </a:cubicBezTo>
                  <a:lnTo>
                    <a:pt x="4269709" y="1952767"/>
                  </a:lnTo>
                  <a:cubicBezTo>
                    <a:pt x="4269709" y="1955300"/>
                    <a:pt x="4268703" y="1957730"/>
                    <a:pt x="4266911" y="1959521"/>
                  </a:cubicBezTo>
                  <a:cubicBezTo>
                    <a:pt x="4265120" y="1961312"/>
                    <a:pt x="4262691" y="1962318"/>
                    <a:pt x="4260158" y="1962318"/>
                  </a:cubicBezTo>
                  <a:lnTo>
                    <a:pt x="9551" y="1962318"/>
                  </a:lnTo>
                  <a:cubicBezTo>
                    <a:pt x="7018" y="1962318"/>
                    <a:pt x="4589" y="1961312"/>
                    <a:pt x="2797" y="1959521"/>
                  </a:cubicBezTo>
                  <a:cubicBezTo>
                    <a:pt x="1006" y="1957730"/>
                    <a:pt x="0" y="1955300"/>
                    <a:pt x="0" y="1952767"/>
                  </a:cubicBezTo>
                  <a:lnTo>
                    <a:pt x="0" y="9551"/>
                  </a:lnTo>
                  <a:cubicBezTo>
                    <a:pt x="0" y="7018"/>
                    <a:pt x="1006" y="4589"/>
                    <a:pt x="2797" y="2797"/>
                  </a:cubicBezTo>
                  <a:cubicBezTo>
                    <a:pt x="4589" y="1006"/>
                    <a:pt x="7018" y="0"/>
                    <a:pt x="95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0" name="Google Shape;300;g3494324d29f_0_343"/>
            <p:cNvSpPr txBox="1"/>
            <p:nvPr/>
          </p:nvSpPr>
          <p:spPr>
            <a:xfrm>
              <a:off x="0" y="-38100"/>
              <a:ext cx="4269600" cy="20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01" name="Google Shape;301;g3494324d29f_0_343"/>
          <p:cNvSpPr txBox="1"/>
          <p:nvPr/>
        </p:nvSpPr>
        <p:spPr>
          <a:xfrm>
            <a:off x="2043300" y="1189050"/>
            <a:ext cx="123699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>
                <a:solidFill>
                  <a:srgbClr val="0E1113"/>
                </a:solidFill>
                <a:latin typeface="Poppins"/>
                <a:ea typeface="Poppins"/>
                <a:cs typeface="Poppins"/>
                <a:sym typeface="Poppins"/>
              </a:rPr>
              <a:t>Referências</a:t>
            </a:r>
            <a:endParaRPr sz="4100" b="1" i="0" u="none" strike="noStrike" cap="none">
              <a:solidFill>
                <a:srgbClr val="0E111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2" name="Google Shape;302;g3494324d29f_0_343"/>
          <p:cNvSpPr txBox="1"/>
          <p:nvPr/>
        </p:nvSpPr>
        <p:spPr>
          <a:xfrm>
            <a:off x="1685075" y="3542151"/>
            <a:ext cx="14443800" cy="114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2400">
                <a:latin typeface="Poppins"/>
                <a:ea typeface="Poppins"/>
                <a:cs typeface="Poppins"/>
                <a:sym typeface="Poppins"/>
              </a:rPr>
              <a:t>BECK, Kent et al.</a:t>
            </a:r>
            <a:r>
              <a:rPr lang="en-US" sz="2400" b="1">
                <a:latin typeface="Poppins"/>
                <a:ea typeface="Poppins"/>
                <a:cs typeface="Poppins"/>
                <a:sym typeface="Poppins"/>
              </a:rPr>
              <a:t> Manifesto para Desenvolvimento Ágil de Software.</a:t>
            </a:r>
            <a:r>
              <a:rPr lang="en-US" sz="2400">
                <a:latin typeface="Poppins"/>
                <a:ea typeface="Poppins"/>
                <a:cs typeface="Poppins"/>
                <a:sym typeface="Poppins"/>
              </a:rPr>
              <a:t> 2001. </a:t>
            </a:r>
            <a:r>
              <a:rPr lang="en-US" sz="2400">
                <a:solidFill>
                  <a:schemeClr val="dk1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https://agilemanifesto.org</a:t>
            </a:r>
            <a:endParaRPr sz="24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endParaRPr sz="240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2400">
                <a:latin typeface="Poppins"/>
                <a:ea typeface="Poppins"/>
                <a:cs typeface="Poppins"/>
                <a:sym typeface="Poppins"/>
              </a:rPr>
              <a:t>RUBIN, Kenneth</a:t>
            </a:r>
            <a:r>
              <a:rPr lang="en-US" sz="2400" b="1"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>
                <a:latin typeface="Poppins"/>
                <a:ea typeface="Poppins"/>
                <a:cs typeface="Poppins"/>
                <a:sym typeface="Poppins"/>
              </a:rPr>
              <a:t>S.</a:t>
            </a:r>
            <a:r>
              <a:rPr lang="en-US" sz="2400" b="1">
                <a:latin typeface="Poppins"/>
                <a:ea typeface="Poppins"/>
                <a:cs typeface="Poppins"/>
                <a:sym typeface="Poppins"/>
              </a:rPr>
              <a:t> Scrum Essencial.</a:t>
            </a:r>
            <a:r>
              <a:rPr lang="en-US" sz="2400">
                <a:latin typeface="Poppins"/>
                <a:ea typeface="Poppins"/>
                <a:cs typeface="Poppins"/>
                <a:sym typeface="Poppins"/>
              </a:rPr>
              <a:t> São Paulo:</a:t>
            </a:r>
            <a:r>
              <a:rPr lang="en-US" sz="2400" b="1"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>
                <a:latin typeface="Poppins"/>
                <a:ea typeface="Poppins"/>
                <a:cs typeface="Poppins"/>
                <a:sym typeface="Poppins"/>
              </a:rPr>
              <a:t>Alta Books, 2013.</a:t>
            </a:r>
            <a:endParaRPr sz="240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endParaRPr sz="240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2400">
                <a:latin typeface="Poppins"/>
                <a:ea typeface="Poppins"/>
                <a:cs typeface="Poppins"/>
                <a:sym typeface="Poppins"/>
              </a:rPr>
              <a:t>KNIBERG, Henrik.</a:t>
            </a:r>
            <a:r>
              <a:rPr lang="en-US" sz="2400" b="1">
                <a:latin typeface="Poppins"/>
                <a:ea typeface="Poppins"/>
                <a:cs typeface="Poppins"/>
                <a:sym typeface="Poppins"/>
              </a:rPr>
              <a:t> Kanban e Scrum: obtendo o melhor de ambos. </a:t>
            </a:r>
            <a:r>
              <a:rPr lang="en-US" sz="2400">
                <a:latin typeface="Poppins"/>
                <a:ea typeface="Poppins"/>
                <a:cs typeface="Poppins"/>
                <a:sym typeface="Poppins"/>
              </a:rPr>
              <a:t>C4Media, 2010.</a:t>
            </a:r>
            <a:endParaRPr sz="240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endParaRPr sz="240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2400">
                <a:latin typeface="Poppins"/>
                <a:ea typeface="Poppins"/>
                <a:cs typeface="Poppins"/>
                <a:sym typeface="Poppins"/>
              </a:rPr>
              <a:t>ATLASSIAN. </a:t>
            </a:r>
            <a:r>
              <a:rPr lang="en-US" sz="2400" b="1">
                <a:latin typeface="Poppins"/>
                <a:ea typeface="Poppins"/>
                <a:cs typeface="Poppins"/>
                <a:sym typeface="Poppins"/>
              </a:rPr>
              <a:t>Guia Kanban. </a:t>
            </a:r>
            <a:r>
              <a:rPr lang="en-US" sz="2400">
                <a:latin typeface="Poppins"/>
                <a:ea typeface="Poppins"/>
                <a:cs typeface="Poppins"/>
                <a:sym typeface="Poppins"/>
              </a:rPr>
              <a:t>https://www.atlassian.com/br/agile/kanban</a:t>
            </a:r>
            <a:endParaRPr sz="2400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endParaRPr sz="2400" b="1"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3" name="Google Shape;303;g3494324d29f_0_343"/>
          <p:cNvSpPr/>
          <p:nvPr/>
        </p:nvSpPr>
        <p:spPr>
          <a:xfrm>
            <a:off x="14702148" y="624310"/>
            <a:ext cx="3018346" cy="768717"/>
          </a:xfrm>
          <a:custGeom>
            <a:avLst/>
            <a:gdLst/>
            <a:ahLst/>
            <a:cxnLst/>
            <a:rect l="l" t="t" r="r" b="b"/>
            <a:pathLst>
              <a:path w="3018346" h="768717" extrusionOk="0">
                <a:moveTo>
                  <a:pt x="0" y="0"/>
                </a:moveTo>
                <a:lnTo>
                  <a:pt x="3018346" y="0"/>
                </a:lnTo>
                <a:lnTo>
                  <a:pt x="3018346" y="768717"/>
                </a:lnTo>
                <a:lnTo>
                  <a:pt x="0" y="7687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g3494324d29f_0_343"/>
          <p:cNvSpPr txBox="1"/>
          <p:nvPr/>
        </p:nvSpPr>
        <p:spPr>
          <a:xfrm>
            <a:off x="2043309" y="962025"/>
            <a:ext cx="7692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>
                <a:solidFill>
                  <a:srgbClr val="D93831"/>
                </a:solidFill>
                <a:latin typeface="Poppins"/>
                <a:ea typeface="Poppins"/>
                <a:cs typeface="Poppins"/>
                <a:sym typeface="Poppins"/>
              </a:rPr>
              <a:t>METODOLOGIAS ÁGEIS</a:t>
            </a:r>
            <a:endParaRPr sz="2000" b="1">
              <a:solidFill>
                <a:srgbClr val="D9383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40000"/>
            </a:blip>
            <a:stretch>
              <a:fillRect/>
            </a:stretch>
          </a:blip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0" name="Google Shape;310;p16"/>
          <p:cNvCxnSpPr/>
          <p:nvPr/>
        </p:nvCxnSpPr>
        <p:spPr>
          <a:xfrm rot="10800000">
            <a:off x="9645833" y="4419143"/>
            <a:ext cx="18900" cy="2058300"/>
          </a:xfrm>
          <a:prstGeom prst="straightConnector1">
            <a:avLst/>
          </a:prstGeom>
          <a:noFill/>
          <a:ln w="38100" cap="flat" cmpd="sng">
            <a:solidFill>
              <a:srgbClr val="D9383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1" name="Google Shape;311;p16"/>
          <p:cNvSpPr txBox="1"/>
          <p:nvPr/>
        </p:nvSpPr>
        <p:spPr>
          <a:xfrm>
            <a:off x="10341007" y="4336637"/>
            <a:ext cx="24402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Telefone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(11) 2396-1999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2" name="Google Shape;312;p16"/>
          <p:cNvGrpSpPr/>
          <p:nvPr/>
        </p:nvGrpSpPr>
        <p:grpSpPr>
          <a:xfrm>
            <a:off x="10340993" y="2885700"/>
            <a:ext cx="5951925" cy="1458644"/>
            <a:chOff x="-19" y="-85717"/>
            <a:chExt cx="7935900" cy="1944859"/>
          </a:xfrm>
        </p:grpSpPr>
        <p:sp>
          <p:nvSpPr>
            <p:cNvPr id="313" name="Google Shape;313;p16"/>
            <p:cNvSpPr txBox="1"/>
            <p:nvPr/>
          </p:nvSpPr>
          <p:spPr>
            <a:xfrm>
              <a:off x="0" y="677142"/>
              <a:ext cx="3902700" cy="118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5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0" i="0" u="none" strike="noStrike" cap="non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Av. Goiás, 139</a:t>
              </a:r>
              <a:endParaRPr sz="24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3995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14" name="Google Shape;314;p16"/>
            <p:cNvSpPr txBox="1"/>
            <p:nvPr/>
          </p:nvSpPr>
          <p:spPr>
            <a:xfrm>
              <a:off x="-19" y="-85717"/>
              <a:ext cx="7935900" cy="57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1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799"/>
                <a:buFont typeface="Arial"/>
                <a:buNone/>
              </a:pPr>
              <a:r>
                <a:rPr lang="en-US" sz="2799" b="1" i="0" u="none" strike="noStrike" cap="none">
                  <a:solidFill>
                    <a:srgbClr val="D93831"/>
                  </a:solidFill>
                  <a:latin typeface="Poppins"/>
                  <a:ea typeface="Poppins"/>
                  <a:cs typeface="Poppins"/>
                  <a:sym typeface="Poppins"/>
                </a:rPr>
                <a:t>ESCOLA SENAI ÍTALO BOLOGNA 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5" name="Google Shape;315;p16"/>
          <p:cNvGrpSpPr/>
          <p:nvPr/>
        </p:nvGrpSpPr>
        <p:grpSpPr>
          <a:xfrm>
            <a:off x="10340999" y="5663950"/>
            <a:ext cx="2283308" cy="846825"/>
            <a:chOff x="-11" y="-66670"/>
            <a:chExt cx="3044411" cy="1129101"/>
          </a:xfrm>
        </p:grpSpPr>
        <p:sp>
          <p:nvSpPr>
            <p:cNvPr id="316" name="Google Shape;316;p16"/>
            <p:cNvSpPr txBox="1"/>
            <p:nvPr/>
          </p:nvSpPr>
          <p:spPr>
            <a:xfrm>
              <a:off x="-11" y="-66670"/>
              <a:ext cx="26673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5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1" i="0" u="none" strike="noStrike" cap="non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Instagram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7" name="Google Shape;317;p16"/>
            <p:cNvSpPr txBox="1"/>
            <p:nvPr/>
          </p:nvSpPr>
          <p:spPr>
            <a:xfrm>
              <a:off x="0" y="569831"/>
              <a:ext cx="3044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5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0" i="0" u="none" strike="noStrike" cap="non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@senai.itu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8" name="Google Shape;318;p16"/>
          <p:cNvGrpSpPr/>
          <p:nvPr/>
        </p:nvGrpSpPr>
        <p:grpSpPr>
          <a:xfrm>
            <a:off x="10340997" y="7046976"/>
            <a:ext cx="5697225" cy="804499"/>
            <a:chOff x="-13" y="-66675"/>
            <a:chExt cx="7596300" cy="1072665"/>
          </a:xfrm>
        </p:grpSpPr>
        <p:sp>
          <p:nvSpPr>
            <p:cNvPr id="319" name="Google Shape;319;p16"/>
            <p:cNvSpPr txBox="1"/>
            <p:nvPr/>
          </p:nvSpPr>
          <p:spPr>
            <a:xfrm>
              <a:off x="0" y="-66675"/>
              <a:ext cx="16551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5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1" i="0" u="none" strike="noStrike" cap="non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Site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p16"/>
            <p:cNvSpPr txBox="1"/>
            <p:nvPr/>
          </p:nvSpPr>
          <p:spPr>
            <a:xfrm>
              <a:off x="-13" y="513390"/>
              <a:ext cx="75963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5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0" i="0" u="none" strike="noStrike" cap="non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https://sp.senai.br/unidade/itu/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1" name="Google Shape;321;p16"/>
          <p:cNvGrpSpPr/>
          <p:nvPr/>
        </p:nvGrpSpPr>
        <p:grpSpPr>
          <a:xfrm>
            <a:off x="13422228" y="5663946"/>
            <a:ext cx="2133000" cy="845495"/>
            <a:chOff x="0" y="-66675"/>
            <a:chExt cx="2844000" cy="1127326"/>
          </a:xfrm>
        </p:grpSpPr>
        <p:sp>
          <p:nvSpPr>
            <p:cNvPr id="322" name="Google Shape;322;p16"/>
            <p:cNvSpPr txBox="1"/>
            <p:nvPr/>
          </p:nvSpPr>
          <p:spPr>
            <a:xfrm>
              <a:off x="0" y="-66675"/>
              <a:ext cx="2039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5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1" i="0" u="none" strike="noStrike" cap="non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Facebok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" name="Google Shape;323;p16"/>
            <p:cNvSpPr txBox="1"/>
            <p:nvPr/>
          </p:nvSpPr>
          <p:spPr>
            <a:xfrm>
              <a:off x="0" y="568051"/>
              <a:ext cx="2844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5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0" i="0" u="none" strike="noStrike" cap="non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/senaisp.itu</a:t>
              </a:r>
              <a:endParaRPr sz="24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324" name="Google Shape;324;p16"/>
          <p:cNvSpPr/>
          <p:nvPr/>
        </p:nvSpPr>
        <p:spPr>
          <a:xfrm>
            <a:off x="14706022" y="599788"/>
            <a:ext cx="3200983" cy="833009"/>
          </a:xfrm>
          <a:custGeom>
            <a:avLst/>
            <a:gdLst/>
            <a:ahLst/>
            <a:cxnLst/>
            <a:rect l="l" t="t" r="r" b="b"/>
            <a:pathLst>
              <a:path w="3988764" h="1015865" extrusionOk="0">
                <a:moveTo>
                  <a:pt x="0" y="0"/>
                </a:moveTo>
                <a:lnTo>
                  <a:pt x="3988765" y="0"/>
                </a:lnTo>
                <a:lnTo>
                  <a:pt x="3988765" y="1015866"/>
                </a:lnTo>
                <a:lnTo>
                  <a:pt x="0" y="10158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5" name="Google Shape;325;p16"/>
          <p:cNvGrpSpPr/>
          <p:nvPr/>
        </p:nvGrpSpPr>
        <p:grpSpPr>
          <a:xfrm>
            <a:off x="1534959" y="2851188"/>
            <a:ext cx="7762810" cy="5194221"/>
            <a:chOff x="1648350" y="1982600"/>
            <a:chExt cx="6664501" cy="4459324"/>
          </a:xfrm>
        </p:grpSpPr>
        <p:pic>
          <p:nvPicPr>
            <p:cNvPr id="326" name="Google Shape;326;p16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648350" y="1982600"/>
              <a:ext cx="6664501" cy="44593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27" name="Google Shape;327;p16"/>
            <p:cNvSpPr/>
            <p:nvPr/>
          </p:nvSpPr>
          <p:spPr>
            <a:xfrm>
              <a:off x="1648350" y="1982603"/>
              <a:ext cx="6664500" cy="4459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25400" cap="flat" cmpd="sng">
              <a:solidFill>
                <a:srgbClr val="21364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FOTO DA ESCOLA</a:t>
              </a: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972</Words>
  <Application>Microsoft Office PowerPoint</Application>
  <PresentationFormat>Personalizar</PresentationFormat>
  <Paragraphs>267</Paragraphs>
  <Slides>17</Slides>
  <Notes>17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1" baseType="lpstr">
      <vt:lpstr>Poppins</vt:lpstr>
      <vt:lpstr>Calibri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cp:lastModifiedBy>2anoB</cp:lastModifiedBy>
  <cp:revision>4</cp:revision>
  <dcterms:created xsi:type="dcterms:W3CDTF">2006-08-16T00:00:00Z</dcterms:created>
  <dcterms:modified xsi:type="dcterms:W3CDTF">2025-05-05T15:10:03Z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0x01010096047AC9DEFB4747B22467A5254572DF</vt:lpwstr>
  </property>
  <property fmtid="{D5CDD505-2E9C-101B-9397-08002B2CF9AE}" pid="3" name="MediaServiceImageTags">
    <vt:lpwstr/>
  </property>
</Properties>
</file>