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Poppi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g/w7GqH9YfCq9CWZRgPLBc+oOz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oppins-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9a85e772d_1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9a85e772d_1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9a2d5afcc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59a2d5afcc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59a85e772d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Por não verificar o conteúdo esse tipo de firewall possuia algumas brechas, pois ataques modernos que contém o conteúdo malicioso DENTRO do pacote, acabariam passando pela barreira. Além disso esse tipo de firewall não possui estado, então não consegue lembrar se os pacotes estã vindo de uma conexão já estabelecida ou legitima</a:t>
            </a:r>
            <a:endParaRPr/>
          </a:p>
        </p:txBody>
      </p:sp>
      <p:sp>
        <p:nvSpPr>
          <p:cNvPr id="135" name="Google Shape;135;g359a85e772d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59a85e772d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59a85e772d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9a85e772d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400">
                <a:solidFill>
                  <a:srgbClr val="141414"/>
                </a:solidFill>
                <a:highlight>
                  <a:srgbClr val="FFFFFF"/>
                </a:highlight>
                <a:latin typeface="Georgia"/>
                <a:ea typeface="Georgia"/>
                <a:cs typeface="Georgia"/>
                <a:sym typeface="Georgia"/>
              </a:rPr>
              <a:t>Ao manter a consciência do contexto, os firewalls com estado podiam tomar decisões mais informadas sobre quais pacotes permitir ou negar. Eles avaliavam não apenas o pacote em si, mas também sua relação com pacotes anteriores na mesma sessão. Isso era análogo a compreender não apenas frases, mas toda a conversação em um diálogo.</a:t>
            </a:r>
            <a:endParaRPr/>
          </a:p>
        </p:txBody>
      </p:sp>
      <p:sp>
        <p:nvSpPr>
          <p:cNvPr id="163" name="Google Shape;163;g359a85e772d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9a85e772d_1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59a85e772d_1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9a85e772d_1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400">
              <a:solidFill>
                <a:srgbClr val="141414"/>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SzPts val="1100"/>
              <a:buNone/>
            </a:pPr>
            <a:r>
              <a:t/>
            </a:r>
            <a:endParaRPr sz="1400">
              <a:solidFill>
                <a:srgbClr val="141414"/>
              </a:solidFill>
              <a:highlight>
                <a:srgbClr val="FFFFFF"/>
              </a:highlight>
              <a:latin typeface="Georgia"/>
              <a:ea typeface="Georgia"/>
              <a:cs typeface="Georgia"/>
              <a:sym typeface="Georgia"/>
            </a:endParaRPr>
          </a:p>
        </p:txBody>
      </p:sp>
      <p:sp>
        <p:nvSpPr>
          <p:cNvPr id="191" name="Google Shape;191;g359a85e772d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9a85e772d_1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59a85e772d_1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59a85e772d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59a85e772d_1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555abab97b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g3555abab97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55abab97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555abab97b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555abab97b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g3555abab97b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9a2d5afcc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59a2d5afcc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59a2d5afc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g359a2d5afcc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9a2d5afcc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59a2d5afcc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59a2d5afc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59a2d5afc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59a2d5afcc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359a2d5afcc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59a2d5afc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ICMPv4 - </a:t>
            </a:r>
            <a:r>
              <a:rPr lang="en-US" sz="1350">
                <a:solidFill>
                  <a:srgbClr val="EEF0FF"/>
                </a:solidFill>
                <a:highlight>
                  <a:srgbClr val="101218"/>
                </a:highlight>
              </a:rPr>
              <a:t>Ele </a:t>
            </a:r>
            <a:r>
              <a:rPr lang="en-US" sz="1350">
                <a:solidFill>
                  <a:schemeClr val="dk1"/>
                </a:solidFill>
                <a:highlight>
                  <a:srgbClr val="34457F"/>
                </a:highlight>
              </a:rPr>
              <a:t>serve para transmitir mensagens de controle entre dispositivos, como hosts e roteadores, com o objetivo de identificar problemas de rede, relatar erros e fornecer informações de status</a:t>
            </a:r>
            <a:endParaRPr/>
          </a:p>
        </p:txBody>
      </p:sp>
      <p:sp>
        <p:nvSpPr>
          <p:cNvPr id="347" name="Google Shape;347;g359a2d5afcc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59a85e772d_1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ICMPv4 - </a:t>
            </a:r>
            <a:r>
              <a:rPr lang="en-US" sz="1350">
                <a:solidFill>
                  <a:srgbClr val="EEF0FF"/>
                </a:solidFill>
                <a:highlight>
                  <a:srgbClr val="101218"/>
                </a:highlight>
              </a:rPr>
              <a:t>Ele </a:t>
            </a:r>
            <a:r>
              <a:rPr lang="en-US" sz="1350">
                <a:solidFill>
                  <a:schemeClr val="dk1"/>
                </a:solidFill>
                <a:highlight>
                  <a:srgbClr val="34457F"/>
                </a:highlight>
              </a:rPr>
              <a:t>serve para transmitir mensagens de controle entre dispositivos, como hosts e roteadores, com o objetivo de identificar problemas de rede, relatar erros e fornecer informações de status</a:t>
            </a:r>
            <a:endParaRPr/>
          </a:p>
        </p:txBody>
      </p:sp>
      <p:sp>
        <p:nvSpPr>
          <p:cNvPr id="361" name="Google Shape;361;g359a85e772d_1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7561289" y="8666140"/>
            <a:ext cx="3165421" cy="809423"/>
          </a:xfrm>
          <a:custGeom>
            <a:rect b="b" l="l" r="r" t="t"/>
            <a:pathLst>
              <a:path extrusionOk="0" h="809423" w="3165421">
                <a:moveTo>
                  <a:pt x="0" y="0"/>
                </a:moveTo>
                <a:lnTo>
                  <a:pt x="3165422" y="0"/>
                </a:lnTo>
                <a:lnTo>
                  <a:pt x="3165422" y="809423"/>
                </a:lnTo>
                <a:lnTo>
                  <a:pt x="0" y="80942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2800347" y="4261250"/>
            <a:ext cx="12687300" cy="11736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624"/>
              <a:buFont typeface="Arial"/>
              <a:buNone/>
            </a:pPr>
            <a:r>
              <a:rPr b="1" lang="en-US" sz="7624">
                <a:solidFill>
                  <a:srgbClr val="FFFFFF"/>
                </a:solidFill>
                <a:latin typeface="Poppins"/>
                <a:ea typeface="Poppins"/>
                <a:cs typeface="Poppins"/>
                <a:sym typeface="Poppins"/>
              </a:rPr>
              <a:t>FIREWALL</a:t>
            </a:r>
            <a:endParaRPr b="1" i="0" sz="7624" u="none" cap="none" strike="noStrike">
              <a:solidFill>
                <a:srgbClr val="FFFFFF"/>
              </a:solidFill>
              <a:latin typeface="Poppins"/>
              <a:ea typeface="Poppins"/>
              <a:cs typeface="Poppins"/>
              <a:sym typeface="Poppins"/>
            </a:endParaRPr>
          </a:p>
        </p:txBody>
      </p:sp>
      <p:sp>
        <p:nvSpPr>
          <p:cNvPr id="87" name="Google Shape;87;p1"/>
          <p:cNvSpPr txBox="1"/>
          <p:nvPr/>
        </p:nvSpPr>
        <p:spPr>
          <a:xfrm>
            <a:off x="7422396" y="962025"/>
            <a:ext cx="3337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FFFFFF"/>
                </a:solidFill>
                <a:latin typeface="Poppins"/>
                <a:ea typeface="Poppins"/>
                <a:cs typeface="Poppins"/>
                <a:sym typeface="Poppins"/>
              </a:rPr>
              <a:t>Professores:</a:t>
            </a:r>
            <a:endParaRPr b="1" i="0" sz="2400" u="none" cap="none" strike="noStrike">
              <a:solidFill>
                <a:srgbClr val="FFFFFF"/>
              </a:solidFill>
              <a:latin typeface="Poppins"/>
              <a:ea typeface="Poppins"/>
              <a:cs typeface="Poppins"/>
              <a:sym typeface="Poppins"/>
            </a:endParaRPr>
          </a:p>
        </p:txBody>
      </p:sp>
      <p:sp>
        <p:nvSpPr>
          <p:cNvPr id="88" name="Google Shape;88;p1"/>
          <p:cNvSpPr txBox="1"/>
          <p:nvPr/>
        </p:nvSpPr>
        <p:spPr>
          <a:xfrm>
            <a:off x="5977797" y="1499350"/>
            <a:ext cx="6332400" cy="14034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Poppins"/>
                <a:ea typeface="Poppins"/>
                <a:cs typeface="Poppins"/>
                <a:sym typeface="Poppins"/>
              </a:rPr>
              <a:t>Celso Giusti</a:t>
            </a:r>
            <a:endParaRPr b="0" i="0" sz="2400" u="none" cap="none" strike="noStrike">
              <a:solidFill>
                <a:srgbClr val="FFFFFF"/>
              </a:solidFill>
              <a:latin typeface="Poppins"/>
              <a:ea typeface="Poppins"/>
              <a:cs typeface="Poppins"/>
              <a:sym typeface="Poppins"/>
            </a:endParaRPr>
          </a:p>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Poppins"/>
                <a:ea typeface="Poppins"/>
                <a:cs typeface="Poppins"/>
                <a:sym typeface="Poppins"/>
              </a:rPr>
              <a:t>Daniel Manoel Filho</a:t>
            </a:r>
            <a:endParaRPr b="0" i="0" sz="2400" u="none" cap="none" strike="noStrike">
              <a:solidFill>
                <a:srgbClr val="FFFFFF"/>
              </a:solidFill>
              <a:latin typeface="Poppins"/>
              <a:ea typeface="Poppins"/>
              <a:cs typeface="Poppins"/>
              <a:sym typeface="Poppins"/>
            </a:endParaRPr>
          </a:p>
          <a:p>
            <a:pPr indent="0" lvl="0" marL="0" marR="0" rtl="0" algn="ctr">
              <a:lnSpc>
                <a:spcPct val="139958"/>
              </a:lnSpc>
              <a:spcBef>
                <a:spcPts val="0"/>
              </a:spcBef>
              <a:spcAft>
                <a:spcPts val="0"/>
              </a:spcAft>
              <a:buClr>
                <a:srgbClr val="000000"/>
              </a:buClr>
              <a:buSzPts val="2400"/>
              <a:buFont typeface="Arial"/>
              <a:buNone/>
            </a:pPr>
            <a:r>
              <a:rPr b="0" i="0" lang="en-US" sz="2400" u="none" cap="none" strike="noStrike">
                <a:solidFill>
                  <a:srgbClr val="FFFFFF"/>
                </a:solidFill>
                <a:latin typeface="Poppins"/>
                <a:ea typeface="Poppins"/>
                <a:cs typeface="Poppins"/>
                <a:sym typeface="Poppins"/>
              </a:rPr>
              <a:t>Marlon Palata Fanger Rodrigues</a:t>
            </a:r>
            <a:endParaRPr b="0" i="0" sz="2400" u="none" cap="none" strike="noStrike">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6"/>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95" name="Google Shape;95;p6"/>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96" name="Google Shape;96;p6"/>
          <p:cNvGrpSpPr/>
          <p:nvPr/>
        </p:nvGrpSpPr>
        <p:grpSpPr>
          <a:xfrm>
            <a:off x="1038175" y="2946624"/>
            <a:ext cx="16211658" cy="7299925"/>
            <a:chOff x="0" y="-38100"/>
            <a:chExt cx="4269709" cy="2000418"/>
          </a:xfrm>
        </p:grpSpPr>
        <p:sp>
          <p:nvSpPr>
            <p:cNvPr id="97" name="Google Shape;97;p6"/>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p6"/>
            <p:cNvSpPr txBox="1"/>
            <p:nvPr/>
          </p:nvSpPr>
          <p:spPr>
            <a:xfrm>
              <a:off x="0" y="-38100"/>
              <a:ext cx="4269709" cy="20004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9" name="Google Shape;99;p6"/>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O que é um Firewall?</a:t>
            </a:r>
            <a:endParaRPr b="0" i="0" sz="1400" u="none" cap="none" strike="noStrike">
              <a:solidFill>
                <a:srgbClr val="000000"/>
              </a:solidFill>
              <a:latin typeface="Arial"/>
              <a:ea typeface="Arial"/>
              <a:cs typeface="Arial"/>
              <a:sym typeface="Arial"/>
            </a:endParaRPr>
          </a:p>
        </p:txBody>
      </p:sp>
      <p:sp>
        <p:nvSpPr>
          <p:cNvPr id="100" name="Google Shape;100;p6"/>
          <p:cNvSpPr txBox="1"/>
          <p:nvPr/>
        </p:nvSpPr>
        <p:spPr>
          <a:xfrm>
            <a:off x="1685075" y="3237353"/>
            <a:ext cx="14443800" cy="2524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Clr>
                <a:srgbClr val="000000"/>
              </a:buClr>
              <a:buSzPts val="2400"/>
              <a:buFont typeface="Arial"/>
              <a:buNone/>
            </a:pPr>
            <a:r>
              <a:rPr lang="en-US" sz="2400">
                <a:latin typeface="Poppins"/>
                <a:ea typeface="Poppins"/>
                <a:cs typeface="Poppins"/>
                <a:sym typeface="Poppins"/>
              </a:rPr>
              <a:t>Um firewall é um sistema de segurança de rede que controla o tráfego de entrada e saída com base em regras de segurança predefinidas. </a:t>
            </a:r>
            <a:endParaRPr sz="2400">
              <a:latin typeface="Poppins"/>
              <a:ea typeface="Poppins"/>
              <a:cs typeface="Poppins"/>
              <a:sym typeface="Poppins"/>
            </a:endParaRPr>
          </a:p>
          <a:p>
            <a:pPr indent="0" lvl="0" marL="0" marR="0" rtl="0" algn="l">
              <a:lnSpc>
                <a:spcPct val="116666"/>
              </a:lnSpc>
              <a:spcBef>
                <a:spcPts val="0"/>
              </a:spcBef>
              <a:spcAft>
                <a:spcPts val="0"/>
              </a:spcAft>
              <a:buClr>
                <a:srgbClr val="000000"/>
              </a:buClr>
              <a:buSzPts val="2400"/>
              <a:buFont typeface="Arial"/>
              <a:buNone/>
            </a:pPr>
            <a:r>
              <a:t/>
            </a:r>
            <a:endParaRPr sz="2400">
              <a:latin typeface="Poppins"/>
              <a:ea typeface="Poppins"/>
              <a:cs typeface="Poppins"/>
              <a:sym typeface="Poppins"/>
            </a:endParaRPr>
          </a:p>
          <a:p>
            <a:pPr indent="0" lvl="0" marL="0" marR="0" rtl="0" algn="l">
              <a:lnSpc>
                <a:spcPct val="116666"/>
              </a:lnSpc>
              <a:spcBef>
                <a:spcPts val="0"/>
              </a:spcBef>
              <a:spcAft>
                <a:spcPts val="0"/>
              </a:spcAft>
              <a:buClr>
                <a:srgbClr val="000000"/>
              </a:buClr>
              <a:buSzPts val="2400"/>
              <a:buFont typeface="Arial"/>
              <a:buNone/>
            </a:pPr>
            <a:r>
              <a:rPr lang="en-US" sz="2400">
                <a:latin typeface="Poppins"/>
                <a:ea typeface="Poppins"/>
                <a:cs typeface="Poppins"/>
                <a:sym typeface="Poppins"/>
              </a:rPr>
              <a:t>Ele funciona como uma barreira entre uma rede confiável (como uma rede interna corporativa) e uma rede não confiável (como a internet), ajudando a bloquear acessos indesejados e possíveis ameaças.</a:t>
            </a:r>
            <a:endParaRPr b="0" i="0" sz="2400" u="none" cap="none" strike="noStrike">
              <a:solidFill>
                <a:srgbClr val="000000"/>
              </a:solidFill>
              <a:latin typeface="Poppins"/>
              <a:ea typeface="Poppins"/>
              <a:cs typeface="Poppins"/>
              <a:sym typeface="Poppins"/>
            </a:endParaRPr>
          </a:p>
        </p:txBody>
      </p:sp>
      <p:sp>
        <p:nvSpPr>
          <p:cNvPr id="101" name="Google Shape;101;p6"/>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6"/>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pic>
        <p:nvPicPr>
          <p:cNvPr id="103" name="Google Shape;103;p6"/>
          <p:cNvPicPr preferRelativeResize="0"/>
          <p:nvPr/>
        </p:nvPicPr>
        <p:blipFill>
          <a:blip r:embed="rId6">
            <a:alphaModFix/>
          </a:blip>
          <a:stretch>
            <a:fillRect/>
          </a:stretch>
        </p:blipFill>
        <p:spPr>
          <a:xfrm>
            <a:off x="13207225" y="6692775"/>
            <a:ext cx="3408349" cy="34083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59a85e772d_1_1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g359a85e772d_1_128"/>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0" name="Google Shape;110;g359a85e772d_1_128"/>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11" name="Google Shape;111;g359a85e772d_1_128"/>
          <p:cNvGrpSpPr/>
          <p:nvPr/>
        </p:nvGrpSpPr>
        <p:grpSpPr>
          <a:xfrm>
            <a:off x="1038175" y="2946624"/>
            <a:ext cx="16211658" cy="7299925"/>
            <a:chOff x="0" y="-38100"/>
            <a:chExt cx="4269709" cy="2000418"/>
          </a:xfrm>
        </p:grpSpPr>
        <p:sp>
          <p:nvSpPr>
            <p:cNvPr id="112" name="Google Shape;112;g359a85e772d_1_128"/>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g359a85e772d_1_128"/>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4" name="Google Shape;114;g359a85e772d_1_128"/>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Exemplo de Funcionamento</a:t>
            </a:r>
            <a:endParaRPr b="0" i="0" sz="1400" u="none" cap="none" strike="noStrike">
              <a:solidFill>
                <a:srgbClr val="000000"/>
              </a:solidFill>
              <a:latin typeface="Arial"/>
              <a:ea typeface="Arial"/>
              <a:cs typeface="Arial"/>
              <a:sym typeface="Arial"/>
            </a:endParaRPr>
          </a:p>
        </p:txBody>
      </p:sp>
      <p:sp>
        <p:nvSpPr>
          <p:cNvPr id="115" name="Google Shape;115;g359a85e772d_1_128"/>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g359a85e772d_1_128"/>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pic>
        <p:nvPicPr>
          <p:cNvPr id="117" name="Google Shape;117;g359a85e772d_1_128"/>
          <p:cNvPicPr preferRelativeResize="0"/>
          <p:nvPr/>
        </p:nvPicPr>
        <p:blipFill>
          <a:blip r:embed="rId6">
            <a:alphaModFix/>
          </a:blip>
          <a:stretch>
            <a:fillRect/>
          </a:stretch>
        </p:blipFill>
        <p:spPr>
          <a:xfrm>
            <a:off x="2655181" y="3296075"/>
            <a:ext cx="12977644" cy="72999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59a2d5afcc_0_1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g359a2d5afcc_0_116"/>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4" name="Google Shape;124;g359a2d5afcc_0_116"/>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25" name="Google Shape;125;g359a2d5afcc_0_116"/>
          <p:cNvGrpSpPr/>
          <p:nvPr/>
        </p:nvGrpSpPr>
        <p:grpSpPr>
          <a:xfrm>
            <a:off x="1038175" y="2946624"/>
            <a:ext cx="16211658" cy="7299925"/>
            <a:chOff x="0" y="-38100"/>
            <a:chExt cx="4269709" cy="2000418"/>
          </a:xfrm>
        </p:grpSpPr>
        <p:sp>
          <p:nvSpPr>
            <p:cNvPr id="126" name="Google Shape;126;g359a2d5afcc_0_116"/>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g359a2d5afcc_0_116"/>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8" name="Google Shape;128;g359a2d5afcc_0_116"/>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História do Firewall</a:t>
            </a:r>
            <a:endParaRPr b="0" i="0" sz="1400" u="none" cap="none" strike="noStrike">
              <a:solidFill>
                <a:srgbClr val="000000"/>
              </a:solidFill>
              <a:latin typeface="Arial"/>
              <a:ea typeface="Arial"/>
              <a:cs typeface="Arial"/>
              <a:sym typeface="Arial"/>
            </a:endParaRPr>
          </a:p>
        </p:txBody>
      </p:sp>
      <p:sp>
        <p:nvSpPr>
          <p:cNvPr id="129" name="Google Shape;129;g359a2d5afcc_0_116"/>
          <p:cNvSpPr txBox="1"/>
          <p:nvPr/>
        </p:nvSpPr>
        <p:spPr>
          <a:xfrm>
            <a:off x="1685075" y="3237353"/>
            <a:ext cx="14443800" cy="16623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Clr>
                <a:srgbClr val="000000"/>
              </a:buClr>
              <a:buSzPts val="2400"/>
              <a:buFont typeface="Arial"/>
              <a:buNone/>
            </a:pPr>
            <a:r>
              <a:rPr lang="en-US" sz="2400">
                <a:latin typeface="Poppins"/>
                <a:ea typeface="Poppins"/>
                <a:cs typeface="Poppins"/>
                <a:sym typeface="Poppins"/>
              </a:rPr>
              <a:t>A ideia surgiu no final dos </a:t>
            </a:r>
            <a:r>
              <a:rPr b="1" lang="en-US" sz="2400">
                <a:latin typeface="Poppins"/>
                <a:ea typeface="Poppins"/>
                <a:cs typeface="Poppins"/>
                <a:sym typeface="Poppins"/>
              </a:rPr>
              <a:t>anos</a:t>
            </a:r>
            <a:r>
              <a:rPr lang="en-US" sz="2400">
                <a:latin typeface="Poppins"/>
                <a:ea typeface="Poppins"/>
                <a:cs typeface="Poppins"/>
                <a:sym typeface="Poppins"/>
              </a:rPr>
              <a:t> </a:t>
            </a:r>
            <a:r>
              <a:rPr b="1" lang="en-US" sz="2400">
                <a:latin typeface="Poppins"/>
                <a:ea typeface="Poppins"/>
                <a:cs typeface="Poppins"/>
                <a:sym typeface="Poppins"/>
              </a:rPr>
              <a:t>80</a:t>
            </a:r>
            <a:r>
              <a:rPr lang="en-US" sz="2400">
                <a:latin typeface="Poppins"/>
                <a:ea typeface="Poppins"/>
                <a:cs typeface="Poppins"/>
                <a:sym typeface="Poppins"/>
              </a:rPr>
              <a:t> quando a internet começou a crescer, e as empresas começaram a se conectar. E logo surgiu a preocupação: “</a:t>
            </a:r>
            <a:r>
              <a:rPr b="1" lang="en-US" sz="2400">
                <a:latin typeface="Poppins"/>
                <a:ea typeface="Poppins"/>
                <a:cs typeface="Poppins"/>
                <a:sym typeface="Poppins"/>
              </a:rPr>
              <a:t>Como proteger nossos sistemas?</a:t>
            </a:r>
            <a:r>
              <a:rPr lang="en-US" sz="2400">
                <a:latin typeface="Poppins"/>
                <a:ea typeface="Poppins"/>
                <a:cs typeface="Poppins"/>
                <a:sym typeface="Poppins"/>
              </a:rPr>
              <a:t>”</a:t>
            </a:r>
            <a:endParaRPr sz="2400">
              <a:latin typeface="Poppins"/>
              <a:ea typeface="Poppins"/>
              <a:cs typeface="Poppins"/>
              <a:sym typeface="Poppins"/>
            </a:endParaRPr>
          </a:p>
          <a:p>
            <a:pPr indent="0" lvl="0" marL="0" marR="0" rtl="0" algn="l">
              <a:lnSpc>
                <a:spcPct val="116666"/>
              </a:lnSpc>
              <a:spcBef>
                <a:spcPts val="0"/>
              </a:spcBef>
              <a:spcAft>
                <a:spcPts val="0"/>
              </a:spcAft>
              <a:buClr>
                <a:srgbClr val="000000"/>
              </a:buClr>
              <a:buSzPts val="2400"/>
              <a:buFont typeface="Arial"/>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Após isso as empresas começaram a criar e expandir soluções que iremos ver agora.</a:t>
            </a:r>
            <a:endParaRPr i="0" sz="2400" u="none" cap="none" strike="noStrike">
              <a:solidFill>
                <a:srgbClr val="000000"/>
              </a:solidFill>
              <a:latin typeface="Poppins"/>
              <a:ea typeface="Poppins"/>
              <a:cs typeface="Poppins"/>
              <a:sym typeface="Poppins"/>
            </a:endParaRPr>
          </a:p>
        </p:txBody>
      </p:sp>
      <p:sp>
        <p:nvSpPr>
          <p:cNvPr id="130" name="Google Shape;130;g359a2d5afcc_0_116"/>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g359a2d5afcc_0_116"/>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pic>
        <p:nvPicPr>
          <p:cNvPr id="132" name="Google Shape;132;g359a2d5afcc_0_116"/>
          <p:cNvPicPr preferRelativeResize="0"/>
          <p:nvPr/>
        </p:nvPicPr>
        <p:blipFill>
          <a:blip r:embed="rId6">
            <a:alphaModFix/>
          </a:blip>
          <a:stretch>
            <a:fillRect/>
          </a:stretch>
        </p:blipFill>
        <p:spPr>
          <a:xfrm>
            <a:off x="4388763" y="4988900"/>
            <a:ext cx="9510470" cy="5346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59a85e772d_1_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g359a85e772d_1_2"/>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9" name="Google Shape;139;g359a85e772d_1_2"/>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40" name="Google Shape;140;g359a85e772d_1_2"/>
          <p:cNvGrpSpPr/>
          <p:nvPr/>
        </p:nvGrpSpPr>
        <p:grpSpPr>
          <a:xfrm>
            <a:off x="1038175" y="2946624"/>
            <a:ext cx="16211658" cy="7299925"/>
            <a:chOff x="0" y="-38100"/>
            <a:chExt cx="4269709" cy="2000418"/>
          </a:xfrm>
        </p:grpSpPr>
        <p:sp>
          <p:nvSpPr>
            <p:cNvPr id="141" name="Google Shape;141;g359a85e772d_1_2"/>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g359a85e772d_1_2"/>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3" name="Google Shape;143;g359a85e772d_1_2"/>
          <p:cNvSpPr txBox="1"/>
          <p:nvPr/>
        </p:nvSpPr>
        <p:spPr>
          <a:xfrm>
            <a:off x="2043300" y="1265250"/>
            <a:ext cx="14085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com Filtragem de Pacotes</a:t>
            </a:r>
            <a:endParaRPr b="0" i="0" sz="1400" u="none" cap="none" strike="noStrike">
              <a:solidFill>
                <a:srgbClr val="000000"/>
              </a:solidFill>
              <a:latin typeface="Arial"/>
              <a:ea typeface="Arial"/>
              <a:cs typeface="Arial"/>
              <a:sym typeface="Arial"/>
            </a:endParaRPr>
          </a:p>
        </p:txBody>
      </p:sp>
      <p:sp>
        <p:nvSpPr>
          <p:cNvPr id="144" name="Google Shape;144;g359a85e772d_1_2"/>
          <p:cNvSpPr txBox="1"/>
          <p:nvPr/>
        </p:nvSpPr>
        <p:spPr>
          <a:xfrm>
            <a:off x="1685075" y="3237353"/>
            <a:ext cx="14443800" cy="3817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Durante a década de 90 surgiu a primeira geração de Firewalls, os </a:t>
            </a:r>
            <a:r>
              <a:rPr b="1" lang="en-US" sz="2400">
                <a:latin typeface="Poppins"/>
                <a:ea typeface="Poppins"/>
                <a:cs typeface="Poppins"/>
                <a:sym typeface="Poppins"/>
              </a:rPr>
              <a:t>Packet Filtering Firewalls</a:t>
            </a:r>
            <a:r>
              <a:rPr lang="en-US" sz="2400">
                <a:latin typeface="Poppins"/>
                <a:ea typeface="Poppins"/>
                <a:cs typeface="Poppins"/>
                <a:sym typeface="Poppins"/>
              </a:rPr>
              <a:t>. A principal característica desse tipo de firewall é a inspeção de pacotes de forma individual, onde.</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Ele avalia os pacotes com base em regras predefinidas que consideram endereços de IP de </a:t>
            </a:r>
            <a:r>
              <a:rPr b="1" lang="en-US" sz="2400">
                <a:latin typeface="Poppins"/>
                <a:ea typeface="Poppins"/>
                <a:cs typeface="Poppins"/>
                <a:sym typeface="Poppins"/>
              </a:rPr>
              <a:t>origem </a:t>
            </a:r>
            <a:r>
              <a:rPr lang="en-US" sz="2400">
                <a:latin typeface="Poppins"/>
                <a:ea typeface="Poppins"/>
                <a:cs typeface="Poppins"/>
                <a:sym typeface="Poppins"/>
              </a:rPr>
              <a:t>e </a:t>
            </a:r>
            <a:r>
              <a:rPr b="1" lang="en-US" sz="2400">
                <a:latin typeface="Poppins"/>
                <a:ea typeface="Poppins"/>
                <a:cs typeface="Poppins"/>
                <a:sym typeface="Poppins"/>
              </a:rPr>
              <a:t>destino</a:t>
            </a:r>
            <a:r>
              <a:rPr lang="en-US" sz="2400">
                <a:latin typeface="Poppins"/>
                <a:ea typeface="Poppins"/>
                <a:cs typeface="Poppins"/>
                <a:sym typeface="Poppins"/>
              </a:rPr>
              <a:t>, números de porta e o protocolo utilizado, como TCP ou UDP.</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O processo era semelhante ao processo de entrega de encomendas, onde é verificado apenas o endereço do pacote, e não o conteúdo.</a:t>
            </a:r>
            <a:endParaRPr sz="2400">
              <a:latin typeface="Poppins"/>
              <a:ea typeface="Poppins"/>
              <a:cs typeface="Poppins"/>
              <a:sym typeface="Poppins"/>
            </a:endParaRPr>
          </a:p>
        </p:txBody>
      </p:sp>
      <p:sp>
        <p:nvSpPr>
          <p:cNvPr id="145" name="Google Shape;145;g359a85e772d_1_2"/>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g359a85e772d_1_2"/>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59a85e772d_1_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g359a85e772d_1_16"/>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53" name="Google Shape;153;g359a85e772d_1_16"/>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54" name="Google Shape;154;g359a85e772d_1_16"/>
          <p:cNvGrpSpPr/>
          <p:nvPr/>
        </p:nvGrpSpPr>
        <p:grpSpPr>
          <a:xfrm>
            <a:off x="1038175" y="2946624"/>
            <a:ext cx="16211658" cy="7299925"/>
            <a:chOff x="0" y="-38100"/>
            <a:chExt cx="4269709" cy="2000418"/>
          </a:xfrm>
        </p:grpSpPr>
        <p:sp>
          <p:nvSpPr>
            <p:cNvPr id="155" name="Google Shape;155;g359a85e772d_1_16"/>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g359a85e772d_1_16"/>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7" name="Google Shape;157;g359a85e772d_1_16"/>
          <p:cNvSpPr txBox="1"/>
          <p:nvPr/>
        </p:nvSpPr>
        <p:spPr>
          <a:xfrm>
            <a:off x="2043300" y="1265250"/>
            <a:ext cx="14085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com Filtragem de Pacotes</a:t>
            </a:r>
            <a:endParaRPr b="0" i="0" sz="1400" u="none" cap="none" strike="noStrike">
              <a:solidFill>
                <a:srgbClr val="000000"/>
              </a:solidFill>
              <a:latin typeface="Arial"/>
              <a:ea typeface="Arial"/>
              <a:cs typeface="Arial"/>
              <a:sym typeface="Arial"/>
            </a:endParaRPr>
          </a:p>
        </p:txBody>
      </p:sp>
      <p:sp>
        <p:nvSpPr>
          <p:cNvPr id="158" name="Google Shape;158;g359a85e772d_1_16"/>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g359a85e772d_1_16"/>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pic>
        <p:nvPicPr>
          <p:cNvPr id="160" name="Google Shape;160;g359a85e772d_1_16"/>
          <p:cNvPicPr preferRelativeResize="0"/>
          <p:nvPr/>
        </p:nvPicPr>
        <p:blipFill>
          <a:blip r:embed="rId6">
            <a:alphaModFix/>
          </a:blip>
          <a:stretch>
            <a:fillRect/>
          </a:stretch>
        </p:blipFill>
        <p:spPr>
          <a:xfrm>
            <a:off x="2989625" y="3169075"/>
            <a:ext cx="12192950" cy="68550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59a85e772d_1_4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g359a85e772d_1_43"/>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67" name="Google Shape;167;g359a85e772d_1_43"/>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68" name="Google Shape;168;g359a85e772d_1_43"/>
          <p:cNvGrpSpPr/>
          <p:nvPr/>
        </p:nvGrpSpPr>
        <p:grpSpPr>
          <a:xfrm>
            <a:off x="1038175" y="2946624"/>
            <a:ext cx="16211658" cy="7299925"/>
            <a:chOff x="0" y="-38100"/>
            <a:chExt cx="4269709" cy="2000418"/>
          </a:xfrm>
        </p:grpSpPr>
        <p:sp>
          <p:nvSpPr>
            <p:cNvPr id="169" name="Google Shape;169;g359a85e772d_1_43"/>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g359a85e772d_1_43"/>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g359a85e772d_1_43"/>
          <p:cNvSpPr txBox="1"/>
          <p:nvPr/>
        </p:nvSpPr>
        <p:spPr>
          <a:xfrm>
            <a:off x="2043300" y="1265250"/>
            <a:ext cx="14085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com Estado</a:t>
            </a:r>
            <a:endParaRPr b="0" i="0" sz="1400" u="none" cap="none" strike="noStrike">
              <a:solidFill>
                <a:srgbClr val="000000"/>
              </a:solidFill>
              <a:latin typeface="Arial"/>
              <a:ea typeface="Arial"/>
              <a:cs typeface="Arial"/>
              <a:sym typeface="Arial"/>
            </a:endParaRPr>
          </a:p>
        </p:txBody>
      </p:sp>
      <p:sp>
        <p:nvSpPr>
          <p:cNvPr id="172" name="Google Shape;172;g359a85e772d_1_43"/>
          <p:cNvSpPr txBox="1"/>
          <p:nvPr/>
        </p:nvSpPr>
        <p:spPr>
          <a:xfrm>
            <a:off x="1685075" y="3237353"/>
            <a:ext cx="14443800" cy="3817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No ínicio dos anos 2000 surgiram os firewalls de segunda geração, que possuem </a:t>
            </a:r>
            <a:r>
              <a:rPr b="1" lang="en-US" sz="2400">
                <a:latin typeface="Poppins"/>
                <a:ea typeface="Poppins"/>
                <a:cs typeface="Poppins"/>
                <a:sym typeface="Poppins"/>
              </a:rPr>
              <a:t>estado</a:t>
            </a:r>
            <a:r>
              <a:rPr lang="en-US" sz="2400">
                <a:latin typeface="Poppins"/>
                <a:ea typeface="Poppins"/>
                <a:cs typeface="Poppins"/>
                <a:sym typeface="Poppins"/>
              </a:rPr>
              <a:t>.</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Eles trouxeram uma grande evolução em relação a primeira geração, sendo capaz de monitorar o estado das conexões ativas e determinando o contexto do tráfego de rede.</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O </a:t>
            </a:r>
            <a:r>
              <a:rPr b="1" lang="en-US" sz="2400">
                <a:latin typeface="Poppins"/>
                <a:ea typeface="Poppins"/>
                <a:cs typeface="Poppins"/>
                <a:sym typeface="Poppins"/>
              </a:rPr>
              <a:t>conceito principal </a:t>
            </a:r>
            <a:r>
              <a:rPr lang="en-US" sz="2400">
                <a:latin typeface="Poppins"/>
                <a:ea typeface="Poppins"/>
                <a:cs typeface="Poppins"/>
                <a:sym typeface="Poppins"/>
              </a:rPr>
              <a:t>desse tipo de firewall é baseava-se em que </a:t>
            </a:r>
            <a:r>
              <a:rPr b="1" lang="en-US" sz="2400">
                <a:latin typeface="Poppins"/>
                <a:ea typeface="Poppins"/>
                <a:cs typeface="Poppins"/>
                <a:sym typeface="Poppins"/>
              </a:rPr>
              <a:t>nem todos os pacotes são entidades independentes</a:t>
            </a:r>
            <a:r>
              <a:rPr lang="en-US" sz="2400">
                <a:latin typeface="Poppins"/>
                <a:ea typeface="Poppins"/>
                <a:cs typeface="Poppins"/>
                <a:sym typeface="Poppins"/>
              </a:rPr>
              <a:t>; muitos fazem parte de uma comunicação maior entre hosts.</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p:txBody>
      </p:sp>
      <p:sp>
        <p:nvSpPr>
          <p:cNvPr id="173" name="Google Shape;173;g359a85e772d_1_43"/>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g359a85e772d_1_43"/>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59a85e772d_1_5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g359a85e772d_1_57"/>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81" name="Google Shape;181;g359a85e772d_1_57"/>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82" name="Google Shape;182;g359a85e772d_1_57"/>
          <p:cNvGrpSpPr/>
          <p:nvPr/>
        </p:nvGrpSpPr>
        <p:grpSpPr>
          <a:xfrm>
            <a:off x="1038175" y="2946624"/>
            <a:ext cx="16211658" cy="7299925"/>
            <a:chOff x="0" y="-38100"/>
            <a:chExt cx="4269709" cy="2000418"/>
          </a:xfrm>
        </p:grpSpPr>
        <p:sp>
          <p:nvSpPr>
            <p:cNvPr id="183" name="Google Shape;183;g359a85e772d_1_57"/>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g359a85e772d_1_57"/>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g359a85e772d_1_57"/>
          <p:cNvSpPr txBox="1"/>
          <p:nvPr/>
        </p:nvSpPr>
        <p:spPr>
          <a:xfrm>
            <a:off x="2043300" y="1265250"/>
            <a:ext cx="14085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com Estado</a:t>
            </a:r>
            <a:endParaRPr b="0" i="0" sz="1400" u="none" cap="none" strike="noStrike">
              <a:solidFill>
                <a:srgbClr val="000000"/>
              </a:solidFill>
              <a:latin typeface="Arial"/>
              <a:ea typeface="Arial"/>
              <a:cs typeface="Arial"/>
              <a:sym typeface="Arial"/>
            </a:endParaRPr>
          </a:p>
        </p:txBody>
      </p:sp>
      <p:sp>
        <p:nvSpPr>
          <p:cNvPr id="186" name="Google Shape;186;g359a85e772d_1_57"/>
          <p:cNvSpPr txBox="1"/>
          <p:nvPr/>
        </p:nvSpPr>
        <p:spPr>
          <a:xfrm>
            <a:off x="1685075" y="3237353"/>
            <a:ext cx="14443800" cy="20934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Os firewall com estado são capazes de rastrear o estado das conexões de rede (como fluxos TCP ou comunicação UDP) mantendo uma  </a:t>
            </a:r>
            <a:r>
              <a:rPr b="1" lang="en-US" sz="2400">
                <a:latin typeface="Poppins"/>
                <a:ea typeface="Poppins"/>
                <a:cs typeface="Poppins"/>
                <a:sym typeface="Poppins"/>
              </a:rPr>
              <a:t>tabela de estados</a:t>
            </a:r>
            <a:r>
              <a:rPr lang="en-US" sz="2400">
                <a:latin typeface="Poppins"/>
                <a:ea typeface="Poppins"/>
                <a:cs typeface="Poppins"/>
                <a:sym typeface="Poppins"/>
              </a:rPr>
              <a:t>.</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Essa tabela registra todas as conexões em andamento e podia verificar se um pacote recebido fazia parte de uma sessão estabelecida</a:t>
            </a:r>
            <a:r>
              <a:rPr lang="en-US">
                <a:solidFill>
                  <a:srgbClr val="141414"/>
                </a:solidFill>
                <a:highlight>
                  <a:srgbClr val="FFFFFF"/>
                </a:highlight>
                <a:latin typeface="Georgia"/>
                <a:ea typeface="Georgia"/>
                <a:cs typeface="Georgia"/>
                <a:sym typeface="Georgia"/>
              </a:rPr>
              <a:t>.</a:t>
            </a:r>
            <a:endParaRPr sz="2400">
              <a:latin typeface="Poppins"/>
              <a:ea typeface="Poppins"/>
              <a:cs typeface="Poppins"/>
              <a:sym typeface="Poppins"/>
            </a:endParaRPr>
          </a:p>
        </p:txBody>
      </p:sp>
      <p:sp>
        <p:nvSpPr>
          <p:cNvPr id="187" name="Google Shape;187;g359a85e772d_1_57"/>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g359a85e772d_1_57"/>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59a85e772d_1_7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g359a85e772d_1_72"/>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95" name="Google Shape;195;g359a85e772d_1_72"/>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196" name="Google Shape;196;g359a85e772d_1_72"/>
          <p:cNvGrpSpPr/>
          <p:nvPr/>
        </p:nvGrpSpPr>
        <p:grpSpPr>
          <a:xfrm>
            <a:off x="1038175" y="2946624"/>
            <a:ext cx="16211658" cy="7299925"/>
            <a:chOff x="0" y="-38100"/>
            <a:chExt cx="4269709" cy="2000418"/>
          </a:xfrm>
        </p:grpSpPr>
        <p:sp>
          <p:nvSpPr>
            <p:cNvPr id="197" name="Google Shape;197;g359a85e772d_1_72"/>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g359a85e772d_1_72"/>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9" name="Google Shape;199;g359a85e772d_1_72"/>
          <p:cNvSpPr txBox="1"/>
          <p:nvPr/>
        </p:nvSpPr>
        <p:spPr>
          <a:xfrm>
            <a:off x="2043300" y="1265250"/>
            <a:ext cx="14085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de Aplicação</a:t>
            </a:r>
            <a:endParaRPr b="0" i="0" sz="1400" u="none" cap="none" strike="noStrike">
              <a:solidFill>
                <a:srgbClr val="000000"/>
              </a:solidFill>
              <a:latin typeface="Arial"/>
              <a:ea typeface="Arial"/>
              <a:cs typeface="Arial"/>
              <a:sym typeface="Arial"/>
            </a:endParaRPr>
          </a:p>
        </p:txBody>
      </p:sp>
      <p:sp>
        <p:nvSpPr>
          <p:cNvPr id="200" name="Google Shape;200;g359a85e772d_1_72"/>
          <p:cNvSpPr txBox="1"/>
          <p:nvPr/>
        </p:nvSpPr>
        <p:spPr>
          <a:xfrm>
            <a:off x="1685075" y="3237353"/>
            <a:ext cx="14443800" cy="2524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Ainda em 2000, </a:t>
            </a:r>
            <a:r>
              <a:rPr lang="en-US" sz="2400">
                <a:latin typeface="Poppins"/>
                <a:ea typeface="Poppins"/>
                <a:cs typeface="Poppins"/>
                <a:sym typeface="Poppins"/>
              </a:rPr>
              <a:t>surgiu </a:t>
            </a:r>
            <a:r>
              <a:rPr lang="en-US" sz="2400">
                <a:latin typeface="Poppins"/>
                <a:ea typeface="Poppins"/>
                <a:cs typeface="Poppins"/>
                <a:sym typeface="Poppins"/>
              </a:rPr>
              <a:t> o Firewall de Aplicação. Com a crescente necessidade de segurança em nível de aplicação devido ao aumento de ataques sofisticados baseados na WEB.</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Eles aprimoraram o Firewall de Estado com recursos adicionais para analisar e filtrar o tráfego com base nos dados da aplicação , levando à criação dos sistemas de Gerenciamento Unificado de Ameaças (</a:t>
            </a:r>
            <a:r>
              <a:rPr b="1" lang="en-US" sz="2400">
                <a:latin typeface="Poppins"/>
                <a:ea typeface="Poppins"/>
                <a:cs typeface="Poppins"/>
                <a:sym typeface="Poppins"/>
              </a:rPr>
              <a:t>UTM</a:t>
            </a:r>
            <a:r>
              <a:rPr lang="en-US" sz="2400">
                <a:latin typeface="Poppins"/>
                <a:ea typeface="Poppins"/>
                <a:cs typeface="Poppins"/>
                <a:sym typeface="Poppins"/>
              </a:rPr>
              <a:t>).</a:t>
            </a:r>
            <a:endParaRPr sz="2400">
              <a:latin typeface="Poppins"/>
              <a:ea typeface="Poppins"/>
              <a:cs typeface="Poppins"/>
              <a:sym typeface="Poppins"/>
            </a:endParaRPr>
          </a:p>
        </p:txBody>
      </p:sp>
      <p:sp>
        <p:nvSpPr>
          <p:cNvPr id="201" name="Google Shape;201;g359a85e772d_1_72"/>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g359a85e772d_1_72"/>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59a85e772d_1_8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359a85e772d_1_85"/>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09" name="Google Shape;209;g359a85e772d_1_85"/>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10" name="Google Shape;210;g359a85e772d_1_85"/>
          <p:cNvGrpSpPr/>
          <p:nvPr/>
        </p:nvGrpSpPr>
        <p:grpSpPr>
          <a:xfrm>
            <a:off x="1038175" y="2946624"/>
            <a:ext cx="16211658" cy="7299925"/>
            <a:chOff x="0" y="-38100"/>
            <a:chExt cx="4269709" cy="2000418"/>
          </a:xfrm>
        </p:grpSpPr>
        <p:sp>
          <p:nvSpPr>
            <p:cNvPr id="211" name="Google Shape;211;g359a85e772d_1_85"/>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g359a85e772d_1_85"/>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3" name="Google Shape;213;g359a85e772d_1_85"/>
          <p:cNvSpPr txBox="1"/>
          <p:nvPr/>
        </p:nvSpPr>
        <p:spPr>
          <a:xfrm>
            <a:off x="2043300" y="1265250"/>
            <a:ext cx="14085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UTM</a:t>
            </a:r>
            <a:endParaRPr b="0" i="0" sz="1400" u="none" cap="none" strike="noStrike">
              <a:solidFill>
                <a:srgbClr val="000000"/>
              </a:solidFill>
              <a:latin typeface="Arial"/>
              <a:ea typeface="Arial"/>
              <a:cs typeface="Arial"/>
              <a:sym typeface="Arial"/>
            </a:endParaRPr>
          </a:p>
        </p:txBody>
      </p:sp>
      <p:sp>
        <p:nvSpPr>
          <p:cNvPr id="214" name="Google Shape;214;g359a85e772d_1_85"/>
          <p:cNvSpPr txBox="1"/>
          <p:nvPr/>
        </p:nvSpPr>
        <p:spPr>
          <a:xfrm>
            <a:off x="1685075" y="3237353"/>
            <a:ext cx="14443800" cy="33864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Os UTMs combinavam uma série de recursos do firewal com antívirus de gateway, detecção de intrusão e filtragem de spam</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A inspeção de pacotes com estado dos UTMs permitia o tráfego de entrada e saída na rede, enquanto um proxy web filtrava o conteúdo e fazia a varredura com serviços antivírus. </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Um sistema de prevenção de intrusão (IPS) separado detectava e bloqueava tráfego malicioso..</a:t>
            </a:r>
            <a:endParaRPr sz="2400">
              <a:latin typeface="Poppins"/>
              <a:ea typeface="Poppins"/>
              <a:cs typeface="Poppins"/>
              <a:sym typeface="Poppins"/>
            </a:endParaRPr>
          </a:p>
        </p:txBody>
      </p:sp>
      <p:sp>
        <p:nvSpPr>
          <p:cNvPr id="215" name="Google Shape;215;g359a85e772d_1_85"/>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g359a85e772d_1_85"/>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59a85e772d_1_9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g359a85e772d_1_99"/>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23" name="Google Shape;223;g359a85e772d_1_99"/>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24" name="Google Shape;224;g359a85e772d_1_99"/>
          <p:cNvGrpSpPr/>
          <p:nvPr/>
        </p:nvGrpSpPr>
        <p:grpSpPr>
          <a:xfrm>
            <a:off x="1038175" y="2946624"/>
            <a:ext cx="16211658" cy="7299925"/>
            <a:chOff x="0" y="-38100"/>
            <a:chExt cx="4269709" cy="2000418"/>
          </a:xfrm>
        </p:grpSpPr>
        <p:sp>
          <p:nvSpPr>
            <p:cNvPr id="225" name="Google Shape;225;g359a85e772d_1_99"/>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g359a85e772d_1_99"/>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7" name="Google Shape;227;g359a85e772d_1_99"/>
          <p:cNvSpPr txBox="1"/>
          <p:nvPr/>
        </p:nvSpPr>
        <p:spPr>
          <a:xfrm>
            <a:off x="2043300" y="1265250"/>
            <a:ext cx="14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de Próxima Geração</a:t>
            </a:r>
            <a:endParaRPr b="0" i="0" sz="1400" u="none" cap="none" strike="noStrike">
              <a:solidFill>
                <a:srgbClr val="000000"/>
              </a:solidFill>
              <a:latin typeface="Arial"/>
              <a:ea typeface="Arial"/>
              <a:cs typeface="Arial"/>
              <a:sym typeface="Arial"/>
            </a:endParaRPr>
          </a:p>
        </p:txBody>
      </p:sp>
      <p:sp>
        <p:nvSpPr>
          <p:cNvPr id="228" name="Google Shape;228;g359a85e772d_1_99"/>
          <p:cNvSpPr txBox="1"/>
          <p:nvPr/>
        </p:nvSpPr>
        <p:spPr>
          <a:xfrm>
            <a:off x="1685075" y="3237353"/>
            <a:ext cx="14443800" cy="3817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Em 2008 a </a:t>
            </a:r>
            <a:r>
              <a:rPr b="1" lang="en-US" sz="2400">
                <a:latin typeface="Poppins"/>
                <a:ea typeface="Poppins"/>
                <a:cs typeface="Poppins"/>
                <a:sym typeface="Poppins"/>
              </a:rPr>
              <a:t>Palo Alto Networks</a:t>
            </a:r>
            <a:r>
              <a:rPr lang="en-US" sz="2400">
                <a:latin typeface="Poppins"/>
                <a:ea typeface="Poppins"/>
                <a:cs typeface="Poppins"/>
                <a:sym typeface="Poppins"/>
              </a:rPr>
              <a:t> lançou o primeiro firewall de próxima geração (NGFW) do setor.</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Nessa nova era na segurança os firewall não se limitavam mais a filtrar portas e endereços de IP, mas também eram capazes de realizar inspeções mais profundas para tomada de decisões.</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Os NGFWs introduziram sistemas integrados de prevenção de intrusão (IPS), visibilidade completa da pilha e a capacidade de aplicar políticas de segurança com base em aplicativos, usuários e conteúdo</a:t>
            </a:r>
            <a:r>
              <a:rPr lang="en-US">
                <a:solidFill>
                  <a:srgbClr val="141414"/>
                </a:solidFill>
                <a:highlight>
                  <a:srgbClr val="FFFFFF"/>
                </a:highlight>
                <a:latin typeface="Georgia"/>
                <a:ea typeface="Georgia"/>
                <a:cs typeface="Georgia"/>
                <a:sym typeface="Georgia"/>
              </a:rPr>
              <a:t>. </a:t>
            </a:r>
            <a:endParaRPr sz="2400">
              <a:latin typeface="Poppins"/>
              <a:ea typeface="Poppins"/>
              <a:cs typeface="Poppins"/>
              <a:sym typeface="Poppins"/>
            </a:endParaRPr>
          </a:p>
        </p:txBody>
      </p:sp>
      <p:sp>
        <p:nvSpPr>
          <p:cNvPr id="229" name="Google Shape;229;g359a85e772d_1_99"/>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g359a85e772d_1_99"/>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555abab97b_0_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g3555abab97b_0_20"/>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37" name="Google Shape;237;g3555abab97b_0_20"/>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38" name="Google Shape;238;g3555abab97b_0_20"/>
          <p:cNvGrpSpPr/>
          <p:nvPr/>
        </p:nvGrpSpPr>
        <p:grpSpPr>
          <a:xfrm>
            <a:off x="1038175" y="2946624"/>
            <a:ext cx="16211658" cy="7299925"/>
            <a:chOff x="0" y="-38100"/>
            <a:chExt cx="4269709" cy="2000418"/>
          </a:xfrm>
        </p:grpSpPr>
        <p:sp>
          <p:nvSpPr>
            <p:cNvPr id="239" name="Google Shape;239;g3555abab97b_0_20"/>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g3555abab97b_0_20"/>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1" name="Google Shape;241;g3555abab97b_0_20"/>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de Hardware</a:t>
            </a:r>
            <a:endParaRPr b="0" i="0" sz="1400" u="none" cap="none" strike="noStrike">
              <a:solidFill>
                <a:srgbClr val="000000"/>
              </a:solidFill>
              <a:latin typeface="Arial"/>
              <a:ea typeface="Arial"/>
              <a:cs typeface="Arial"/>
              <a:sym typeface="Arial"/>
            </a:endParaRPr>
          </a:p>
        </p:txBody>
      </p:sp>
      <p:sp>
        <p:nvSpPr>
          <p:cNvPr id="242" name="Google Shape;242;g3555abab97b_0_20"/>
          <p:cNvSpPr txBox="1"/>
          <p:nvPr/>
        </p:nvSpPr>
        <p:spPr>
          <a:xfrm>
            <a:off x="1685075" y="3237353"/>
            <a:ext cx="14443800" cy="16623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Clr>
                <a:srgbClr val="000000"/>
              </a:buClr>
              <a:buSzPts val="2400"/>
              <a:buFont typeface="Arial"/>
              <a:buNone/>
            </a:pPr>
            <a:r>
              <a:rPr lang="en-US" sz="2400">
                <a:latin typeface="Poppins"/>
                <a:ea typeface="Poppins"/>
                <a:cs typeface="Poppins"/>
                <a:sym typeface="Poppins"/>
              </a:rPr>
              <a:t>Os roteadores domésticos modernos (como TP-Link, D-Link, Intelbras, etc.) normalmente já vêm com um firewall embutido, que faz o que chamamos de filtragem de pacotes. Isso funciona de forma parecida com o firewall "packet filtering" que vimos antes.</a:t>
            </a:r>
            <a:endParaRPr sz="2400">
              <a:latin typeface="Poppins"/>
              <a:ea typeface="Poppins"/>
              <a:cs typeface="Poppins"/>
              <a:sym typeface="Poppins"/>
            </a:endParaRPr>
          </a:p>
          <a:p>
            <a:pPr indent="0" lvl="0" marL="0" marR="0" rtl="0" algn="l">
              <a:lnSpc>
                <a:spcPct val="116666"/>
              </a:lnSpc>
              <a:spcBef>
                <a:spcPts val="0"/>
              </a:spcBef>
              <a:spcAft>
                <a:spcPts val="0"/>
              </a:spcAft>
              <a:buClr>
                <a:srgbClr val="000000"/>
              </a:buClr>
              <a:buSzPts val="2400"/>
              <a:buFont typeface="Arial"/>
              <a:buNone/>
            </a:pPr>
            <a:r>
              <a:t/>
            </a:r>
            <a:endParaRPr sz="2400">
              <a:latin typeface="Poppins"/>
              <a:ea typeface="Poppins"/>
              <a:cs typeface="Poppins"/>
              <a:sym typeface="Poppins"/>
            </a:endParaRPr>
          </a:p>
        </p:txBody>
      </p:sp>
      <p:sp>
        <p:nvSpPr>
          <p:cNvPr id="243" name="Google Shape;243;g3555abab97b_0_20"/>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g3555abab97b_0_20"/>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555abab97b_0_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g3555abab97b_0_3"/>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51" name="Google Shape;251;g3555abab97b_0_3"/>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52" name="Google Shape;252;g3555abab97b_0_3"/>
          <p:cNvGrpSpPr/>
          <p:nvPr/>
        </p:nvGrpSpPr>
        <p:grpSpPr>
          <a:xfrm>
            <a:off x="1038175" y="2946624"/>
            <a:ext cx="16211658" cy="7299925"/>
            <a:chOff x="0" y="-38100"/>
            <a:chExt cx="4269709" cy="2000418"/>
          </a:xfrm>
        </p:grpSpPr>
        <p:sp>
          <p:nvSpPr>
            <p:cNvPr id="253" name="Google Shape;253;g3555abab97b_0_3"/>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g3555abab97b_0_3"/>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5" name="Google Shape;255;g3555abab97b_0_3"/>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Firewall Nativo do SO</a:t>
            </a:r>
            <a:endParaRPr b="0" i="0" sz="1400" u="none" cap="none" strike="noStrike">
              <a:solidFill>
                <a:srgbClr val="000000"/>
              </a:solidFill>
              <a:latin typeface="Arial"/>
              <a:ea typeface="Arial"/>
              <a:cs typeface="Arial"/>
              <a:sym typeface="Arial"/>
            </a:endParaRPr>
          </a:p>
        </p:txBody>
      </p:sp>
      <p:sp>
        <p:nvSpPr>
          <p:cNvPr id="256" name="Google Shape;256;g3555abab97b_0_3"/>
          <p:cNvSpPr txBox="1"/>
          <p:nvPr/>
        </p:nvSpPr>
        <p:spPr>
          <a:xfrm>
            <a:off x="1685075" y="3237353"/>
            <a:ext cx="14443800" cy="20934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Um firewall nativo de sistema operacional é um software de segurança integrado diretamente ao sistema operacional (SO) de um computador ou dispositivo. </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Sua principal função é monitorar e controlar o tráfego de rede de entrada e saída, com base em um conjunto predefinido de regras de segurança.</a:t>
            </a:r>
            <a:endParaRPr b="0" i="0" sz="2400" u="none" cap="none" strike="noStrike">
              <a:solidFill>
                <a:srgbClr val="000000"/>
              </a:solidFill>
              <a:latin typeface="Poppins"/>
              <a:ea typeface="Poppins"/>
              <a:cs typeface="Poppins"/>
              <a:sym typeface="Poppins"/>
            </a:endParaRPr>
          </a:p>
        </p:txBody>
      </p:sp>
      <p:sp>
        <p:nvSpPr>
          <p:cNvPr id="257" name="Google Shape;257;g3555abab97b_0_3"/>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g3555abab97b_0_3"/>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555abab97b_0_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g3555abab97b_0_38"/>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5" name="Google Shape;265;g3555abab97b_0_38"/>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66" name="Google Shape;266;g3555abab97b_0_38"/>
          <p:cNvGrpSpPr/>
          <p:nvPr/>
        </p:nvGrpSpPr>
        <p:grpSpPr>
          <a:xfrm>
            <a:off x="1038175" y="2946624"/>
            <a:ext cx="16211658" cy="7299925"/>
            <a:chOff x="0" y="-38100"/>
            <a:chExt cx="4269709" cy="2000418"/>
          </a:xfrm>
        </p:grpSpPr>
        <p:sp>
          <p:nvSpPr>
            <p:cNvPr id="267" name="Google Shape;267;g3555abab97b_0_38"/>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g3555abab97b_0_38"/>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9" name="Google Shape;269;g3555abab97b_0_38"/>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Aplicação do Firewall Windows</a:t>
            </a:r>
            <a:endParaRPr b="0" i="0" sz="1400" u="none" cap="none" strike="noStrike">
              <a:solidFill>
                <a:srgbClr val="000000"/>
              </a:solidFill>
              <a:latin typeface="Arial"/>
              <a:ea typeface="Arial"/>
              <a:cs typeface="Arial"/>
              <a:sym typeface="Arial"/>
            </a:endParaRPr>
          </a:p>
        </p:txBody>
      </p:sp>
      <p:sp>
        <p:nvSpPr>
          <p:cNvPr id="270" name="Google Shape;270;g3555abab97b_0_38"/>
          <p:cNvSpPr txBox="1"/>
          <p:nvPr/>
        </p:nvSpPr>
        <p:spPr>
          <a:xfrm>
            <a:off x="1685075" y="3237353"/>
            <a:ext cx="14443800" cy="33864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As principais aplicações do Windows Defender são:</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Proteger o sistema contra acessos não autorizados;</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Controlar quais programas podem se comunicar pela rede/internet</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Definir restrições específicas para portas, endereços de IP, protocolos ou aplicativos;</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t/>
            </a:r>
            <a:endParaRPr sz="2400">
              <a:latin typeface="Poppins"/>
              <a:ea typeface="Poppins"/>
              <a:cs typeface="Poppins"/>
              <a:sym typeface="Poppins"/>
            </a:endParaRPr>
          </a:p>
        </p:txBody>
      </p:sp>
      <p:sp>
        <p:nvSpPr>
          <p:cNvPr id="271" name="Google Shape;271;g3555abab97b_0_38"/>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g3555abab97b_0_38"/>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59a2d5afcc_0_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g359a2d5afcc_0_3"/>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79" name="Google Shape;279;g359a2d5afcc_0_3"/>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80" name="Google Shape;280;g359a2d5afcc_0_3"/>
          <p:cNvGrpSpPr/>
          <p:nvPr/>
        </p:nvGrpSpPr>
        <p:grpSpPr>
          <a:xfrm>
            <a:off x="1038175" y="2946624"/>
            <a:ext cx="16211658" cy="7299925"/>
            <a:chOff x="0" y="-38100"/>
            <a:chExt cx="4269709" cy="2000418"/>
          </a:xfrm>
        </p:grpSpPr>
        <p:sp>
          <p:nvSpPr>
            <p:cNvPr id="281" name="Google Shape;281;g359a2d5afcc_0_3"/>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g359a2d5afcc_0_3"/>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3" name="Google Shape;283;g359a2d5afcc_0_3"/>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Windows Defender</a:t>
            </a:r>
            <a:endParaRPr b="0" i="0" sz="1400" u="none" cap="none" strike="noStrike">
              <a:solidFill>
                <a:srgbClr val="000000"/>
              </a:solidFill>
              <a:latin typeface="Arial"/>
              <a:ea typeface="Arial"/>
              <a:cs typeface="Arial"/>
              <a:sym typeface="Arial"/>
            </a:endParaRPr>
          </a:p>
        </p:txBody>
      </p:sp>
      <p:sp>
        <p:nvSpPr>
          <p:cNvPr id="284" name="Google Shape;284;g359a2d5afcc_0_3"/>
          <p:cNvSpPr txBox="1"/>
          <p:nvPr/>
        </p:nvSpPr>
        <p:spPr>
          <a:xfrm>
            <a:off x="1685075" y="3237353"/>
            <a:ext cx="14443800" cy="12315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Vamos conhecer um pouco mais sobre o Windows Defender.</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Acessem o firewall pelo painel de controle do Windows ou digitando “Firewall” no menu iniciar..</a:t>
            </a:r>
            <a:endParaRPr sz="2400">
              <a:latin typeface="Poppins"/>
              <a:ea typeface="Poppins"/>
              <a:cs typeface="Poppins"/>
              <a:sym typeface="Poppins"/>
            </a:endParaRPr>
          </a:p>
        </p:txBody>
      </p:sp>
      <p:sp>
        <p:nvSpPr>
          <p:cNvPr id="285" name="Google Shape;285;g359a2d5afcc_0_3"/>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g359a2d5afcc_0_3"/>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pic>
        <p:nvPicPr>
          <p:cNvPr id="287" name="Google Shape;287;g359a2d5afcc_0_3"/>
          <p:cNvPicPr preferRelativeResize="0"/>
          <p:nvPr/>
        </p:nvPicPr>
        <p:blipFill>
          <a:blip r:embed="rId6">
            <a:alphaModFix/>
          </a:blip>
          <a:stretch>
            <a:fillRect/>
          </a:stretch>
        </p:blipFill>
        <p:spPr>
          <a:xfrm>
            <a:off x="4894913" y="5287197"/>
            <a:ext cx="8498176" cy="44229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59a2d5afcc_0_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3" name="Google Shape;293;g359a2d5afcc_0_17"/>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94" name="Google Shape;294;g359a2d5afcc_0_17"/>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295" name="Google Shape;295;g359a2d5afcc_0_17"/>
          <p:cNvGrpSpPr/>
          <p:nvPr/>
        </p:nvGrpSpPr>
        <p:grpSpPr>
          <a:xfrm>
            <a:off x="1038175" y="2946624"/>
            <a:ext cx="16211658" cy="7299925"/>
            <a:chOff x="0" y="-38100"/>
            <a:chExt cx="4269709" cy="2000418"/>
          </a:xfrm>
        </p:grpSpPr>
        <p:sp>
          <p:nvSpPr>
            <p:cNvPr id="296" name="Google Shape;296;g359a2d5afcc_0_17"/>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7" name="Google Shape;297;g359a2d5afcc_0_17"/>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8" name="Google Shape;298;g359a2d5afcc_0_17"/>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Windows Defender</a:t>
            </a:r>
            <a:endParaRPr b="0" i="0" sz="1400" u="none" cap="none" strike="noStrike">
              <a:solidFill>
                <a:srgbClr val="000000"/>
              </a:solidFill>
              <a:latin typeface="Arial"/>
              <a:ea typeface="Arial"/>
              <a:cs typeface="Arial"/>
              <a:sym typeface="Arial"/>
            </a:endParaRPr>
          </a:p>
        </p:txBody>
      </p:sp>
      <p:sp>
        <p:nvSpPr>
          <p:cNvPr id="299" name="Google Shape;299;g359a2d5afcc_0_17"/>
          <p:cNvSpPr txBox="1"/>
          <p:nvPr/>
        </p:nvSpPr>
        <p:spPr>
          <a:xfrm>
            <a:off x="1685075" y="3237353"/>
            <a:ext cx="14443800" cy="12315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Na primeira opção temos um local onde definimos se os </a:t>
            </a:r>
            <a:r>
              <a:rPr lang="en-US" sz="2400">
                <a:latin typeface="Poppins"/>
                <a:ea typeface="Poppins"/>
                <a:cs typeface="Poppins"/>
                <a:sym typeface="Poppins"/>
              </a:rPr>
              <a:t>aplicativos</a:t>
            </a:r>
            <a:r>
              <a:rPr lang="en-US" sz="2400">
                <a:latin typeface="Poppins"/>
                <a:ea typeface="Poppins"/>
                <a:cs typeface="Poppins"/>
                <a:sym typeface="Poppins"/>
              </a:rPr>
              <a:t> vão poder se comunicar com o Firewall do Windows. Normalmente isso é feito de forma automática quando usamos um aplicativo que vai utilizar a rede.</a:t>
            </a:r>
            <a:endParaRPr sz="2400">
              <a:latin typeface="Poppins"/>
              <a:ea typeface="Poppins"/>
              <a:cs typeface="Poppins"/>
              <a:sym typeface="Poppins"/>
            </a:endParaRPr>
          </a:p>
        </p:txBody>
      </p:sp>
      <p:sp>
        <p:nvSpPr>
          <p:cNvPr id="300" name="Google Shape;300;g359a2d5afcc_0_17"/>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g359a2d5afcc_0_17"/>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pic>
        <p:nvPicPr>
          <p:cNvPr id="302" name="Google Shape;302;g359a2d5afcc_0_17"/>
          <p:cNvPicPr preferRelativeResize="0"/>
          <p:nvPr/>
        </p:nvPicPr>
        <p:blipFill>
          <a:blip r:embed="rId6">
            <a:alphaModFix/>
          </a:blip>
          <a:stretch>
            <a:fillRect/>
          </a:stretch>
        </p:blipFill>
        <p:spPr>
          <a:xfrm>
            <a:off x="5769350" y="4874200"/>
            <a:ext cx="6749300" cy="4966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59a2d5afcc_0_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g359a2d5afcc_0_31"/>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09" name="Google Shape;309;g359a2d5afcc_0_31"/>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310" name="Google Shape;310;g359a2d5afcc_0_31"/>
          <p:cNvGrpSpPr/>
          <p:nvPr/>
        </p:nvGrpSpPr>
        <p:grpSpPr>
          <a:xfrm>
            <a:off x="1038175" y="2946624"/>
            <a:ext cx="16211658" cy="7299925"/>
            <a:chOff x="0" y="-38100"/>
            <a:chExt cx="4269709" cy="2000418"/>
          </a:xfrm>
        </p:grpSpPr>
        <p:sp>
          <p:nvSpPr>
            <p:cNvPr id="311" name="Google Shape;311;g359a2d5afcc_0_31"/>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g359a2d5afcc_0_31"/>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3" name="Google Shape;313;g359a2d5afcc_0_31"/>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Configurações Avançadas</a:t>
            </a:r>
            <a:endParaRPr b="0" i="0" sz="1400" u="none" cap="none" strike="noStrike">
              <a:solidFill>
                <a:srgbClr val="000000"/>
              </a:solidFill>
              <a:latin typeface="Arial"/>
              <a:ea typeface="Arial"/>
              <a:cs typeface="Arial"/>
              <a:sym typeface="Arial"/>
            </a:endParaRPr>
          </a:p>
        </p:txBody>
      </p:sp>
      <p:sp>
        <p:nvSpPr>
          <p:cNvPr id="314" name="Google Shape;314;g359a2d5afcc_0_31"/>
          <p:cNvSpPr txBox="1"/>
          <p:nvPr/>
        </p:nvSpPr>
        <p:spPr>
          <a:xfrm>
            <a:off x="1685075" y="3237353"/>
            <a:ext cx="14443800" cy="42483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Passando para configurações </a:t>
            </a:r>
            <a:r>
              <a:rPr b="1" lang="en-US" sz="2400">
                <a:latin typeface="Poppins"/>
                <a:ea typeface="Poppins"/>
                <a:cs typeface="Poppins"/>
                <a:sym typeface="Poppins"/>
              </a:rPr>
              <a:t>avançadas</a:t>
            </a:r>
            <a:r>
              <a:rPr lang="en-US" sz="2400">
                <a:latin typeface="Poppins"/>
                <a:ea typeface="Poppins"/>
                <a:cs typeface="Poppins"/>
                <a:sym typeface="Poppins"/>
              </a:rPr>
              <a:t> podemos testar algumas coisas.</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Aqui podemos definir manualmente regras de </a:t>
            </a:r>
            <a:r>
              <a:rPr b="1" lang="en-US" sz="2400">
                <a:latin typeface="Poppins"/>
                <a:ea typeface="Poppins"/>
                <a:cs typeface="Poppins"/>
                <a:sym typeface="Poppins"/>
              </a:rPr>
              <a:t>entrada </a:t>
            </a:r>
            <a:r>
              <a:rPr lang="en-US" sz="2400">
                <a:latin typeface="Poppins"/>
                <a:ea typeface="Poppins"/>
                <a:cs typeface="Poppins"/>
                <a:sym typeface="Poppins"/>
              </a:rPr>
              <a:t>e </a:t>
            </a:r>
            <a:r>
              <a:rPr b="1" lang="en-US" sz="2400">
                <a:latin typeface="Poppins"/>
                <a:ea typeface="Poppins"/>
                <a:cs typeface="Poppins"/>
                <a:sym typeface="Poppins"/>
              </a:rPr>
              <a:t>saída.</a:t>
            </a:r>
            <a:endParaRPr b="1" sz="2400">
              <a:latin typeface="Poppins"/>
              <a:ea typeface="Poppins"/>
              <a:cs typeface="Poppins"/>
              <a:sym typeface="Poppins"/>
            </a:endParaRPr>
          </a:p>
          <a:p>
            <a:pPr indent="0" lvl="0" marL="0" marR="0" rtl="0" algn="l">
              <a:lnSpc>
                <a:spcPct val="116666"/>
              </a:lnSpc>
              <a:spcBef>
                <a:spcPts val="0"/>
              </a:spcBef>
              <a:spcAft>
                <a:spcPts val="0"/>
              </a:spcAft>
              <a:buNone/>
            </a:pPr>
            <a:r>
              <a:t/>
            </a:r>
            <a:endParaRPr b="1"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b="1" lang="en-US" sz="2400">
                <a:latin typeface="Poppins"/>
                <a:ea typeface="Poppins"/>
                <a:cs typeface="Poppins"/>
                <a:sym typeface="Poppins"/>
              </a:rPr>
              <a:t>Regras de Entrada:  </a:t>
            </a:r>
            <a:r>
              <a:rPr lang="en-US" sz="2400">
                <a:latin typeface="Poppins"/>
                <a:ea typeface="Poppins"/>
                <a:cs typeface="Poppins"/>
                <a:sym typeface="Poppins"/>
              </a:rPr>
              <a:t>Controlam o tráfego que chega no computador.</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rPr lang="en-US" sz="2400">
                <a:latin typeface="Poppins"/>
                <a:ea typeface="Poppins"/>
                <a:cs typeface="Poppins"/>
                <a:sym typeface="Poppins"/>
              </a:rPr>
              <a:t>Exemplo: Autorizar ou bloquear conexões para um servidor de jogo que você está hospedando.</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b="1" lang="en-US" sz="2400">
                <a:latin typeface="Poppins"/>
                <a:ea typeface="Poppins"/>
                <a:cs typeface="Poppins"/>
                <a:sym typeface="Poppins"/>
              </a:rPr>
              <a:t>Regras de Saída: </a:t>
            </a:r>
            <a:r>
              <a:rPr lang="en-US" sz="2400">
                <a:latin typeface="Poppins"/>
                <a:ea typeface="Poppins"/>
                <a:cs typeface="Poppins"/>
                <a:sym typeface="Poppins"/>
              </a:rPr>
              <a:t>Controlam o tráfego que </a:t>
            </a:r>
            <a:r>
              <a:rPr lang="en-US" sz="2400">
                <a:latin typeface="Poppins"/>
                <a:ea typeface="Poppins"/>
                <a:cs typeface="Poppins"/>
                <a:sym typeface="Poppins"/>
              </a:rPr>
              <a:t>sai</a:t>
            </a:r>
            <a:r>
              <a:rPr lang="en-US" sz="2400">
                <a:latin typeface="Poppins"/>
                <a:ea typeface="Poppins"/>
                <a:cs typeface="Poppins"/>
                <a:sym typeface="Poppins"/>
              </a:rPr>
              <a:t> do computador.</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rPr lang="en-US" sz="2400">
                <a:latin typeface="Poppins"/>
                <a:ea typeface="Poppins"/>
                <a:cs typeface="Poppins"/>
                <a:sym typeface="Poppins"/>
              </a:rPr>
              <a:t>Exemplo: Bloquear um navegador de acessar a internet</a:t>
            </a:r>
            <a:endParaRPr sz="2400">
              <a:latin typeface="Poppins"/>
              <a:ea typeface="Poppins"/>
              <a:cs typeface="Poppins"/>
              <a:sym typeface="Poppins"/>
            </a:endParaRPr>
          </a:p>
        </p:txBody>
      </p:sp>
      <p:sp>
        <p:nvSpPr>
          <p:cNvPr id="315" name="Google Shape;315;g359a2d5afcc_0_31"/>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g359a2d5afcc_0_31"/>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59a2d5afcc_0_5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g359a2d5afcc_0_59"/>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23" name="Google Shape;323;g359a2d5afcc_0_59"/>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324" name="Google Shape;324;g359a2d5afcc_0_59"/>
          <p:cNvGrpSpPr/>
          <p:nvPr/>
        </p:nvGrpSpPr>
        <p:grpSpPr>
          <a:xfrm>
            <a:off x="1038175" y="2946624"/>
            <a:ext cx="16211658" cy="7299925"/>
            <a:chOff x="0" y="-38100"/>
            <a:chExt cx="4269709" cy="2000418"/>
          </a:xfrm>
        </p:grpSpPr>
        <p:sp>
          <p:nvSpPr>
            <p:cNvPr id="325" name="Google Shape;325;g359a2d5afcc_0_59"/>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g359a2d5afcc_0_59"/>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7" name="Google Shape;327;g359a2d5afcc_0_59"/>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Como funcionam as regras?</a:t>
            </a:r>
            <a:endParaRPr b="0" i="0" sz="1400" u="none" cap="none" strike="noStrike">
              <a:solidFill>
                <a:srgbClr val="000000"/>
              </a:solidFill>
              <a:latin typeface="Arial"/>
              <a:ea typeface="Arial"/>
              <a:cs typeface="Arial"/>
              <a:sym typeface="Arial"/>
            </a:endParaRPr>
          </a:p>
        </p:txBody>
      </p:sp>
      <p:sp>
        <p:nvSpPr>
          <p:cNvPr id="328" name="Google Shape;328;g359a2d5afcc_0_59"/>
          <p:cNvSpPr txBox="1"/>
          <p:nvPr/>
        </p:nvSpPr>
        <p:spPr>
          <a:xfrm>
            <a:off x="1685075" y="3237353"/>
            <a:ext cx="14443800" cy="3817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As regras do </a:t>
            </a:r>
            <a:r>
              <a:rPr b="1" lang="en-US" sz="2400">
                <a:latin typeface="Poppins"/>
                <a:ea typeface="Poppins"/>
                <a:cs typeface="Poppins"/>
                <a:sym typeface="Poppins"/>
              </a:rPr>
              <a:t>firewall </a:t>
            </a:r>
            <a:r>
              <a:rPr lang="en-US" sz="2400">
                <a:latin typeface="Poppins"/>
                <a:ea typeface="Poppins"/>
                <a:cs typeface="Poppins"/>
                <a:sym typeface="Poppins"/>
              </a:rPr>
              <a:t>podem ser definidas com base em:</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b="1" lang="en-US" sz="2400">
                <a:latin typeface="Poppins"/>
                <a:ea typeface="Poppins"/>
                <a:cs typeface="Poppins"/>
                <a:sym typeface="Poppins"/>
              </a:rPr>
              <a:t>Programa (aplicativo):</a:t>
            </a:r>
            <a:r>
              <a:rPr lang="en-US" sz="2400">
                <a:latin typeface="Poppins"/>
                <a:ea typeface="Poppins"/>
                <a:cs typeface="Poppins"/>
                <a:sym typeface="Poppins"/>
              </a:rPr>
              <a:t> A regra se aplica a um software específico;</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b="1" lang="en-US" sz="2400">
                <a:latin typeface="Poppins"/>
                <a:ea typeface="Poppins"/>
                <a:cs typeface="Poppins"/>
                <a:sym typeface="Poppins"/>
              </a:rPr>
              <a:t>Porta:  </a:t>
            </a:r>
            <a:r>
              <a:rPr lang="en-US" sz="2400">
                <a:latin typeface="Poppins"/>
                <a:ea typeface="Poppins"/>
                <a:cs typeface="Poppins"/>
                <a:sym typeface="Poppins"/>
              </a:rPr>
              <a:t>A regra se aplica a uma porta de comunicação, por exemplo permitir conexões na porta 80 (http);</a:t>
            </a:r>
            <a:endParaRPr sz="2400">
              <a:latin typeface="Poppins"/>
              <a:ea typeface="Poppins"/>
              <a:cs typeface="Poppins"/>
              <a:sym typeface="Poppins"/>
            </a:endParaRPr>
          </a:p>
          <a:p>
            <a:pPr indent="0" lvl="0" marL="45720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b="1" lang="en-US" sz="2400">
                <a:latin typeface="Poppins"/>
                <a:ea typeface="Poppins"/>
                <a:cs typeface="Poppins"/>
                <a:sym typeface="Poppins"/>
              </a:rPr>
              <a:t>Protocolos (TCP e UDP): </a:t>
            </a:r>
            <a:r>
              <a:rPr lang="en-US" sz="2400">
                <a:latin typeface="Poppins"/>
                <a:ea typeface="Poppins"/>
                <a:cs typeface="Poppins"/>
                <a:sym typeface="Poppins"/>
              </a:rPr>
              <a:t>As regras também podem especificar o tipo de protocolo de rede ou para ambos.</a:t>
            </a:r>
            <a:endParaRPr sz="2400">
              <a:latin typeface="Poppins"/>
              <a:ea typeface="Poppins"/>
              <a:cs typeface="Poppins"/>
              <a:sym typeface="Poppins"/>
            </a:endParaRPr>
          </a:p>
        </p:txBody>
      </p:sp>
      <p:sp>
        <p:nvSpPr>
          <p:cNvPr id="329" name="Google Shape;329;g359a2d5afcc_0_59"/>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g359a2d5afcc_0_59"/>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59a2d5afcc_0_7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6" name="Google Shape;336;g359a2d5afcc_0_72"/>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37" name="Google Shape;337;g359a2d5afcc_0_72"/>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338" name="Google Shape;338;g359a2d5afcc_0_72"/>
          <p:cNvGrpSpPr/>
          <p:nvPr/>
        </p:nvGrpSpPr>
        <p:grpSpPr>
          <a:xfrm>
            <a:off x="1038175" y="2946624"/>
            <a:ext cx="16211658" cy="7299925"/>
            <a:chOff x="0" y="-38100"/>
            <a:chExt cx="4269709" cy="2000418"/>
          </a:xfrm>
        </p:grpSpPr>
        <p:sp>
          <p:nvSpPr>
            <p:cNvPr id="339" name="Google Shape;339;g359a2d5afcc_0_72"/>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g359a2d5afcc_0_72"/>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1" name="Google Shape;341;g359a2d5afcc_0_72"/>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Vamos definir algumas regras!</a:t>
            </a:r>
            <a:endParaRPr b="0" i="0" sz="1400" u="none" cap="none" strike="noStrike">
              <a:solidFill>
                <a:srgbClr val="000000"/>
              </a:solidFill>
              <a:latin typeface="Arial"/>
              <a:ea typeface="Arial"/>
              <a:cs typeface="Arial"/>
              <a:sym typeface="Arial"/>
            </a:endParaRPr>
          </a:p>
        </p:txBody>
      </p:sp>
      <p:sp>
        <p:nvSpPr>
          <p:cNvPr id="342" name="Google Shape;342;g359a2d5afcc_0_72"/>
          <p:cNvSpPr txBox="1"/>
          <p:nvPr/>
        </p:nvSpPr>
        <p:spPr>
          <a:xfrm>
            <a:off x="1685075" y="3237353"/>
            <a:ext cx="14443800" cy="3817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Vamos criar regras de saída para testarmos na prática como funciona!</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Primeiro vamos criar uma regra que irá bloquear o site do </a:t>
            </a:r>
            <a:r>
              <a:rPr b="1" lang="en-US" sz="2400">
                <a:latin typeface="Poppins"/>
                <a:ea typeface="Poppins"/>
                <a:cs typeface="Poppins"/>
                <a:sym typeface="Poppins"/>
              </a:rPr>
              <a:t>G1</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A primeira coisa que precisamos fazer é abrir o prompt e utilizar o comando:</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 </a:t>
            </a:r>
            <a:r>
              <a:rPr b="1" lang="en-US" sz="2400">
                <a:latin typeface="Poppins"/>
                <a:ea typeface="Poppins"/>
                <a:cs typeface="Poppins"/>
                <a:sym typeface="Poppins"/>
              </a:rPr>
              <a:t>nslookup g1.globo.com. </a:t>
            </a:r>
            <a:endParaRPr b="1"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Ele permite a consulta no servidor de nomes de dominio (DNS) e endereços de IP através da url.</a:t>
            </a:r>
            <a:endParaRPr sz="2400">
              <a:latin typeface="Poppins"/>
              <a:ea typeface="Poppins"/>
              <a:cs typeface="Poppins"/>
              <a:sym typeface="Poppins"/>
            </a:endParaRPr>
          </a:p>
        </p:txBody>
      </p:sp>
      <p:sp>
        <p:nvSpPr>
          <p:cNvPr id="343" name="Google Shape;343;g359a2d5afcc_0_72"/>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g359a2d5afcc_0_72"/>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59a2d5afcc_0_8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0" name="Google Shape;350;g359a2d5afcc_0_88"/>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1" name="Google Shape;351;g359a2d5afcc_0_88"/>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352" name="Google Shape;352;g359a2d5afcc_0_88"/>
          <p:cNvGrpSpPr/>
          <p:nvPr/>
        </p:nvGrpSpPr>
        <p:grpSpPr>
          <a:xfrm>
            <a:off x="1038175" y="2946624"/>
            <a:ext cx="16211658" cy="7299925"/>
            <a:chOff x="0" y="-38100"/>
            <a:chExt cx="4269709" cy="2000418"/>
          </a:xfrm>
        </p:grpSpPr>
        <p:sp>
          <p:nvSpPr>
            <p:cNvPr id="353" name="Google Shape;353;g359a2d5afcc_0_88"/>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g359a2d5afcc_0_88"/>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5" name="Google Shape;355;g359a2d5afcc_0_88"/>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Vamos definir algumas regras!</a:t>
            </a:r>
            <a:endParaRPr b="0" i="0" sz="1400" u="none" cap="none" strike="noStrike">
              <a:solidFill>
                <a:srgbClr val="000000"/>
              </a:solidFill>
              <a:latin typeface="Arial"/>
              <a:ea typeface="Arial"/>
              <a:cs typeface="Arial"/>
              <a:sym typeface="Arial"/>
            </a:endParaRPr>
          </a:p>
        </p:txBody>
      </p:sp>
      <p:sp>
        <p:nvSpPr>
          <p:cNvPr id="356" name="Google Shape;356;g359a2d5afcc_0_88"/>
          <p:cNvSpPr txBox="1"/>
          <p:nvPr/>
        </p:nvSpPr>
        <p:spPr>
          <a:xfrm>
            <a:off x="1685075" y="3237353"/>
            <a:ext cx="14443800" cy="20934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Agora vamos definir uma regra que vai nos impedir de realizar pings, bloqueando o protocolo  ICMPv4 que é o responsável por transmitir mensagens de controle e identificar problemas de rede entre os dispositivos.</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rPr lang="en-US" sz="2400">
                <a:latin typeface="Poppins"/>
                <a:ea typeface="Poppins"/>
                <a:cs typeface="Poppins"/>
                <a:sym typeface="Poppins"/>
              </a:rPr>
              <a:t>Agora vamos realizar o ping no mesmo IP que pegamos anteriormente.</a:t>
            </a:r>
            <a:endParaRPr sz="2400">
              <a:latin typeface="Poppins"/>
              <a:ea typeface="Poppins"/>
              <a:cs typeface="Poppins"/>
              <a:sym typeface="Poppins"/>
            </a:endParaRPr>
          </a:p>
        </p:txBody>
      </p:sp>
      <p:sp>
        <p:nvSpPr>
          <p:cNvPr id="357" name="Google Shape;357;g359a2d5afcc_0_88"/>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g359a2d5afcc_0_88"/>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59a85e772d_1_1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g359a85e772d_1_115"/>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5" name="Google Shape;365;g359a85e772d_1_115"/>
          <p:cNvCxnSpPr/>
          <p:nvPr/>
        </p:nvCxnSpPr>
        <p:spPr>
          <a:xfrm flipH="1" rot="10800000">
            <a:off x="1068398" y="16195"/>
            <a:ext cx="16500" cy="2135700"/>
          </a:xfrm>
          <a:prstGeom prst="straightConnector1">
            <a:avLst/>
          </a:prstGeom>
          <a:noFill/>
          <a:ln cap="flat" cmpd="sng" w="38100">
            <a:solidFill>
              <a:srgbClr val="D93831"/>
            </a:solidFill>
            <a:prstDash val="solid"/>
            <a:round/>
            <a:headEnd len="sm" w="sm" type="none"/>
            <a:tailEnd len="sm" w="sm" type="none"/>
          </a:ln>
        </p:spPr>
      </p:cxnSp>
      <p:grpSp>
        <p:nvGrpSpPr>
          <p:cNvPr id="366" name="Google Shape;366;g359a85e772d_1_115"/>
          <p:cNvGrpSpPr/>
          <p:nvPr/>
        </p:nvGrpSpPr>
        <p:grpSpPr>
          <a:xfrm>
            <a:off x="1038175" y="2946624"/>
            <a:ext cx="16211658" cy="7299925"/>
            <a:chOff x="0" y="-38100"/>
            <a:chExt cx="4269709" cy="2000418"/>
          </a:xfrm>
        </p:grpSpPr>
        <p:sp>
          <p:nvSpPr>
            <p:cNvPr id="367" name="Google Shape;367;g359a85e772d_1_115"/>
            <p:cNvSpPr/>
            <p:nvPr/>
          </p:nvSpPr>
          <p:spPr>
            <a:xfrm>
              <a:off x="0" y="0"/>
              <a:ext cx="4269709" cy="1962318"/>
            </a:xfrm>
            <a:custGeom>
              <a:rect b="b" l="l" r="r" t="t"/>
              <a:pathLst>
                <a:path extrusionOk="0" h="1962318" w="4269709">
                  <a:moveTo>
                    <a:pt x="9551" y="0"/>
                  </a:moveTo>
                  <a:lnTo>
                    <a:pt x="4260158" y="0"/>
                  </a:lnTo>
                  <a:cubicBezTo>
                    <a:pt x="4262691" y="0"/>
                    <a:pt x="4265120" y="1006"/>
                    <a:pt x="4266911" y="2797"/>
                  </a:cubicBezTo>
                  <a:cubicBezTo>
                    <a:pt x="4268703" y="4589"/>
                    <a:pt x="4269709" y="7018"/>
                    <a:pt x="4269709" y="9551"/>
                  </a:cubicBezTo>
                  <a:lnTo>
                    <a:pt x="4269709" y="1952767"/>
                  </a:lnTo>
                  <a:cubicBezTo>
                    <a:pt x="4269709" y="1955300"/>
                    <a:pt x="4268703" y="1957730"/>
                    <a:pt x="4266911" y="1959521"/>
                  </a:cubicBezTo>
                  <a:cubicBezTo>
                    <a:pt x="4265120" y="1961312"/>
                    <a:pt x="4262691" y="1962318"/>
                    <a:pt x="4260158" y="1962318"/>
                  </a:cubicBezTo>
                  <a:lnTo>
                    <a:pt x="9551" y="1962318"/>
                  </a:lnTo>
                  <a:cubicBezTo>
                    <a:pt x="7018" y="1962318"/>
                    <a:pt x="4589" y="1961312"/>
                    <a:pt x="2797" y="1959521"/>
                  </a:cubicBezTo>
                  <a:cubicBezTo>
                    <a:pt x="1006" y="1957730"/>
                    <a:pt x="0" y="1955300"/>
                    <a:pt x="0" y="1952767"/>
                  </a:cubicBezTo>
                  <a:lnTo>
                    <a:pt x="0" y="9551"/>
                  </a:lnTo>
                  <a:cubicBezTo>
                    <a:pt x="0" y="7018"/>
                    <a:pt x="1006" y="4589"/>
                    <a:pt x="2797" y="2797"/>
                  </a:cubicBezTo>
                  <a:cubicBezTo>
                    <a:pt x="4589" y="1006"/>
                    <a:pt x="7018" y="0"/>
                    <a:pt x="9551"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g359a85e772d_1_115"/>
            <p:cNvSpPr txBox="1"/>
            <p:nvPr/>
          </p:nvSpPr>
          <p:spPr>
            <a:xfrm>
              <a:off x="0" y="-38100"/>
              <a:ext cx="4269600" cy="2000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9" name="Google Shape;369;g359a85e772d_1_115"/>
          <p:cNvSpPr txBox="1"/>
          <p:nvPr/>
        </p:nvSpPr>
        <p:spPr>
          <a:xfrm>
            <a:off x="2043300" y="1265250"/>
            <a:ext cx="130776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000"/>
              <a:buFont typeface="Arial"/>
              <a:buNone/>
            </a:pPr>
            <a:r>
              <a:rPr b="1" lang="en-US" sz="6000">
                <a:solidFill>
                  <a:srgbClr val="0E1113"/>
                </a:solidFill>
                <a:latin typeface="Poppins"/>
                <a:ea typeface="Poppins"/>
                <a:cs typeface="Poppins"/>
                <a:sym typeface="Poppins"/>
              </a:rPr>
              <a:t>Exercício </a:t>
            </a:r>
            <a:endParaRPr b="0" i="0" sz="1400" u="none" cap="none" strike="noStrike">
              <a:solidFill>
                <a:srgbClr val="000000"/>
              </a:solidFill>
              <a:latin typeface="Arial"/>
              <a:ea typeface="Arial"/>
              <a:cs typeface="Arial"/>
              <a:sym typeface="Arial"/>
            </a:endParaRPr>
          </a:p>
        </p:txBody>
      </p:sp>
      <p:sp>
        <p:nvSpPr>
          <p:cNvPr id="370" name="Google Shape;370;g359a85e772d_1_115"/>
          <p:cNvSpPr txBox="1"/>
          <p:nvPr/>
        </p:nvSpPr>
        <p:spPr>
          <a:xfrm>
            <a:off x="1685075" y="3237353"/>
            <a:ext cx="14443800" cy="5110200"/>
          </a:xfrm>
          <a:prstGeom prst="rect">
            <a:avLst/>
          </a:prstGeom>
          <a:noFill/>
          <a:ln>
            <a:noFill/>
          </a:ln>
        </p:spPr>
        <p:txBody>
          <a:bodyPr anchorCtr="0" anchor="t" bIns="0" lIns="0" spcFirstLastPara="1" rIns="0" wrap="square" tIns="0">
            <a:spAutoFit/>
          </a:bodyPr>
          <a:lstStyle/>
          <a:p>
            <a:pPr indent="0" lvl="0" marL="0" marR="0" rtl="0" algn="l">
              <a:lnSpc>
                <a:spcPct val="116666"/>
              </a:lnSpc>
              <a:spcBef>
                <a:spcPts val="0"/>
              </a:spcBef>
              <a:spcAft>
                <a:spcPts val="0"/>
              </a:spcAft>
              <a:buNone/>
            </a:pPr>
            <a:r>
              <a:rPr lang="en-US" sz="2400">
                <a:latin typeface="Poppins"/>
                <a:ea typeface="Poppins"/>
                <a:cs typeface="Poppins"/>
                <a:sym typeface="Poppins"/>
              </a:rPr>
              <a:t>Para o exercício ligue duas máquinas virtuais, defina uma regra de entrada </a:t>
            </a:r>
            <a:r>
              <a:rPr lang="en-US" sz="2400">
                <a:latin typeface="Poppins"/>
                <a:ea typeface="Poppins"/>
                <a:cs typeface="Poppins"/>
                <a:sym typeface="Poppins"/>
              </a:rPr>
              <a:t>para</a:t>
            </a:r>
            <a:r>
              <a:rPr lang="en-US" sz="2400">
                <a:latin typeface="Poppins"/>
                <a:ea typeface="Poppins"/>
                <a:cs typeface="Poppins"/>
                <a:sym typeface="Poppins"/>
              </a:rPr>
              <a:t> uma das duas restringindo o protocolo ICMPv4, após definir esta regra tente realizar o ping da outra VM para que está restringida.</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Não esqueça de verificar se a placa de rede está em modo bridge;</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Ative a descoberta de rede;</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Realize o ping para testar se está funcionando</a:t>
            </a:r>
            <a:endParaRPr sz="2400">
              <a:latin typeface="Poppins"/>
              <a:ea typeface="Poppins"/>
              <a:cs typeface="Poppins"/>
              <a:sym typeface="Poppins"/>
            </a:endParaRPr>
          </a:p>
          <a:p>
            <a:pPr indent="-381000" lvl="0" marL="457200" marR="0" rtl="0" algn="l">
              <a:lnSpc>
                <a:spcPct val="116666"/>
              </a:lnSpc>
              <a:spcBef>
                <a:spcPts val="0"/>
              </a:spcBef>
              <a:spcAft>
                <a:spcPts val="0"/>
              </a:spcAft>
              <a:buSzPts val="2400"/>
              <a:buFont typeface="Poppins"/>
              <a:buChar char="●"/>
            </a:pPr>
            <a:r>
              <a:rPr lang="en-US" sz="2400">
                <a:latin typeface="Poppins"/>
                <a:ea typeface="Poppins"/>
                <a:cs typeface="Poppins"/>
                <a:sym typeface="Poppins"/>
              </a:rPr>
              <a:t>Aplique a regra de entrada para um dos computadores</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a:p>
            <a:pPr indent="0" lvl="0" marL="0" marR="0" rtl="0" algn="l">
              <a:lnSpc>
                <a:spcPct val="116666"/>
              </a:lnSpc>
              <a:spcBef>
                <a:spcPts val="0"/>
              </a:spcBef>
              <a:spcAft>
                <a:spcPts val="0"/>
              </a:spcAft>
              <a:buNone/>
            </a:pPr>
            <a:r>
              <a:t/>
            </a:r>
            <a:endParaRPr sz="2400">
              <a:latin typeface="Poppins"/>
              <a:ea typeface="Poppins"/>
              <a:cs typeface="Poppins"/>
              <a:sym typeface="Poppins"/>
            </a:endParaRPr>
          </a:p>
        </p:txBody>
      </p:sp>
      <p:sp>
        <p:nvSpPr>
          <p:cNvPr id="371" name="Google Shape;371;g359a85e772d_1_115"/>
          <p:cNvSpPr/>
          <p:nvPr/>
        </p:nvSpPr>
        <p:spPr>
          <a:xfrm>
            <a:off x="14778348" y="471910"/>
            <a:ext cx="3018346" cy="768717"/>
          </a:xfrm>
          <a:custGeom>
            <a:rect b="b" l="l" r="r" t="t"/>
            <a:pathLst>
              <a:path extrusionOk="0" h="768717" w="3018346">
                <a:moveTo>
                  <a:pt x="0" y="0"/>
                </a:moveTo>
                <a:lnTo>
                  <a:pt x="3018346" y="0"/>
                </a:lnTo>
                <a:lnTo>
                  <a:pt x="3018346" y="768717"/>
                </a:lnTo>
                <a:lnTo>
                  <a:pt x="0" y="76871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g359a85e772d_1_115"/>
          <p:cNvSpPr txBox="1"/>
          <p:nvPr/>
        </p:nvSpPr>
        <p:spPr>
          <a:xfrm>
            <a:off x="2043307" y="96202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lang="en-US" sz="2000">
                <a:solidFill>
                  <a:srgbClr val="D93831"/>
                </a:solidFill>
                <a:latin typeface="Poppins"/>
                <a:ea typeface="Poppins"/>
                <a:cs typeface="Poppins"/>
                <a:sym typeface="Poppins"/>
              </a:rPr>
              <a:t>Definição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40000"/>
            </a:blip>
            <a:stretch>
              <a:fillRect b="0" l="0" r="0" t="0"/>
            </a:stretch>
          </a:blip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78" name="Google Shape;378;p16"/>
          <p:cNvCxnSpPr/>
          <p:nvPr/>
        </p:nvCxnSpPr>
        <p:spPr>
          <a:xfrm rot="10800000">
            <a:off x="9645833" y="4419143"/>
            <a:ext cx="18900" cy="2058300"/>
          </a:xfrm>
          <a:prstGeom prst="straightConnector1">
            <a:avLst/>
          </a:prstGeom>
          <a:noFill/>
          <a:ln cap="flat" cmpd="sng" w="38100">
            <a:solidFill>
              <a:srgbClr val="D93831"/>
            </a:solidFill>
            <a:prstDash val="solid"/>
            <a:round/>
            <a:headEnd len="sm" w="sm" type="none"/>
            <a:tailEnd len="sm" w="sm" type="none"/>
          </a:ln>
        </p:spPr>
      </p:cxnSp>
      <p:sp>
        <p:nvSpPr>
          <p:cNvPr id="379" name="Google Shape;379;p16"/>
          <p:cNvSpPr txBox="1"/>
          <p:nvPr/>
        </p:nvSpPr>
        <p:spPr>
          <a:xfrm>
            <a:off x="10341007" y="4336637"/>
            <a:ext cx="2440200" cy="8865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Poppins"/>
                <a:ea typeface="Poppins"/>
                <a:cs typeface="Poppins"/>
                <a:sym typeface="Poppins"/>
              </a:rPr>
              <a:t>Telefone</a:t>
            </a:r>
            <a:endParaRPr b="0" i="0" sz="1400" u="none" cap="none" strike="noStrike">
              <a:solidFill>
                <a:srgbClr val="000000"/>
              </a:solidFill>
              <a:latin typeface="Arial"/>
              <a:ea typeface="Arial"/>
              <a:cs typeface="Arial"/>
              <a:sym typeface="Arial"/>
            </a:endParaRPr>
          </a:p>
          <a:p>
            <a:pPr indent="0" lvl="0" marL="0" marR="0" rtl="0" algn="l">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(11) 2396-1999</a:t>
            </a:r>
            <a:endParaRPr b="0" i="0" sz="1400" u="none" cap="none" strike="noStrike">
              <a:solidFill>
                <a:srgbClr val="000000"/>
              </a:solidFill>
              <a:latin typeface="Arial"/>
              <a:ea typeface="Arial"/>
              <a:cs typeface="Arial"/>
              <a:sym typeface="Arial"/>
            </a:endParaRPr>
          </a:p>
        </p:txBody>
      </p:sp>
      <p:grpSp>
        <p:nvGrpSpPr>
          <p:cNvPr id="380" name="Google Shape;380;p16"/>
          <p:cNvGrpSpPr/>
          <p:nvPr/>
        </p:nvGrpSpPr>
        <p:grpSpPr>
          <a:xfrm>
            <a:off x="10340993" y="2885700"/>
            <a:ext cx="5951925" cy="1458644"/>
            <a:chOff x="-19" y="-85717"/>
            <a:chExt cx="7935900" cy="1944859"/>
          </a:xfrm>
        </p:grpSpPr>
        <p:sp>
          <p:nvSpPr>
            <p:cNvPr id="381" name="Google Shape;381;p16"/>
            <p:cNvSpPr txBox="1"/>
            <p:nvPr/>
          </p:nvSpPr>
          <p:spPr>
            <a:xfrm>
              <a:off x="0" y="677142"/>
              <a:ext cx="3902700" cy="11820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Av. Goiás, 139</a:t>
              </a:r>
              <a:endParaRPr b="0" i="0" sz="2400" u="none" cap="none" strike="noStrike">
                <a:solidFill>
                  <a:srgbClr val="000000"/>
                </a:solidFill>
                <a:latin typeface="Poppins"/>
                <a:ea typeface="Poppins"/>
                <a:cs typeface="Poppins"/>
                <a:sym typeface="Poppins"/>
              </a:endParaRPr>
            </a:p>
            <a:p>
              <a:pPr indent="0" lvl="0" marL="0" marR="0" rtl="0" algn="l">
                <a:lnSpc>
                  <a:spcPct val="139958"/>
                </a:lnSpc>
                <a:spcBef>
                  <a:spcPts val="0"/>
                </a:spcBef>
                <a:spcAft>
                  <a:spcPts val="0"/>
                </a:spcAft>
                <a:buClr>
                  <a:srgbClr val="000000"/>
                </a:buClr>
                <a:buSzPts val="2400"/>
                <a:buFont typeface="Arial"/>
                <a:buNone/>
              </a:pPr>
              <a:r>
                <a:t/>
              </a:r>
              <a:endParaRPr b="0" i="0" sz="2400" u="none" cap="none" strike="noStrike">
                <a:solidFill>
                  <a:srgbClr val="000000"/>
                </a:solidFill>
                <a:latin typeface="Poppins"/>
                <a:ea typeface="Poppins"/>
                <a:cs typeface="Poppins"/>
                <a:sym typeface="Poppins"/>
              </a:endParaRPr>
            </a:p>
          </p:txBody>
        </p:sp>
        <p:sp>
          <p:nvSpPr>
            <p:cNvPr id="382" name="Google Shape;382;p16"/>
            <p:cNvSpPr txBox="1"/>
            <p:nvPr/>
          </p:nvSpPr>
          <p:spPr>
            <a:xfrm>
              <a:off x="-19" y="-85717"/>
              <a:ext cx="7935900" cy="5745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799"/>
                <a:buFont typeface="Arial"/>
                <a:buNone/>
              </a:pPr>
              <a:r>
                <a:rPr b="1" i="0" lang="en-US" sz="2799" u="none" cap="none" strike="noStrike">
                  <a:solidFill>
                    <a:srgbClr val="D93831"/>
                  </a:solidFill>
                  <a:latin typeface="Poppins"/>
                  <a:ea typeface="Poppins"/>
                  <a:cs typeface="Poppins"/>
                  <a:sym typeface="Poppins"/>
                </a:rPr>
                <a:t>ESCOLA SENAI ÍTALO BOLOGNA </a:t>
              </a:r>
              <a:endParaRPr b="0" i="0" sz="1400" u="none" cap="none" strike="noStrike">
                <a:solidFill>
                  <a:srgbClr val="000000"/>
                </a:solidFill>
                <a:latin typeface="Arial"/>
                <a:ea typeface="Arial"/>
                <a:cs typeface="Arial"/>
                <a:sym typeface="Arial"/>
              </a:endParaRPr>
            </a:p>
          </p:txBody>
        </p:sp>
      </p:grpSp>
      <p:grpSp>
        <p:nvGrpSpPr>
          <p:cNvPr id="383" name="Google Shape;383;p16"/>
          <p:cNvGrpSpPr/>
          <p:nvPr/>
        </p:nvGrpSpPr>
        <p:grpSpPr>
          <a:xfrm>
            <a:off x="10340999" y="5663950"/>
            <a:ext cx="2283308" cy="846825"/>
            <a:chOff x="-11" y="-66670"/>
            <a:chExt cx="3044411" cy="1129101"/>
          </a:xfrm>
        </p:grpSpPr>
        <p:sp>
          <p:nvSpPr>
            <p:cNvPr id="384" name="Google Shape;384;p16"/>
            <p:cNvSpPr txBox="1"/>
            <p:nvPr/>
          </p:nvSpPr>
          <p:spPr>
            <a:xfrm>
              <a:off x="-11" y="-66670"/>
              <a:ext cx="2667300" cy="492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Poppins"/>
                  <a:ea typeface="Poppins"/>
                  <a:cs typeface="Poppins"/>
                  <a:sym typeface="Poppins"/>
                </a:rPr>
                <a:t>Instagram</a:t>
              </a:r>
              <a:endParaRPr b="0" i="0" sz="1400" u="none" cap="none" strike="noStrike">
                <a:solidFill>
                  <a:srgbClr val="000000"/>
                </a:solidFill>
                <a:latin typeface="Arial"/>
                <a:ea typeface="Arial"/>
                <a:cs typeface="Arial"/>
                <a:sym typeface="Arial"/>
              </a:endParaRPr>
            </a:p>
          </p:txBody>
        </p:sp>
        <p:sp>
          <p:nvSpPr>
            <p:cNvPr id="385" name="Google Shape;385;p16"/>
            <p:cNvSpPr txBox="1"/>
            <p:nvPr/>
          </p:nvSpPr>
          <p:spPr>
            <a:xfrm>
              <a:off x="0" y="569831"/>
              <a:ext cx="3044400" cy="492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@senai.itu</a:t>
              </a:r>
              <a:endParaRPr b="0" i="0" sz="1400" u="none" cap="none" strike="noStrike">
                <a:solidFill>
                  <a:srgbClr val="000000"/>
                </a:solidFill>
                <a:latin typeface="Arial"/>
                <a:ea typeface="Arial"/>
                <a:cs typeface="Arial"/>
                <a:sym typeface="Arial"/>
              </a:endParaRPr>
            </a:p>
          </p:txBody>
        </p:sp>
      </p:grpSp>
      <p:grpSp>
        <p:nvGrpSpPr>
          <p:cNvPr id="386" name="Google Shape;386;p16"/>
          <p:cNvGrpSpPr/>
          <p:nvPr/>
        </p:nvGrpSpPr>
        <p:grpSpPr>
          <a:xfrm>
            <a:off x="10340997" y="7046976"/>
            <a:ext cx="5697225" cy="804499"/>
            <a:chOff x="-13" y="-66675"/>
            <a:chExt cx="7596300" cy="1072665"/>
          </a:xfrm>
        </p:grpSpPr>
        <p:sp>
          <p:nvSpPr>
            <p:cNvPr id="387" name="Google Shape;387;p16"/>
            <p:cNvSpPr txBox="1"/>
            <p:nvPr/>
          </p:nvSpPr>
          <p:spPr>
            <a:xfrm>
              <a:off x="0" y="-66675"/>
              <a:ext cx="1655100" cy="492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Poppins"/>
                  <a:ea typeface="Poppins"/>
                  <a:cs typeface="Poppins"/>
                  <a:sym typeface="Poppins"/>
                </a:rPr>
                <a:t>Site</a:t>
              </a:r>
              <a:endParaRPr b="0" i="0" sz="1400" u="none" cap="none" strike="noStrike">
                <a:solidFill>
                  <a:srgbClr val="000000"/>
                </a:solidFill>
                <a:latin typeface="Arial"/>
                <a:ea typeface="Arial"/>
                <a:cs typeface="Arial"/>
                <a:sym typeface="Arial"/>
              </a:endParaRPr>
            </a:p>
          </p:txBody>
        </p:sp>
        <p:sp>
          <p:nvSpPr>
            <p:cNvPr id="388" name="Google Shape;388;p16"/>
            <p:cNvSpPr txBox="1"/>
            <p:nvPr/>
          </p:nvSpPr>
          <p:spPr>
            <a:xfrm>
              <a:off x="-13" y="513390"/>
              <a:ext cx="7596300" cy="492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https://sp.senai.br/unidade/itu/</a:t>
              </a:r>
              <a:endParaRPr b="0" i="0" sz="1400" u="none" cap="none" strike="noStrike">
                <a:solidFill>
                  <a:srgbClr val="000000"/>
                </a:solidFill>
                <a:latin typeface="Arial"/>
                <a:ea typeface="Arial"/>
                <a:cs typeface="Arial"/>
                <a:sym typeface="Arial"/>
              </a:endParaRPr>
            </a:p>
          </p:txBody>
        </p:sp>
      </p:grpSp>
      <p:grpSp>
        <p:nvGrpSpPr>
          <p:cNvPr id="389" name="Google Shape;389;p16"/>
          <p:cNvGrpSpPr/>
          <p:nvPr/>
        </p:nvGrpSpPr>
        <p:grpSpPr>
          <a:xfrm>
            <a:off x="13422228" y="5663946"/>
            <a:ext cx="2133000" cy="845495"/>
            <a:chOff x="0" y="-66675"/>
            <a:chExt cx="2844000" cy="1127326"/>
          </a:xfrm>
        </p:grpSpPr>
        <p:sp>
          <p:nvSpPr>
            <p:cNvPr id="390" name="Google Shape;390;p16"/>
            <p:cNvSpPr txBox="1"/>
            <p:nvPr/>
          </p:nvSpPr>
          <p:spPr>
            <a:xfrm>
              <a:off x="0" y="-66675"/>
              <a:ext cx="2039400" cy="492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Poppins"/>
                  <a:ea typeface="Poppins"/>
                  <a:cs typeface="Poppins"/>
                  <a:sym typeface="Poppins"/>
                </a:rPr>
                <a:t>Facebok</a:t>
              </a:r>
              <a:endParaRPr b="0" i="0" sz="1400" u="none" cap="none" strike="noStrike">
                <a:solidFill>
                  <a:srgbClr val="000000"/>
                </a:solidFill>
                <a:latin typeface="Arial"/>
                <a:ea typeface="Arial"/>
                <a:cs typeface="Arial"/>
                <a:sym typeface="Arial"/>
              </a:endParaRPr>
            </a:p>
          </p:txBody>
        </p:sp>
        <p:sp>
          <p:nvSpPr>
            <p:cNvPr id="391" name="Google Shape;391;p16"/>
            <p:cNvSpPr txBox="1"/>
            <p:nvPr/>
          </p:nvSpPr>
          <p:spPr>
            <a:xfrm>
              <a:off x="0" y="568051"/>
              <a:ext cx="2844000" cy="492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Clr>
                  <a:srgbClr val="000000"/>
                </a:buClr>
                <a:buSzPts val="2400"/>
                <a:buFont typeface="Arial"/>
                <a:buNone/>
              </a:pPr>
              <a:r>
                <a:rPr b="0" i="0" lang="en-US" sz="2400" u="none" cap="none" strike="noStrike">
                  <a:solidFill>
                    <a:srgbClr val="000000"/>
                  </a:solidFill>
                  <a:latin typeface="Poppins"/>
                  <a:ea typeface="Poppins"/>
                  <a:cs typeface="Poppins"/>
                  <a:sym typeface="Poppins"/>
                </a:rPr>
                <a:t>/senaisp.itu</a:t>
              </a:r>
              <a:endParaRPr b="0" i="0" sz="2400" u="none" cap="none" strike="noStrike">
                <a:solidFill>
                  <a:srgbClr val="000000"/>
                </a:solidFill>
                <a:latin typeface="Poppins"/>
                <a:ea typeface="Poppins"/>
                <a:cs typeface="Poppins"/>
                <a:sym typeface="Poppins"/>
              </a:endParaRPr>
            </a:p>
          </p:txBody>
        </p:sp>
      </p:grpSp>
      <p:sp>
        <p:nvSpPr>
          <p:cNvPr id="392" name="Google Shape;392;p16"/>
          <p:cNvSpPr/>
          <p:nvPr/>
        </p:nvSpPr>
        <p:spPr>
          <a:xfrm>
            <a:off x="14706022" y="599788"/>
            <a:ext cx="3200983" cy="833009"/>
          </a:xfrm>
          <a:custGeom>
            <a:rect b="b" l="l" r="r" t="t"/>
            <a:pathLst>
              <a:path extrusionOk="0" h="1015865" w="3988764">
                <a:moveTo>
                  <a:pt x="0" y="0"/>
                </a:moveTo>
                <a:lnTo>
                  <a:pt x="3988765" y="0"/>
                </a:lnTo>
                <a:lnTo>
                  <a:pt x="3988765" y="1015866"/>
                </a:lnTo>
                <a:lnTo>
                  <a:pt x="0" y="101586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93" name="Google Shape;393;p16"/>
          <p:cNvGrpSpPr/>
          <p:nvPr/>
        </p:nvGrpSpPr>
        <p:grpSpPr>
          <a:xfrm>
            <a:off x="1534959" y="2851188"/>
            <a:ext cx="7762810" cy="5194221"/>
            <a:chOff x="1648350" y="1982600"/>
            <a:chExt cx="6664501" cy="4459324"/>
          </a:xfrm>
        </p:grpSpPr>
        <p:pic>
          <p:nvPicPr>
            <p:cNvPr id="394" name="Google Shape;394;p16"/>
            <p:cNvPicPr preferRelativeResize="0"/>
            <p:nvPr/>
          </p:nvPicPr>
          <p:blipFill rotWithShape="1">
            <a:blip r:embed="rId5">
              <a:alphaModFix/>
            </a:blip>
            <a:srcRect b="0" l="0" r="0" t="0"/>
            <a:stretch/>
          </p:blipFill>
          <p:spPr>
            <a:xfrm>
              <a:off x="1648350" y="1982600"/>
              <a:ext cx="6664501" cy="4459324"/>
            </a:xfrm>
            <a:prstGeom prst="rect">
              <a:avLst/>
            </a:prstGeom>
            <a:noFill/>
            <a:ln>
              <a:noFill/>
            </a:ln>
          </p:spPr>
        </p:pic>
        <p:sp>
          <p:nvSpPr>
            <p:cNvPr id="395" name="Google Shape;395;p16"/>
            <p:cNvSpPr/>
            <p:nvPr/>
          </p:nvSpPr>
          <p:spPr>
            <a:xfrm>
              <a:off x="1648350" y="1982603"/>
              <a:ext cx="6664500" cy="4459200"/>
            </a:xfrm>
            <a:prstGeom prst="rect">
              <a:avLst/>
            </a:prstGeom>
            <a:solidFill>
              <a:srgbClr val="000000">
                <a:alpha val="0"/>
              </a:srgbClr>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FOTO DA ESCOLA</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0x01010096047AC9DEFB4747B22467A5254572DF</vt:lpwstr>
  </property>
  <property fmtid="{D5CDD505-2E9C-101B-9397-08002B2CF9AE}" pid="3" name="MediaServiceImageTags">
    <vt:lpwstr/>
  </property>
</Properties>
</file>