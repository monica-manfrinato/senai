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V7/5dZDK7VC+vcN/s2zRnQgeL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0ab9020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50ab90200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4d22737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54d227377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d227377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54d227377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4d22737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54d227377a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4d227377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Imagine que você está utilizando um computador em um café e precisa acessar arquivos confidenciais da sua empresa. Se você se conectar diretamente ao servidor da empresa, seus dados podem ser interceptados por qualquer pessoa mal-intencionada naquela rede Wi-Fi.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É como enviar uma carta com informações pessoais em um envelope transparente através do correio - qualquer pessoa que manusear essa carta poderá ler seu conteúdo.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Ao utilizar uma VPN, você cria um "túnel" seguro e protegido através da internet. Seus dados são criptografados antes de saírem do seu dispositivo e só são descriptografados quando chegam ao destino final.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Continuando com a analogia postal, usar uma VPN é como colocar sua carta dentro de um cofre blindado com código de acesso. Mesmo que alguém intercepte o cofre durante o trajeto, não conseguirá ver o conteúdo sem a chave correta.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54d227377a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d227377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54d227377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4d227377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54d227377a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54d227377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54d227377a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4d227377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54d227377a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4d227377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54d227377a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4d227377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54d227377a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4d227377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54d227377a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www.youtube.com/watch?v=Hk8fVkVMKP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800347" y="4261250"/>
            <a:ext cx="126873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4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(Virtual Private Network)</a:t>
            </a:r>
            <a:endParaRPr b="1" sz="7624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p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p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6"/>
          <p:cNvSpPr txBox="1"/>
          <p:nvPr/>
        </p:nvSpPr>
        <p:spPr>
          <a:xfrm>
            <a:off x="2043300" y="1265250"/>
            <a:ext cx="1307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Redes Privadas x Redes Públicas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685075" y="3237353"/>
            <a:ext cx="14443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Antes de abordarmos no conceito e definição de VPN, é fundamental compreender a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diferença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entre redes privadas e redes públicas, pois a VPN surge  justamente como uma solução para os problemas associados a essa distinção.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778348" y="4719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043307" y="962025"/>
            <a:ext cx="61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9763" y="5376600"/>
            <a:ext cx="3928475" cy="392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0ab902004_0_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50ab902004_0_1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g350ab902004_0_1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" name="Google Shape;111;g350ab902004_0_1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2" name="Google Shape;112;g350ab902004_0_1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g350ab902004_0_1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g350ab902004_0_16"/>
          <p:cNvSpPr txBox="1"/>
          <p:nvPr/>
        </p:nvSpPr>
        <p:spPr>
          <a:xfrm>
            <a:off x="1685075" y="3237353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rede privada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é uma rede de computadores que está isolado do acesso ao público, sendo geralmente controlada por uma única organização. Por exemplo: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Rede Local (LAN) de uma empresa;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Rede doméstica em sua casa;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Infraestrutura de rede interna de uma universidade.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Caracterísitcas das rede privadas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Acesso restrito e controlado;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Administração centralizada;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Maior controle sobre o tráfego de dados;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Menor exposição a ameaças externas.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g350ab902004_0_16"/>
          <p:cNvSpPr txBox="1"/>
          <p:nvPr/>
        </p:nvSpPr>
        <p:spPr>
          <a:xfrm>
            <a:off x="2043302" y="1189050"/>
            <a:ext cx="110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Redes Privadas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0ab902004_0_1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50ab902004_0_16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4d227377a_0_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54d227377a_0_1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g354d227377a_0_1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5" name="Google Shape;125;g354d227377a_0_1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26" name="Google Shape;126;g354d227377a_0_1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54d227377a_0_1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g354d227377a_0_15"/>
          <p:cNvSpPr txBox="1"/>
          <p:nvPr/>
        </p:nvSpPr>
        <p:spPr>
          <a:xfrm>
            <a:off x="1685075" y="3237353"/>
            <a:ext cx="14443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rede pública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é acessível a qualquer pessoa sem restrições significativas. Por exemplo: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Wi-Fi gratuito em cafeterias, aeroportos e hotéis;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Hotspots públicos em praças e parques;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Redes de bibliotecas e outros espaços públicos.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Caracterísitcas das redes públicas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Acesso aberto e não controlado;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Segurança limitada ou inexistente;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Administração geralmente mínima;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Tráfego potencialmente monitorado;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Alta exposição a riscos de segurança.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g354d227377a_0_15"/>
          <p:cNvSpPr txBox="1"/>
          <p:nvPr/>
        </p:nvSpPr>
        <p:spPr>
          <a:xfrm>
            <a:off x="2043302" y="1189050"/>
            <a:ext cx="110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Redes Públicas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54d227377a_0_1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54d227377a_0_15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4d227377a_0_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54d227377a_0_2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354d227377a_0_2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9" name="Google Shape;139;g354d227377a_0_2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0" name="Google Shape;140;g354d227377a_0_2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g354d227377a_0_2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54d227377a_0_28"/>
          <p:cNvSpPr txBox="1"/>
          <p:nvPr/>
        </p:nvSpPr>
        <p:spPr>
          <a:xfrm>
            <a:off x="1685075" y="3237353"/>
            <a:ext cx="144438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Por conta da falta de criptografia e segurança de redes públicas, ao se conectar você está sujeito a diversos riscos, entre eles: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Ataque MitM (Man-in-the-Middle)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o hacker cria um ponto de acesso falso e quando você se conecta, todo o tráfego passa pelo computador dele antes de chegar à internet;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Sniffing de pacotes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Uso de ferramentas para capturar e analisar pacotes de dados que trafegam em uma rede;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Evil Twin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o hacker cria uma REDE falsa que imita uma rede legitima;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Malware e vírus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propagação entre vários usuários conectados na rede.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Vamos entender como a VPN resolve esses problemas?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54d227377a_0_28"/>
          <p:cNvSpPr txBox="1"/>
          <p:nvPr/>
        </p:nvSpPr>
        <p:spPr>
          <a:xfrm>
            <a:off x="2043302" y="1189050"/>
            <a:ext cx="110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Riscos de uma rede pública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4d227377a_0_2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54d227377a_0_28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54d227377a_0_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33876" y="7394950"/>
            <a:ext cx="2815950" cy="28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4d227377a_0_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54d227377a_0_4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g354d227377a_0_4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g354d227377a_0_4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55" name="Google Shape;155;g354d227377a_0_4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354d227377a_0_4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54d227377a_0_42"/>
          <p:cNvSpPr txBox="1"/>
          <p:nvPr/>
        </p:nvSpPr>
        <p:spPr>
          <a:xfrm>
            <a:off x="1685075" y="3237353"/>
            <a:ext cx="144438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Rede Virtual Privada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(VPN) é uma tecnologia que cria uma conexão segura e criptografada sobre uma rede pública (como a Internet).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Esta tecnologia permite que dados sejam transmitidos com segurança entre redes remotas, como se estivessem conectados diretamente a uma rede local, mesmo através de uma conexão pública.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g354d227377a_0_42"/>
          <p:cNvSpPr txBox="1"/>
          <p:nvPr/>
        </p:nvSpPr>
        <p:spPr>
          <a:xfrm>
            <a:off x="2043302" y="1189050"/>
            <a:ext cx="110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uma VPN?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54d227377a_0_4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54d227377a_0_42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4d227377a_0_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54d227377a_0_57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54d227377a_0_57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8" name="Google Shape;168;g354d227377a_0_57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9" name="Google Shape;169;g354d227377a_0_57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D5E0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54d227377a_0_57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solidFill>
              <a:srgbClr val="D5E0FE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g354d227377a_0_57"/>
          <p:cNvSpPr txBox="1"/>
          <p:nvPr/>
        </p:nvSpPr>
        <p:spPr>
          <a:xfrm>
            <a:off x="2043302" y="1189050"/>
            <a:ext cx="110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na prática?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54d227377a_0_57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54d227377a_0_57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54d227377a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4850" y="2946625"/>
            <a:ext cx="11918291" cy="72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4d227377a_0_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54d227377a_0_8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g354d227377a_0_8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" name="Google Shape;182;g354d227377a_0_8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83" name="Google Shape;183;g354d227377a_0_8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54d227377a_0_8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g354d227377a_0_85"/>
          <p:cNvSpPr txBox="1"/>
          <p:nvPr/>
        </p:nvSpPr>
        <p:spPr>
          <a:xfrm>
            <a:off x="1685075" y="3237353"/>
            <a:ext cx="144438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AutoNum type="arabicPeriod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Estabelecendo Conexão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dispositivo do usuário inicia contato com o servidor VPN;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servidor autentica 	o usuário através de credenciais;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8288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AutoNum type="arabicPeriod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Processo de Tunelamento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Cada pacote de dados é encapsulado dentro de outro pacote;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pacote interno contém os dados originais (destinados ao alvo final);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pacote externo contém informações de roteamento para o servidor VPN.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AutoNum type="arabicPeriod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Fluxo de Dados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Cliente → [Pacote Criptografados] → Internet Pública → Servidor VPN → [Pacote          Descriptografado] →  Destino Final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54d227377a_0_85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Como funciona tecnicamente?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54d227377a_0_8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54d227377a_0_85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4d227377a_0_9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54d227377a_0_9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g354d227377a_0_9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6" name="Google Shape;196;g354d227377a_0_9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7" name="Google Shape;197;g354d227377a_0_9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g354d227377a_0_9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g354d227377a_0_98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Características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4d227377a_0_98"/>
          <p:cNvSpPr txBox="1"/>
          <p:nvPr/>
        </p:nvSpPr>
        <p:spPr>
          <a:xfrm>
            <a:off x="1685075" y="3237353"/>
            <a:ext cx="144438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Tunelamento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estabelece um “Túnel” virtual através da internet;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Criptografia: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protege os dados transmitidos contra interceptação;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Autenticação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Verifica a identidade os usuários e dispositivos que tentam se conectar;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Encapsulamento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: Envolve os pacotes de dados originais em novos pacotes com informações adicionais de roteamento e segurança.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 	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g354d227377a_0_9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54d227377a_0_98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4d227377a_0_1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54d227377a_0_1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54d227377a_0_11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0" name="Google Shape;210;g354d227377a_0_11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11" name="Google Shape;211;g354d227377a_0_1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54d227377a_0_1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g354d227377a_0_111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Tipos de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4d227377a_0_111"/>
          <p:cNvSpPr txBox="1"/>
          <p:nvPr/>
        </p:nvSpPr>
        <p:spPr>
          <a:xfrm>
            <a:off x="1685075" y="3237353"/>
            <a:ext cx="14443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VPN de Acesso Remoto: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conecta usuários individuais a uma rede privada;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VPN Site-a-Site: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conecta redes inteiras entre si;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VPN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Intranet: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conecta diversos departamentos de uma organização;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VPN Extranet: 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conecta a organização com parceiros externos, clientes e fornecedores 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54d227377a_0_1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54d227377a_0_111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4d227377a_0_1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54d227377a_0_12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g354d227377a_0_12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g354d227377a_0_12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5" name="Google Shape;225;g354d227377a_0_12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54d227377a_0_12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54d227377a_0_124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Aplicações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54d227377a_0_12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54d227377a_0_124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4d227377a_0_124"/>
          <p:cNvSpPr txBox="1"/>
          <p:nvPr/>
        </p:nvSpPr>
        <p:spPr>
          <a:xfrm>
            <a:off x="1685075" y="3237353"/>
            <a:ext cx="14443800" cy="5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As VPNs possuem diversas aplicações fundamentais em ambientes corporativos, governamentais, individuais e até universitários.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Aplicações Empresariais: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que funcionários acessem recursos da rede corporativa de qualquer lugar;.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Mantém a segurança dos dados sensíveis durante o acesso externo;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a interconexão entre filiais;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Pode estabelecer conexão com parceiros e fornecedores.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4d227377a_0_1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54d227377a_0_138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54d227377a_0_138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8" name="Google Shape;238;g354d227377a_0_138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9" name="Google Shape;239;g354d227377a_0_138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54d227377a_0_138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54d227377a_0_138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Aplicações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54d227377a_0_138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54d227377a_0_138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4d227377a_0_138"/>
          <p:cNvSpPr txBox="1"/>
          <p:nvPr/>
        </p:nvSpPr>
        <p:spPr>
          <a:xfrm>
            <a:off x="1685075" y="3237353"/>
            <a:ext cx="14443800" cy="6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Aplicações para Usuários: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Oculta o endereço IP real e criptografa o tráfego.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Protege durante o uso de redes Wi-Fi públicas não seguras;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Dificulta o rastreamento por anunciantes e outros terceiros;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Permite acesso a conteúdo bloqueado geograficamente;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Possibilita o uso de serviços não disponíveis em determinadas regiões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Possibilita o uso de serviços não disponíveis em determinadas regiões.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4d227377a_0_15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54d227377a_0_15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g354d227377a_0_15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2" name="Google Shape;252;g354d227377a_0_15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53" name="Google Shape;253;g354d227377a_0_15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g354d227377a_0_15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354d227377a_0_156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Desafios e 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54d227377a_0_15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54d227377a_0_156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54d227377a_0_156"/>
          <p:cNvSpPr txBox="1"/>
          <p:nvPr/>
        </p:nvSpPr>
        <p:spPr>
          <a:xfrm>
            <a:off x="1685075" y="3237353"/>
            <a:ext cx="144438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Bloqueio de VPN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Alguns países e organizações bloqueiam ativamente conexões VPN.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Confiança no Provedor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O provedor de VPN pode teoricamente monitorar o tráfego, portanto é importante escolher serviços que tenham políticas claras de não retenção de logs.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Falsos Sensos de Segurança</a:t>
            </a:r>
            <a:br>
              <a:rPr lang="en-US" sz="24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VPNs não protegem contra todos os vetores de ataque, é necessário ter bom senso e tomar outras medidas de segurança, não ache que está </a:t>
            </a:r>
            <a:r>
              <a:rPr b="1" lang="en-US" sz="2400">
                <a:latin typeface="Poppins"/>
                <a:ea typeface="Poppins"/>
                <a:cs typeface="Poppins"/>
                <a:sym typeface="Poppins"/>
              </a:rPr>
              <a:t>totalmente seguro</a:t>
            </a: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4d227377a_0_16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54d227377a_0_16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g354d227377a_0_16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6" name="Google Shape;266;g354d227377a_0_16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67" name="Google Shape;267;g354d227377a_0_16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g354d227377a_0_16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4d227377a_0_169"/>
          <p:cNvSpPr txBox="1"/>
          <p:nvPr/>
        </p:nvSpPr>
        <p:spPr>
          <a:xfrm>
            <a:off x="2043300" y="1189050"/>
            <a:ext cx="121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Vídeo sobre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54d227377a_0_16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54d227377a_0_169"/>
          <p:cNvSpPr txBox="1"/>
          <p:nvPr/>
        </p:nvSpPr>
        <p:spPr>
          <a:xfrm>
            <a:off x="2043305" y="962025"/>
            <a:ext cx="518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54d227377a_0_169"/>
          <p:cNvSpPr txBox="1"/>
          <p:nvPr/>
        </p:nvSpPr>
        <p:spPr>
          <a:xfrm>
            <a:off x="1685075" y="3237353"/>
            <a:ext cx="144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https://www.youtube.com/watch?v=Hk8fVkVMKPY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81" name="Google Shape;281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84" name="Google Shape;284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87" name="Google Shape;287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90" name="Google Shape;290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92" name="Google Shape;292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94" name="Google Shape;29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