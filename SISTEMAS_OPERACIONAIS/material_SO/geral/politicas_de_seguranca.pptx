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10287000" cx="18288000"/>
  <p:notesSz cx="6858000" cy="9144000"/>
  <p:embeddedFontLst>
    <p:embeddedFont>
      <p:font typeface="Poppi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ij3O6O8br3QW/bdc7StAhhydY4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Poppins-bold.fntdata"/><Relationship Id="rId52" Type="http://schemas.openxmlformats.org/officeDocument/2006/relationships/font" Target="fonts/Poppins-regular.fntdata"/><Relationship Id="rId11" Type="http://schemas.openxmlformats.org/officeDocument/2006/relationships/slide" Target="slides/slide6.xml"/><Relationship Id="rId55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54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2bee0e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2bee0e5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1780e46a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61780e46a1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ffb361de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5ffb361de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fb361de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5ffb361de8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ffb361de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5ffb361de8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ffb361d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5ffb361de8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fb361de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5ffb361de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ffb361de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5ffb361de8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fb361de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5ffb361de8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ffb361de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5ffb361de8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ffb361de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5ffb361de8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ffb361de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5ffb361de8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12be7970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612be7970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12be79709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612be79709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12be79709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612be79709_2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12be79709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612be79709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12be79709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612be79709_2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1780e46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Não Repúdio: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Assinatura digital de um contrato impede que a parte alegue que não foi ela quem assinou;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Privacidade: Solicitar e registrar o consentimento do usuário antes de coletar dados em um formulário.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Adoção da ISO/IEC 27001 como norma de segurança da informação.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g361780e46a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1780e46a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/>
              <a:t>Não Repúdio: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Assinatura digital de um contrato impede que a parte alegue que não foi ela quem assinou;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Privacidade: Solicitar e registrar o consentimento do usuário antes de coletar dados em um formulário.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Adoção da ISO/IEC 27001 como norma de segurança da informação.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g361780e46a1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1780e46a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61780e46a1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1780e46a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g361780e46a1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1780e46a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61780e46a1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1780e46a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g361780e46a1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1a03b8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g361a03b8d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1a03b8de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g361a03b8de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1a03b8de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g361a03b8de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61a297df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g361a297df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1a297dfd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61a297dfd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a297dfd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g361a297dfdb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1a297dfd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g361a297dfdb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61a297dfd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g361a297dfdb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61a297dfd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g361a297dfdb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61a297dfd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g361a297dfdb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1a297dfd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g361a297dfdb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1a297dfd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g361a297dfdb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1a297dfd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g361a297dfdb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1a297dfd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3" name="Google Shape;573;g361a297dfdb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61a297dfd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7" name="Google Shape;587;g361a297dfdb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1a297dfd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1" name="Google Shape;601;g361a297dfdb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1a297dfd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5" name="Google Shape;615;g361a297dfdb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61a297dfd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g361a297dfdb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1a297dfd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7" name="Google Shape;637;g361a297dfdb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61a297dfd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1" name="Google Shape;651;g361a297dfdb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61a297dfd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g361a297dfdb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0" name="Google Shape;68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800347" y="4108850"/>
            <a:ext cx="126873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POLÍTICA</a:t>
            </a: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SEGURANÇA DA INFORMAÇÃO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2bee0e52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2bee0e52_0_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2bee0e52_0_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2bee0e52_0_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2bee0e52_0_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2bee0e52_0_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2bee0e52_0_1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Segurança (PSI)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562bee0e52_0_1"/>
          <p:cNvSpPr txBox="1"/>
          <p:nvPr/>
        </p:nvSpPr>
        <p:spPr>
          <a:xfrm>
            <a:off x="1685075" y="3313553"/>
            <a:ext cx="14443800" cy="50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 Política de Segurança da Informação (PSI) é um documento formal que estabelece diretrizes, normas e procedimentos para garantir a proteção das informações de uma organização.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Esse documento determina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prevenção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e respostas, para se proteger de vazamentos, invasões e outras formas de perda da informação.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 política de segurança da informação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possui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alguns objetivos, vamos dar uma olhada: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2bee0e52_0_1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2bee0e52_0_1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1780e46a1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61780e46a1_0_44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61780e46a1_0_44"/>
          <p:cNvSpPr txBox="1"/>
          <p:nvPr/>
        </p:nvSpPr>
        <p:spPr>
          <a:xfrm>
            <a:off x="2800347" y="4261250"/>
            <a:ext cx="1268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g361780e46a1_0_44"/>
          <p:cNvSpPr txBox="1"/>
          <p:nvPr/>
        </p:nvSpPr>
        <p:spPr>
          <a:xfrm>
            <a:off x="5977797" y="1499350"/>
            <a:ext cx="63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fb361de8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5ffb361de8_0_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g35ffb361de8_0_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" name="Google Shape;118;g35ffb361de8_0_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9" name="Google Shape;119;g35ffb361de8_0_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g35ffb361de8_0_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g35ffb361de8_0_1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Confidencialidade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5ffb361de8_0_1"/>
          <p:cNvSpPr txBox="1"/>
          <p:nvPr/>
        </p:nvSpPr>
        <p:spPr>
          <a:xfrm>
            <a:off x="1685075" y="3313553"/>
            <a:ext cx="144438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É garantir a proteção da informação contra acessos não autorizados . Ou seja, garantir que apenas pessoas, sistemas ou processos devidamente autorizados possam acessar determinados dados.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Exemplos práticos de confidencialidade: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Dados de cliente acessíveis apenas ao setor responsável;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Documentos estratégicos da empresa com acesso restrito;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Sistemas internos protegidos com autenticação.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g35ffb361de8_0_1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5ffb361de8_0_1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fb361de8_0_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5ffb361de8_0_2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g35ffb361de8_0_2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" name="Google Shape;132;g35ffb361de8_0_2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3" name="Google Shape;133;g35ffb361de8_0_2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g35ffb361de8_0_2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g35ffb361de8_0_27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Confidencialidade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5ffb361de8_0_27"/>
          <p:cNvSpPr txBox="1"/>
          <p:nvPr/>
        </p:nvSpPr>
        <p:spPr>
          <a:xfrm>
            <a:off x="1685075" y="3313553"/>
            <a:ext cx="144438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garantir a confidencialidade podemos levar em consideração: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Controle de acesso: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definir quem pode acessar o quê;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Autenticação forte: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uso de senhas seguras, biometria, tokens, MFA etc;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Treinamentos e conscientização: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ensinar colaboradores sobre riscos, ameaças etc;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Políticas e procedimentos: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usar contratos de confidencialidade com funcionários.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g35ffb361de8_0_27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5ffb361de8_0_27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Como garantir?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fb361de8_0_10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5ffb361de8_0_10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g35ffb361de8_0_10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" name="Google Shape;146;g35ffb361de8_0_10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7" name="Google Shape;147;g35ffb361de8_0_10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g35ffb361de8_0_10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g35ffb361de8_0_105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Confidencialidade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5ffb361de8_0_105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Caso a confidencialidade seja comprometida, é preciso considerar os seguintes riscos: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Vazamento de dados pessoais ou financeiros;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Espionagem corporativa;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Perda de confiança de clientes e parceiros;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Multas e penalidades legais;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Danos à reputação da organização;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g35ffb361de8_0_105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5ffb361de8_0_105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fb361de8_0_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5ffb361de8_0_1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35ffb361de8_0_1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0" name="Google Shape;160;g35ffb361de8_0_1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1" name="Google Shape;161;g35ffb361de8_0_1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35ffb361de8_0_1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35ffb361de8_0_14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Integridade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5ffb361de8_0_14"/>
          <p:cNvSpPr txBox="1"/>
          <p:nvPr/>
        </p:nvSpPr>
        <p:spPr>
          <a:xfrm>
            <a:off x="1685075" y="3313553"/>
            <a:ext cx="144438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É garantir que a informação permaneça exata, completa e não tenha sido alterada de forma indevida ou acidental durante seu ciclo de vida (criação, armazenamento, processamento e transmissão)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Exemplos práticos de integridade: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 relatório financeiro deve refletir exatamente os valores lançados sem edições maliciosas;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 sistema hospitalar em que o histórico do paciente precisa ser mantido íntegro e seguro.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35ffb361de8_0_14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5ffb361de8_0_14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ffb361de8_0_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5ffb361de8_0_4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g35ffb361de8_0_4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4" name="Google Shape;174;g35ffb361de8_0_4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5" name="Google Shape;175;g35ffb361de8_0_4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5ffb361de8_0_4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5ffb361de8_0_40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Integridade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ffb361de8_0_40"/>
          <p:cNvSpPr txBox="1"/>
          <p:nvPr/>
        </p:nvSpPr>
        <p:spPr>
          <a:xfrm>
            <a:off x="1685075" y="3313553"/>
            <a:ext cx="14443800" cy="5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garantir a integridade podemos levar em consideração: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Logs e trilhas de auditoria: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registrar as alterações feitas nos sistemas;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Assinaturas digitais e checksums: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usar técnicas como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hash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para detectar alterações nos arquivos ou mensagens;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Sistemas de versionamento: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controlar versões de documentos ou registros para evitar confusões e perdas;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Backups regulares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em caso de falhas, é possível restaurar dados íntegros a partir de cópias confiáveis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5ffb361de8_0_40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5ffb361de8_0_40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Como garantir?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fb361de8_0_1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5ffb361de8_0_11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g35ffb361de8_0_11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8" name="Google Shape;188;g35ffb361de8_0_11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9" name="Google Shape;189;g35ffb361de8_0_11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5ffb361de8_0_11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g35ffb361de8_0_118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Integridade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ffb361de8_0_118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Caso a integridade seja comprometida, é preciso considerar os seguintes riscos: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Decisões com base em informações erradas;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Prejuízos financeiros ou operacionais;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Fraudes internas e externas;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Problemas legais;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Perda de confiança dos clientes, parceiros e usuários.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5ffb361de8_0_118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5ffb361de8_0_118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ffb361de8_0_7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5ffb361de8_0_7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g35ffb361de8_0_7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2" name="Google Shape;202;g35ffb361de8_0_7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3" name="Google Shape;203;g35ffb361de8_0_7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5ffb361de8_0_7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5ffb361de8_0_79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Disponibilidade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ffb361de8_0_79"/>
          <p:cNvSpPr txBox="1"/>
          <p:nvPr/>
        </p:nvSpPr>
        <p:spPr>
          <a:xfrm>
            <a:off x="1685075" y="3313553"/>
            <a:ext cx="144438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garantir que a informação e os sistemas estejam acessíveis e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utilizáveis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pelas pessoas autorizadas sempre que necessário.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Ou seja, mesmo que a informação seja confidencial e íntegra,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se não estiver disponível no momento certo, pode causar prejuízos.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Exemplos práticos de integridade: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 sistema de folha de pagamento disponível no período de fechamento da folha;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Backups acessíveis quando há perda ou corrupção de dados.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g35ffb361de8_0_79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5ffb361de8_0_79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ffb361de8_0_1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5ffb361de8_0_13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g35ffb361de8_0_13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6" name="Google Shape;216;g35ffb361de8_0_13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7" name="Google Shape;217;g35ffb361de8_0_13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5ffb361de8_0_13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5ffb361de8_0_131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Disponibilidade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ffb361de8_0_131"/>
          <p:cNvSpPr txBox="1"/>
          <p:nvPr/>
        </p:nvSpPr>
        <p:spPr>
          <a:xfrm>
            <a:off x="1685075" y="3313553"/>
            <a:ext cx="14443800" cy="5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garantir a disponibilidade podemos levar em consideração: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Infraestrutura confiável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uso de servidores, links de internet seguros;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Política de backups: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realizar backups periódicos para armazenar cópias e testar a restauração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Planos de contingência e continuidade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Ter planos documentados para continuar operações em caso de falhas, desastres ou ataques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Manutenção preventiva e monitoramento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Monitorar os sistemas continuamente para detectar falhas antes que afetem o serviço.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5ffb361de8_0_131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5ffb361de8_0_131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Como garantir?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ffb361de8_0_1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5ffb361de8_0_1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g35ffb361de8_0_1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0" name="Google Shape;230;g35ffb361de8_0_14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1" name="Google Shape;231;g35ffb361de8_0_1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g35ffb361de8_0_1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5ffb361de8_0_144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Disponibilidade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5ffb361de8_0_144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Caso a disponibilidade seja comprometida, é preciso considerar os seguintes riscos: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Interrupção das operações da empresa ou serviço;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Perda de vendas, produtividade, reputação;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Insatisfação de clientes ou parceiros;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Multas e sanções em setores regulados (como financeiro e saúde).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g35ffb361de8_0_144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5ffb361de8_0_144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ffb361de8_0_1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5ffb361de8_0_1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g35ffb361de8_0_15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4" name="Google Shape;244;g35ffb361de8_0_15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45" name="Google Shape;245;g35ffb361de8_0_1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5ffb361de8_0_1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5ffb361de8_0_157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Autenticidade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5ffb361de8_0_157"/>
          <p:cNvSpPr txBox="1"/>
          <p:nvPr/>
        </p:nvSpPr>
        <p:spPr>
          <a:xfrm>
            <a:off x="1685075" y="3313553"/>
            <a:ext cx="14443800" cy="6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É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garantir que a informação, comunicação ou transação realmente veio da fonte que afirma tê-la enviado e não foi adulterada no caminho.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Ou seja, trata-se de verificar a identidade de usuários, sistemas ou dados e garantir que não houve falsificação ou fraude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Exemplos práticos de integridade: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 e-mail assinado digitalmente por um gerente, garantindo que foi ele quem enviou;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Um funcionário acessando o sistema com seu login e senha pessoal, provando sua identidade.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5ffb361de8_0_157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5ffb361de8_0_157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12be79709_2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612be79709_2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g3612be79709_2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8" name="Google Shape;258;g3612be79709_2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9" name="Google Shape;259;g3612be79709_2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g3612be79709_2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612be79709_2_0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Autenticidade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12be79709_2_0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612be79709_2_0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Como garantir?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612be79709_2_0"/>
          <p:cNvSpPr txBox="1"/>
          <p:nvPr/>
        </p:nvSpPr>
        <p:spPr>
          <a:xfrm>
            <a:off x="1685075" y="3313553"/>
            <a:ext cx="144438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garantir a autenticidade podemos levar em consideração: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Autenticação forte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uso de senhas robustas, autenticação de dois fatores (2FA), biometria etc;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Certificados digitais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utilizados para autenticar websites, e-mails e sistemas, garantindo a identidade das partes envolvidas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Assinaturas digitais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assegurar que o conteúdo foi criado por quem afirma tê-lo criado, sem alterações após a assinatura;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12be79709_2_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612be79709_2_1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g3612be79709_2_1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2" name="Google Shape;272;g3612be79709_2_1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73" name="Google Shape;273;g3612be79709_2_1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612be79709_2_1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g3612be79709_2_13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Autenticidade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612be79709_2_13"/>
          <p:cNvSpPr txBox="1"/>
          <p:nvPr/>
        </p:nvSpPr>
        <p:spPr>
          <a:xfrm>
            <a:off x="1685075" y="3313553"/>
            <a:ext cx="144438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Caso a autenticidade seja comprometida, é preciso considerar os seguintes riscos: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Acesso não autorizado por usuários falsos ou mal-intencionados;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Phishing e roubo de credenciais, levando a fraudes e vazamento de dados;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Disseminação de informações falsas atribuídas a fontes confiáveis;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Danos à reputação da empresa e perda de confiança por parte de clientes e parceiros.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612be79709_2_13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612be79709_2_13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12be79709_2_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612be79709_2_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g3612be79709_2_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6" name="Google Shape;286;g3612be79709_2_3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87" name="Google Shape;287;g3612be79709_2_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g3612be79709_2_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g3612be79709_2_39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Legalidade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612be79709_2_39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612be79709_2_39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612be79709_2_39"/>
          <p:cNvSpPr txBox="1"/>
          <p:nvPr/>
        </p:nvSpPr>
        <p:spPr>
          <a:xfrm>
            <a:off x="1685075" y="3313553"/>
            <a:ext cx="14443800" cy="6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garantir que a informação esteja em conformidade com leis, normas e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regulamentações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aplicáveis à coleta, uso, armazenamento, compartilhamento e proteção das informações.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 organização deve atuar de forma ética e dentro da legislação vigente, respeitando os direitos de todos os envolvidos.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Exemplos práticos de legalidade: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Cumprir a Lei Geral de Proteção de Dados (LGPD) ao tratar dados pessoais de clientes e funcionários;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Manter contratos e documentos digitais com validade jurídica por meio de assinaturas eletrônicas regulamentadas..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12be79709_2_5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612be79709_2_5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g3612be79709_2_5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0" name="Google Shape;300;g3612be79709_2_5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01" name="Google Shape;301;g3612be79709_2_5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g3612be79709_2_5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g3612be79709_2_52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Legalidade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612be79709_2_52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612be79709_2_52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Como garantir?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612be79709_2_52"/>
          <p:cNvSpPr txBox="1"/>
          <p:nvPr/>
        </p:nvSpPr>
        <p:spPr>
          <a:xfrm>
            <a:off x="1685075" y="3313553"/>
            <a:ext cx="144438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 garantir a legalidade podemos levar em consideração: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Políticas internas claras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definir e divulgar políticas de privacidade, termos de uso e códigos de conduta;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Treinamento e conscientização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capacitar colaboradores sobre as responsabilidade legais no tratamento de informações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Registro de consentimento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manter provas de que o titular consentiu com o uso dos dados, quando aplicável.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12be79709_2_6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612be79709_2_6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g3612be79709_2_6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4" name="Google Shape;314;g3612be79709_2_6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15" name="Google Shape;315;g3612be79709_2_6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g3612be79709_2_6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g3612be79709_2_65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Legalidade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612be79709_2_65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Caso a legalidade seja comprometida, é preciso considerar os seguintes riscos: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Sanções legai e multas elevadas (previstas pela LGPD);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Danos à imagem institucional e perda de confiança;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Responsabilização civil e criminal de gestores ou responsáveis pelo tratamento das informações.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g3612be79709_2_65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612be79709_2_65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1780e46a1_0_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61780e46a1_0_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g361780e46a1_0_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" name="Google Shape;328;g361780e46a1_0_1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29" name="Google Shape;329;g361780e46a1_0_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g361780e46a1_0_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g361780e46a1_0_16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Objetivos Complementares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61780e46a1_0_16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61780e46a1_0_16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Outros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61780e46a1_0_16"/>
          <p:cNvSpPr txBox="1"/>
          <p:nvPr/>
        </p:nvSpPr>
        <p:spPr>
          <a:xfrm>
            <a:off x="1685075" y="3313553"/>
            <a:ext cx="14443800" cy="6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Nós abordamos os fundamentos principais da Segurança da Informação, porém quando aprofundamos existem alguns objetivos complementares que podem enriquecer o nosso conhecimento. São eles: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Não repúdio: Garante que uma ação ou comunicação não possa ser negada por quem a realizou. </a:t>
            </a:r>
            <a:br>
              <a:rPr lang="en-US" sz="2600">
                <a:latin typeface="Poppins"/>
                <a:ea typeface="Poppins"/>
                <a:cs typeface="Poppins"/>
                <a:sym typeface="Poppins"/>
              </a:rPr>
            </a:b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Privacidade: Trata do direito do indivíduo controlar como suas informações pessoais são coletadas, usadas e compartilhadas.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Responsabilidade: Garante que pessoas e organizações sejam responsabilizadas por suas ações sobre dados e sistemas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1780e46a1_0_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61780e46a1_0_3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g361780e46a1_0_3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2" name="Google Shape;342;g361780e46a1_0_3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43" name="Google Shape;343;g361780e46a1_0_3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g361780e46a1_0_3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g361780e46a1_0_31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Para que é importante?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61780e46a1_0_31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61780e46a1_0_31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61780e46a1_0_31"/>
          <p:cNvSpPr txBox="1"/>
          <p:nvPr/>
        </p:nvSpPr>
        <p:spPr>
          <a:xfrm>
            <a:off x="1685075" y="3313553"/>
            <a:ext cx="144438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Algumas definições sobre a importância do objetivos das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Políticas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de Segurança da informação.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Proteger ativos de informação contra ameaças internas e externas;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Minimizar riscos de incidentes de segurança;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Garantir a continuidade dos negócios;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Estabelecer cultura de segurança na organização;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Atender requisitos legais e regulatórios.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1780e46a1_0_1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61780e46a1_0_126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61780e46a1_0_126"/>
          <p:cNvSpPr txBox="1"/>
          <p:nvPr/>
        </p:nvSpPr>
        <p:spPr>
          <a:xfrm>
            <a:off x="2800347" y="4261250"/>
            <a:ext cx="1268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Escopo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g361780e46a1_0_126"/>
          <p:cNvSpPr txBox="1"/>
          <p:nvPr/>
        </p:nvSpPr>
        <p:spPr>
          <a:xfrm>
            <a:off x="5977797" y="1499350"/>
            <a:ext cx="63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1780e46a1_0_1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61780e46a1_0_13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g361780e46a1_0_13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4" name="Google Shape;364;g361780e46a1_0_13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65" name="Google Shape;365;g361780e46a1_0_13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g361780e46a1_0_13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g361780e46a1_0_133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Escopo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61780e46a1_0_133"/>
          <p:cNvSpPr txBox="1"/>
          <p:nvPr/>
        </p:nvSpPr>
        <p:spPr>
          <a:xfrm>
            <a:off x="1685075" y="3313553"/>
            <a:ext cx="144438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 escopo da Política de Segurança da Informação define a abrangência da política dentro da organização: quais áreas, sistemas, pessoas, dados e recursos estão sujeitos às regras de segurança estabelecidas no documento.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g361780e46a1_0_133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61780e46a1_0_133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g361780e46a1_0_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1275" y="5676350"/>
            <a:ext cx="3645450" cy="36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1780e46a1_0_1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61780e46a1_0_14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g361780e46a1_0_14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9" name="Google Shape;379;g361780e46a1_0_14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80" name="Google Shape;380;g361780e46a1_0_14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g361780e46a1_0_14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g361780e46a1_0_147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Escopo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61780e46a1_0_147"/>
          <p:cNvSpPr txBox="1"/>
          <p:nvPr/>
        </p:nvSpPr>
        <p:spPr>
          <a:xfrm>
            <a:off x="1685075" y="3313553"/>
            <a:ext cx="144438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Garantir que todos saibam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quem deve seguir a política, em que situações ela se aplica, e quais ativos estão protegidos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Dentro de uma organização o escopo determina: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Quais informações são protegidas pela política;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Quais sistemas são cobertos;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Quais unidades organizacionais devem seguir a política;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Quais processos de negócio estão incluidos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g361780e46a1_0_147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61780e46a1_0_147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1780e46a1_0_16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61780e46a1_0_16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g361780e46a1_0_16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3" name="Google Shape;393;g361780e46a1_0_16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94" name="Google Shape;394;g361780e46a1_0_16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g361780e46a1_0_16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g361780e46a1_0_161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Elementos Comuns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61780e46a1_0_161"/>
          <p:cNvSpPr txBox="1"/>
          <p:nvPr/>
        </p:nvSpPr>
        <p:spPr>
          <a:xfrm>
            <a:off x="1685075" y="3313553"/>
            <a:ext cx="14443800" cy="6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Elementos comuns que geralmente fazem parte desse escopo que a política da segurança da informação abrange: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Informações digitais e físicas;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Sistemas operacionais e aplicativos;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Infraestrutura de rede e comunicações;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Dispositivos de armazenamento e processamento;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Ambientes de desenvolvimento, teste e produção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Relações com fornecedores e parceiros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" name="Google Shape;398;g361780e46a1_0_161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61780e46a1_0_161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Escopo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1a03b8de1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61a03b8de1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g361a03b8de1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7" name="Google Shape;407;g361a03b8de1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08" name="Google Shape;408;g361a03b8de1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g361a03b8de1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g361a03b8de1_0_0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Prático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61a03b8de1_0_0"/>
          <p:cNvSpPr txBox="1"/>
          <p:nvPr/>
        </p:nvSpPr>
        <p:spPr>
          <a:xfrm>
            <a:off x="1685075" y="3313553"/>
            <a:ext cx="14443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“Essa política aplica-se a todos os colaboradores, prestadores de serviço, fornecedores e demais usuários que tenham acesso aos recursos de informação da empresa XYZ, abrangendo dados digitais e físicos, sistemas, redes e dispositivos, independentemente da localização.”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g361a03b8de1_0_0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61a03b8de1_0_0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Escopo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61a03b8de1_0_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61a03b8de1_0_13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61a03b8de1_0_13"/>
          <p:cNvSpPr txBox="1"/>
          <p:nvPr/>
        </p:nvSpPr>
        <p:spPr>
          <a:xfrm>
            <a:off x="2800347" y="4261250"/>
            <a:ext cx="1268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Responsabilidades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g361a03b8de1_0_13"/>
          <p:cNvSpPr txBox="1"/>
          <p:nvPr/>
        </p:nvSpPr>
        <p:spPr>
          <a:xfrm>
            <a:off x="5977797" y="1499350"/>
            <a:ext cx="63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1a03b8de1_0_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61a03b8de1_0_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g361a03b8de1_0_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9" name="Google Shape;429;g361a03b8de1_0_2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30" name="Google Shape;430;g361a03b8de1_0_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g361a03b8de1_0_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g361a03b8de1_0_20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Responsabilidades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61a03b8de1_0_20"/>
          <p:cNvSpPr txBox="1"/>
          <p:nvPr/>
        </p:nvSpPr>
        <p:spPr>
          <a:xfrm>
            <a:off x="1685075" y="3313553"/>
            <a:ext cx="144438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Este tópico define quem é responsável por quê dentro da segurança da informação. Estabelece papéis e atribuições relacionadas à criação, aplicação, fiscalização e cumprimento da PSI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g361a03b8de1_0_20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61a03b8de1_0_20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1a297dfdb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61a297dfdb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g361a297dfdb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3" name="Google Shape;443;g361a297dfdb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44" name="Google Shape;444;g361a297dfdb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g361a297dfdb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g361a297dfdb_0_0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Responsabilidades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61a297dfdb_0_0"/>
          <p:cNvSpPr txBox="1"/>
          <p:nvPr/>
        </p:nvSpPr>
        <p:spPr>
          <a:xfrm>
            <a:off x="1685075" y="3313553"/>
            <a:ext cx="144438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Evitar omissões e garantir que cada pessoa saiba o que se espera dela no contexto da segurança da informação.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ver alguns exemplos da responsabilidade sendo aplicada em perfis empresariais: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g361a297dfdb_0_0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61a297dfdb_0_0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g361a297dfdb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8563" y="5778725"/>
            <a:ext cx="4250875" cy="42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1a297dfdb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61a297dfdb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g361a297dfdb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8" name="Google Shape;458;g361a297dfdb_0_1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59" name="Google Shape;459;g361a297dfdb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g361a297dfdb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1" name="Google Shape;461;g361a297dfdb_0_15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Diretoria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61a297dfdb_0_15"/>
          <p:cNvSpPr txBox="1"/>
          <p:nvPr/>
        </p:nvSpPr>
        <p:spPr>
          <a:xfrm>
            <a:off x="1685075" y="3313553"/>
            <a:ext cx="14443800" cy="22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 diretoria da organização como líderes da empresa devem: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Aprovar a política e garantir sua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integração às estratégias da empresa;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Apoiar a alocação de recursos para segurança da informação.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g361a297dfdb_0_15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61a297dfdb_0_15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1a297dfdb_0_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61a297dfdb_0_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g361a297dfdb_0_2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2" name="Google Shape;472;g361a297dfdb_0_2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73" name="Google Shape;473;g361a297dfdb_0_2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g361a297dfdb_0_2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5" name="Google Shape;475;g361a297dfdb_0_29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Segurança da Informação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61a297dfdb_0_29"/>
          <p:cNvSpPr txBox="1"/>
          <p:nvPr/>
        </p:nvSpPr>
        <p:spPr>
          <a:xfrm>
            <a:off x="1685075" y="3313553"/>
            <a:ext cx="144438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Cargos como DPO, CISO, TI são responsáveis por: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Desenvolver, revisar e atualizar as Políticas de Segurança da Informação;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Monitorar o cumprimento da política e conduzir auditorias internas;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Tratar incidentes de segurança.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Cargos citados: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CISO - Chief Information Security Officer;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DPO - Data Protection Officer;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g361a297dfdb_0_29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61a297dfdb_0_29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1a297dfdb_0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61a297dfdb_0_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g361a297dfdb_0_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6" name="Google Shape;486;g361a297dfdb_0_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487" name="Google Shape;487;g361a297dfdb_0_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g361a297dfdb_0_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9" name="Google Shape;489;g361a297dfdb_0_43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Gestores de áreas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61a297dfdb_0_43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Gestores /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Líderes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dos diversos setores da empresa devem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Garantir que suas equipes estejam cientes e em conformidade com a PSI;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Apoiar treinamentos e conscientização em suas áreas;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g361a297dfdb_0_43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61a297dfdb_0_43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1a297dfdb_0_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61a297dfdb_0_5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g361a297dfdb_0_5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0" name="Google Shape;500;g361a297dfdb_0_5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501" name="Google Shape;501;g361a297dfdb_0_5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g361a297dfdb_0_5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3" name="Google Shape;503;g361a297dfdb_0_56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Colaboradores em geral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61a297dfdb_0_56"/>
          <p:cNvSpPr txBox="1"/>
          <p:nvPr/>
        </p:nvSpPr>
        <p:spPr>
          <a:xfrm>
            <a:off x="1685075" y="3313553"/>
            <a:ext cx="144438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No geral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todos os funcionários de uma empresa devem seguir as seguintes responsabilidades: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Conhecer e seguir as diretrizes da política;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Reportar incidentes ou comportamentos suspeitos;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Proteger senhas, dispositivos e dados conforme orientações.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5" name="Google Shape;505;g361a297dfdb_0_56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61a297dfdb_0_56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61a297dfdb_0_6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61a297dfdb_0_6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g361a297dfdb_0_6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4" name="Google Shape;514;g361a297dfdb_0_6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515" name="Google Shape;515;g361a297dfdb_0_6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g361a297dfdb_0_6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g361a297dfdb_0_69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Fornecedores e terceiros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61a297dfdb_0_69"/>
          <p:cNvSpPr txBox="1"/>
          <p:nvPr/>
        </p:nvSpPr>
        <p:spPr>
          <a:xfrm>
            <a:off x="1685075" y="3313553"/>
            <a:ext cx="144438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Por mais que não façam parte da empresa que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possui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essas políticas de segurança, os fornecedores e terceiros também devem seguir as seguintes responsabilidades: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Cumprir as cláusulas de segurança acordadas em contrato com a empresa;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Usar os sistemas e dados da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organização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de forma segura e autorizada;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g361a297dfdb_0_69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61a297dfdb_0_69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Responsabilidade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61a297dfdb_0_1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61a297dfdb_0_13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61a297dfdb_0_131"/>
          <p:cNvSpPr txBox="1"/>
          <p:nvPr/>
        </p:nvSpPr>
        <p:spPr>
          <a:xfrm>
            <a:off x="2800347" y="4261250"/>
            <a:ext cx="1268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Políticas Aplicadas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g361a297dfdb_0_131"/>
          <p:cNvSpPr txBox="1"/>
          <p:nvPr/>
        </p:nvSpPr>
        <p:spPr>
          <a:xfrm>
            <a:off x="5977797" y="1499350"/>
            <a:ext cx="63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1a297dfdb_0_1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61a297dfdb_0_13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g361a297dfdb_0_13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6" name="Google Shape;536;g361a297dfdb_0_13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537" name="Google Shape;537;g361a297dfdb_0_13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g361a297dfdb_0_13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g361a297dfdb_0_138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Políticas Aplicadas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61a297dfdb_0_138"/>
          <p:cNvSpPr txBox="1"/>
          <p:nvPr/>
        </p:nvSpPr>
        <p:spPr>
          <a:xfrm>
            <a:off x="1685075" y="3313553"/>
            <a:ext cx="144438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Vamos ver alguns exemplos de políticas aplicadas em organizações, isso será importante que vocês possam se basear na realização do nosso exercício.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g361a297dfdb_0_138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61a297dfdb_0_138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1a297dfdb_0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61a297dfdb_0_15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g361a297dfdb_0_15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0" name="Google Shape;550;g361a297dfdb_0_15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551" name="Google Shape;551;g361a297dfdb_0_15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g361a297dfdb_0_15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3" name="Google Shape;553;g361a297dfdb_0_151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Senhas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61a297dfdb_0_151"/>
          <p:cNvSpPr txBox="1"/>
          <p:nvPr/>
        </p:nvSpPr>
        <p:spPr>
          <a:xfrm>
            <a:off x="1685075" y="3313553"/>
            <a:ext cx="14443800" cy="2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As senhas devem ter no mínimo 12 caracteres, incluindo letras maiúsculas, minúsculas, números e caracteres especiais;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Troca obrigatória a cada 90 dias;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Proibido re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utilizar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as últimas 5 senhas.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5" name="Google Shape;555;g361a297dfdb_0_151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61a297dfdb_0_151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61a297dfdb_0_16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61a297dfdb_0_16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3" name="Google Shape;563;g361a297dfdb_0_16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4" name="Google Shape;564;g361a297dfdb_0_164"/>
          <p:cNvGrpSpPr/>
          <p:nvPr/>
        </p:nvGrpSpPr>
        <p:grpSpPr>
          <a:xfrm>
            <a:off x="1084900" y="2851974"/>
            <a:ext cx="16211658" cy="7299925"/>
            <a:chOff x="0" y="-38100"/>
            <a:chExt cx="4269709" cy="2000418"/>
          </a:xfrm>
        </p:grpSpPr>
        <p:sp>
          <p:nvSpPr>
            <p:cNvPr id="565" name="Google Shape;565;g361a297dfdb_0_16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g361a297dfdb_0_16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7" name="Google Shape;567;g361a297dfdb_0_164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Uso Aceitável de Recursos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61a297dfdb_0_164"/>
          <p:cNvSpPr txBox="1"/>
          <p:nvPr/>
        </p:nvSpPr>
        <p:spPr>
          <a:xfrm>
            <a:off x="1685075" y="3313553"/>
            <a:ext cx="14443800" cy="22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Proibido instalar softwares não autorizados;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Internet corporativa deve ser usada apenas para fins profissionais;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Monitoramento de uso de e-mails e redes pode ocorrer.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g361a297dfdb_0_164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61a297dfdb_0_164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1a297dfdb_0_17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61a297dfdb_0_17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g361a297dfdb_0_17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8" name="Google Shape;578;g361a297dfdb_0_177"/>
          <p:cNvGrpSpPr/>
          <p:nvPr/>
        </p:nvGrpSpPr>
        <p:grpSpPr>
          <a:xfrm>
            <a:off x="1084900" y="2851974"/>
            <a:ext cx="16211658" cy="7299925"/>
            <a:chOff x="0" y="-38100"/>
            <a:chExt cx="4269709" cy="2000418"/>
          </a:xfrm>
        </p:grpSpPr>
        <p:sp>
          <p:nvSpPr>
            <p:cNvPr id="579" name="Google Shape;579;g361a297dfdb_0_17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g361a297dfdb_0_17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g361a297dfdb_0_177"/>
          <p:cNvSpPr txBox="1"/>
          <p:nvPr/>
        </p:nvSpPr>
        <p:spPr>
          <a:xfrm>
            <a:off x="1967100" y="1417650"/>
            <a:ext cx="141618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Classificação da Informação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61a297dfdb_0_177"/>
          <p:cNvSpPr txBox="1"/>
          <p:nvPr/>
        </p:nvSpPr>
        <p:spPr>
          <a:xfrm>
            <a:off x="1685075" y="3313553"/>
            <a:ext cx="14443800" cy="22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Informações podem ser classificadas como: Pública, Interna, Confidencial ou Restrita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Documentos confidenciais devem ser criptografados e só acessíveis a pessoal autorizado.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3" name="Google Shape;583;g361a297dfdb_0_177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61a297dfdb_0_177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61a297dfdb_0_20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61a297dfdb_0_20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g361a297dfdb_0_20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2" name="Google Shape;592;g361a297dfdb_0_20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593" name="Google Shape;593;g361a297dfdb_0_20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g361a297dfdb_0_20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5" name="Google Shape;595;g361a297dfdb_0_203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Acesso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61a297dfdb_0_203"/>
          <p:cNvSpPr txBox="1"/>
          <p:nvPr/>
        </p:nvSpPr>
        <p:spPr>
          <a:xfrm>
            <a:off x="1685075" y="3313553"/>
            <a:ext cx="14443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Princípio do menor privilégio: o colaborador só acessa o que precisa para o trabalho.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Ex-funcionários têm seus acessos revogados imediatamente após o desligamento.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61a297dfdb_0_203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61a297dfdb_0_203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61a297dfdb_0_2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61a297dfdb_0_2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5" name="Google Shape;605;g361a297dfdb_0_2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6" name="Google Shape;606;g361a297dfdb_0_216"/>
          <p:cNvGrpSpPr/>
          <p:nvPr/>
        </p:nvGrpSpPr>
        <p:grpSpPr>
          <a:xfrm>
            <a:off x="1084900" y="2851974"/>
            <a:ext cx="16211658" cy="7299925"/>
            <a:chOff x="0" y="-38100"/>
            <a:chExt cx="4269709" cy="2000418"/>
          </a:xfrm>
        </p:grpSpPr>
        <p:sp>
          <p:nvSpPr>
            <p:cNvPr id="607" name="Google Shape;607;g361a297dfdb_0_2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g361a297dfdb_0_2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" name="Google Shape;609;g361a297dfdb_0_216"/>
          <p:cNvSpPr txBox="1"/>
          <p:nvPr/>
        </p:nvSpPr>
        <p:spPr>
          <a:xfrm>
            <a:off x="1967100" y="1417650"/>
            <a:ext cx="141618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Dispositivos Móveis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61a297dfdb_0_216"/>
          <p:cNvSpPr txBox="1"/>
          <p:nvPr/>
        </p:nvSpPr>
        <p:spPr>
          <a:xfrm>
            <a:off x="1685075" y="3313553"/>
            <a:ext cx="14443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Acesso a e-mails corporativos em celular pessoal só é permitido com autenticação multifator;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Obrigatoriedade de senha no dispositivo e possibilidade de apagamento remoto.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61a297dfdb_0_216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61a297dfdb_0_216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61a297dfdb_0_2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61a297dfdb_0_2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g361a297dfdb_0_22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0" name="Google Shape;620;g361a297dfdb_0_229"/>
          <p:cNvGrpSpPr/>
          <p:nvPr/>
        </p:nvGrpSpPr>
        <p:grpSpPr>
          <a:xfrm>
            <a:off x="1084900" y="2851974"/>
            <a:ext cx="16211658" cy="7299925"/>
            <a:chOff x="0" y="-38100"/>
            <a:chExt cx="4269709" cy="2000418"/>
          </a:xfrm>
        </p:grpSpPr>
        <p:sp>
          <p:nvSpPr>
            <p:cNvPr id="621" name="Google Shape;621;g361a297dfdb_0_22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g361a297dfdb_0_22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g361a297dfdb_0_229"/>
          <p:cNvSpPr txBox="1"/>
          <p:nvPr/>
        </p:nvSpPr>
        <p:spPr>
          <a:xfrm>
            <a:off x="1967100" y="1417650"/>
            <a:ext cx="141618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Política de Resposta a Incidentes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61a297dfdb_0_229"/>
          <p:cNvSpPr txBox="1"/>
          <p:nvPr/>
        </p:nvSpPr>
        <p:spPr>
          <a:xfrm>
            <a:off x="1685075" y="3313553"/>
            <a:ext cx="144438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Qualquer suspeita de ataque deve ser reportada em 2h ao time de segurança;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Procedimentos para isolar máquinas, notificar equipes e coletar evidências..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61a297dfdb_0_229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61a297dfdb_0_229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61a297dfdb_0_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61a297dfdb_0_82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61a297dfdb_0_82"/>
          <p:cNvSpPr txBox="1"/>
          <p:nvPr/>
        </p:nvSpPr>
        <p:spPr>
          <a:xfrm>
            <a:off x="2800347" y="4261250"/>
            <a:ext cx="1268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Tabela RACI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g361a297dfdb_0_82"/>
          <p:cNvSpPr txBox="1"/>
          <p:nvPr/>
        </p:nvSpPr>
        <p:spPr>
          <a:xfrm>
            <a:off x="5977797" y="1499350"/>
            <a:ext cx="63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61a297dfdb_0_8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61a297dfdb_0_8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g361a297dfdb_0_8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2" name="Google Shape;642;g361a297dfdb_0_8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643" name="Google Shape;643;g361a297dfdb_0_8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g361a297dfdb_0_8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5" name="Google Shape;645;g361a297dfdb_0_89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Tabela RACI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61a297dfdb_0_89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É uma ferramenta de gestão que define claramente os papéis e responsabilidades de cada pessoa envolvida em uma tarefa, projeto ou política.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Ela é especialmente útil em Segurança da Informação, onde vários setores têm obrigações diferentes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garantir que tudo funcione corretamente.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Vamos entender o significado das siglas: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61a297dfdb_0_89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61a297dfdb_0_89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61a297dfdb_0_10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61a297dfdb_0_10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g361a297dfdb_0_10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6" name="Google Shape;656;g361a297dfdb_0_10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657" name="Google Shape;657;g361a297dfdb_0_10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g361a297dfdb_0_10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9" name="Google Shape;659;g361a297dfdb_0_102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Sigla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RACI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61a297dfdb_0_102"/>
          <p:cNvSpPr txBox="1"/>
          <p:nvPr/>
        </p:nvSpPr>
        <p:spPr>
          <a:xfrm>
            <a:off x="1685075" y="3313553"/>
            <a:ext cx="1444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Responsável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Quem executa a tarefa ou implementa a política;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Aprovador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Quem autoriza ou valida a ação – tem a palavra final;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Consultado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Quem contribui com conhecimento e deve ser envolvido;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Informado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: Quem precisa ser avisado após a ação  – Afetado ou interessado.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61a297dfdb_0_102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61a297dfdb_0_102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61a297dfdb_0_1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61a297dfdb_0_1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9" name="Google Shape;669;g361a297dfdb_0_1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70" name="Google Shape;670;g361a297dfdb_0_11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671" name="Google Shape;671;g361a297dfdb_0_1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g361a297dfdb_0_1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3" name="Google Shape;673;g361a297dfdb_0_116"/>
          <p:cNvSpPr txBox="1"/>
          <p:nvPr/>
        </p:nvSpPr>
        <p:spPr>
          <a:xfrm>
            <a:off x="1967100" y="1265250"/>
            <a:ext cx="1307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Sigla RACI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61a297dfdb_0_116"/>
          <p:cNvSpPr txBox="1"/>
          <p:nvPr/>
        </p:nvSpPr>
        <p:spPr>
          <a:xfrm>
            <a:off x="1685075" y="3313553"/>
            <a:ext cx="144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Aplicação da tabela RACI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para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o contexto de Políticas de Segurança da Informação: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5" name="Google Shape;675;g361a297dfdb_0_116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61a297dfdb_0_116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7" name="Google Shape;677;g361a297dfdb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3975" y="4026850"/>
            <a:ext cx="9420049" cy="60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686" name="Google Shape;686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7" name="Google Shape;687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16"/>
          <p:cNvGrpSpPr/>
          <p:nvPr/>
        </p:nvGrpSpPr>
        <p:grpSpPr>
          <a:xfrm>
            <a:off x="10340999" y="5663950"/>
            <a:ext cx="2283308" cy="846826"/>
            <a:chOff x="-11" y="-66670"/>
            <a:chExt cx="3044411" cy="1129101"/>
          </a:xfrm>
        </p:grpSpPr>
        <p:sp>
          <p:nvSpPr>
            <p:cNvPr id="689" name="Google Shape;689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1" name="Google Shape;691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692" name="Google Shape;692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4" name="Google Shape;694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695" name="Google Shape;695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97" name="Google Shape;697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8" name="Google Shape;698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699" name="Google Shape;69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