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10287000" cx="18288000"/>
  <p:notesSz cx="6858000" cy="9144000"/>
  <p:embeddedFontLst>
    <p:embeddedFont>
      <p:font typeface="Poppi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hq5HjnZWs6z81A5eMqdqpxSG/o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AF271B-A094-4C28-8E78-5F16E2FA3604}">
  <a:tblStyle styleId="{97AF271B-A094-4C28-8E78-5F16E2FA360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regular.fntdata"/><Relationship Id="rId25" Type="http://schemas.openxmlformats.org/officeDocument/2006/relationships/slide" Target="slides/slide19.xml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3cfb626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93cfb6268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94324d29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494324d29f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34c456d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c34c456d4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387f2ae6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9387f2ae6b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387f2ae6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9387f2ae6b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387f2ae6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39387f2ae6b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71d9cac2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3c71d9cac23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3cfb6268b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g393cfb6268b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3cfb6268b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93cfb6268b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71d9cac2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g3c71d9cac23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c71d9cac23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g3c71d9cac23_0_2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93ca89672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g393ca896728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c71d9cac2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2" name="Google Shape;322;g3c71d9cac23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c71d9cac23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g3c71d9cac23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c71d9cac23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g3c71d9cac23_0_1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c1ef68f60b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4" name="Google Shape;394;g3c1ef68f60b_0_1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image" Target="../media/image8.png"/><Relationship Id="rId5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213599" y="4407931"/>
            <a:ext cx="102348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JSX e Estrutura Básica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19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Isadora Dias Afonso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p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p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6"/>
          <p:cNvSpPr txBox="1"/>
          <p:nvPr/>
        </p:nvSpPr>
        <p:spPr>
          <a:xfrm>
            <a:off x="2043300" y="1189050"/>
            <a:ext cx="11619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51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Capacidades Técnicas Abordadas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1685075" y="3542153"/>
            <a:ext cx="14443800" cy="3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4000">
                <a:latin typeface="Poppins"/>
                <a:ea typeface="Poppins"/>
                <a:cs typeface="Poppins"/>
                <a:sym typeface="Poppins"/>
              </a:rPr>
              <a:t>3. Interpretar os requisitos do sistema, tendo em vista a elaboração dos componentes em ambiente mobile </a:t>
            </a:r>
            <a:endParaRPr sz="4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4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4000">
                <a:latin typeface="Poppins"/>
                <a:ea typeface="Poppins"/>
                <a:cs typeface="Poppins"/>
                <a:sym typeface="Poppins"/>
              </a:rPr>
              <a:t>4. Definir os elementos de entrada, processamento e saída para a codificação das funcionalidades mobile</a:t>
            </a:r>
            <a:endParaRPr b="0" i="0" sz="4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2043295" y="962025"/>
            <a:ext cx="268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3cfb6268b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93cfb6268b_0_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g393cfb6268b_0_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g393cfb6268b_0_0"/>
          <p:cNvSpPr txBox="1"/>
          <p:nvPr/>
        </p:nvSpPr>
        <p:spPr>
          <a:xfrm>
            <a:off x="2043300" y="1253350"/>
            <a:ext cx="1265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Entendendo a estrutura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93cfb6268b_0_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2" name="Google Shape;112;g393cfb6268b_0_0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113" name="Google Shape;113;g393cfb6268b_0_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g393cfb6268b_0_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g393cfb6268b_0_0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g393cfb6268b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8348" y="4889136"/>
            <a:ext cx="10311300" cy="3155100"/>
          </a:xfrm>
          <a:prstGeom prst="roundRect">
            <a:avLst>
              <a:gd fmla="val 100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94324d29f_0_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494324d29f_0_2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g3494324d29f_0_2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4" name="Google Shape;124;g3494324d29f_0_20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125" name="Google Shape;125;g3494324d29f_0_2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g3494324d29f_0_2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g3494324d29f_0_20"/>
          <p:cNvSpPr txBox="1"/>
          <p:nvPr/>
        </p:nvSpPr>
        <p:spPr>
          <a:xfrm>
            <a:off x="2043300" y="1253350"/>
            <a:ext cx="1265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 é JSX?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494324d29f_0_20"/>
          <p:cNvSpPr txBox="1"/>
          <p:nvPr/>
        </p:nvSpPr>
        <p:spPr>
          <a:xfrm>
            <a:off x="1685100" y="3533575"/>
            <a:ext cx="149991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JSX é uma extensão da sintaxe do Java Script que permite escrever código que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parece HTML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, mas na verdade é Java Script Puro.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Sem o JSX escrever o código da interface fica muito mais complexo.</a:t>
            </a:r>
            <a:endParaRPr b="1"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g3494324d29f_0_2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494324d29f_0_20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g3494324d29f_0_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48950" y="6869925"/>
            <a:ext cx="7076700" cy="2821200"/>
          </a:xfrm>
          <a:prstGeom prst="roundRect">
            <a:avLst>
              <a:gd fmla="val 6766" name="adj"/>
            </a:avLst>
          </a:prstGeom>
          <a:noFill/>
          <a:ln>
            <a:noFill/>
          </a:ln>
        </p:spPr>
      </p:pic>
      <p:pic>
        <p:nvPicPr>
          <p:cNvPr id="132" name="Google Shape;132;g3494324d29f_0_20"/>
          <p:cNvPicPr preferRelativeResize="0"/>
          <p:nvPr/>
        </p:nvPicPr>
        <p:blipFill rotWithShape="1">
          <a:blip r:embed="rId7">
            <a:alphaModFix/>
          </a:blip>
          <a:srcRect b="11245" l="0" r="0" t="0"/>
          <a:stretch/>
        </p:blipFill>
        <p:spPr>
          <a:xfrm>
            <a:off x="9705225" y="6869925"/>
            <a:ext cx="6705600" cy="29757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pic>
      <p:sp>
        <p:nvSpPr>
          <p:cNvPr id="133" name="Google Shape;133;g3494324d29f_0_20"/>
          <p:cNvSpPr txBox="1"/>
          <p:nvPr/>
        </p:nvSpPr>
        <p:spPr>
          <a:xfrm>
            <a:off x="1728450" y="6066975"/>
            <a:ext cx="6317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SEM JSX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494324d29f_0_20"/>
          <p:cNvSpPr txBox="1"/>
          <p:nvPr/>
        </p:nvSpPr>
        <p:spPr>
          <a:xfrm>
            <a:off x="9899175" y="6066975"/>
            <a:ext cx="6317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COM JSX</a:t>
            </a:r>
            <a:endParaRPr b="1" sz="32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34c456d4f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c34c456d4f_0_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g3c34c456d4f_0_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2" name="Google Shape;142;g3c34c456d4f_0_0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143" name="Google Shape;143;g3c34c456d4f_0_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g3c34c456d4f_0_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g3c34c456d4f_0_0"/>
          <p:cNvSpPr txBox="1"/>
          <p:nvPr/>
        </p:nvSpPr>
        <p:spPr>
          <a:xfrm>
            <a:off x="2043300" y="1253350"/>
            <a:ext cx="1265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Regras do JSX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c34c456d4f_0_0"/>
          <p:cNvSpPr txBox="1"/>
          <p:nvPr/>
        </p:nvSpPr>
        <p:spPr>
          <a:xfrm>
            <a:off x="1685100" y="3533575"/>
            <a:ext cx="149991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Para um bom funcionamento do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JSX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devemos seguir algumas regras na construção da tela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Vamos falar de 3 regras principais individualmente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g3c34c456d4f_0_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c34c456d4f_0_0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g3c34c456d4f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89298" y="6217925"/>
            <a:ext cx="3166800" cy="3166800"/>
          </a:xfrm>
          <a:prstGeom prst="roundRect">
            <a:avLst>
              <a:gd fmla="val 11662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387f2ae6b_0_2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9387f2ae6b_0_2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g39387f2ae6b_0_2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7" name="Google Shape;157;g39387f2ae6b_0_23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158" name="Google Shape;158;g39387f2ae6b_0_2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g39387f2ae6b_0_2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g39387f2ae6b_0_23"/>
          <p:cNvSpPr txBox="1"/>
          <p:nvPr/>
        </p:nvSpPr>
        <p:spPr>
          <a:xfrm>
            <a:off x="2043300" y="1253350"/>
            <a:ext cx="1265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Retorno de um ÚNICO elemento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9387f2ae6b_0_23"/>
          <p:cNvSpPr txBox="1"/>
          <p:nvPr/>
        </p:nvSpPr>
        <p:spPr>
          <a:xfrm>
            <a:off x="1685100" y="3533575"/>
            <a:ext cx="149991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Todo componente deve retornar um único elemento que envolva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todo conteúdo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. Caso exista mais de um componente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PAI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Normalmente esse componente vai ser um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fragment (&lt;&gt; &lt;/&gt;) 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ou uma &lt;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View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&gt;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fragment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é um elemento invisível que agrupa outros elementos sem adicionar nada na tela.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g39387f2ae6b_0_2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9387f2ae6b_0_23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Regra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g39387f2ae6b_0_23"/>
          <p:cNvPicPr preferRelativeResize="0"/>
          <p:nvPr/>
        </p:nvPicPr>
        <p:blipFill rotWithShape="1">
          <a:blip r:embed="rId6">
            <a:alphaModFix/>
          </a:blip>
          <a:srcRect b="14726" l="0" r="0" t="0"/>
          <a:stretch/>
        </p:blipFill>
        <p:spPr>
          <a:xfrm>
            <a:off x="5846075" y="6973325"/>
            <a:ext cx="6418500" cy="3102600"/>
          </a:xfrm>
          <a:prstGeom prst="roundRect">
            <a:avLst>
              <a:gd fmla="val 1014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387f2ae6b_0_3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9387f2ae6b_0_3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g39387f2ae6b_0_3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2" name="Google Shape;172;g39387f2ae6b_0_39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173" name="Google Shape;173;g39387f2ae6b_0_3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g39387f2ae6b_0_3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75;g39387f2ae6b_0_39"/>
          <p:cNvSpPr txBox="1"/>
          <p:nvPr/>
        </p:nvSpPr>
        <p:spPr>
          <a:xfrm>
            <a:off x="2043300" y="1253350"/>
            <a:ext cx="1265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Fechamento de Tags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9387f2ae6b_0_39"/>
          <p:cNvSpPr txBox="1"/>
          <p:nvPr/>
        </p:nvSpPr>
        <p:spPr>
          <a:xfrm>
            <a:off x="1685100" y="3533575"/>
            <a:ext cx="149991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Diferente do HTML que permite que algumas tags fiquem em aberto, no React Native isso não é possível,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TODAS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as tags devem ser fechadas.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Alguns componentes tem o que chamamos de Self-Closing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g39387f2ae6b_0_3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9387f2ae6b_0_39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Regra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g39387f2ae6b_0_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65575" y="6587868"/>
            <a:ext cx="15356852" cy="2512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387f2ae6b_0_5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9387f2ae6b_0_5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g39387f2ae6b_0_5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7" name="Google Shape;187;g39387f2ae6b_0_54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188" name="Google Shape;188;g39387f2ae6b_0_5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g39387f2ae6b_0_5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g39387f2ae6b_0_54"/>
          <p:cNvSpPr txBox="1"/>
          <p:nvPr/>
        </p:nvSpPr>
        <p:spPr>
          <a:xfrm>
            <a:off x="2043300" y="1253350"/>
            <a:ext cx="1265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camelCase para atributos e estilos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9387f2ae6b_0_54"/>
          <p:cNvSpPr txBox="1"/>
          <p:nvPr/>
        </p:nvSpPr>
        <p:spPr>
          <a:xfrm>
            <a:off x="1685100" y="3533575"/>
            <a:ext cx="1499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No JSX, atributos e propriedades de estilo usam camelCase em vez de kebab-case: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2" name="Google Shape;192;g39387f2ae6b_0_5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9387f2ae6b_0_54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Regra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9387f2ae6b_0_54"/>
          <p:cNvSpPr/>
          <p:nvPr/>
        </p:nvSpPr>
        <p:spPr>
          <a:xfrm>
            <a:off x="2324249" y="8597725"/>
            <a:ext cx="13639500" cy="121200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158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84194" rotWithShape="0" algn="bl" dir="8100000" dist="42097">
              <a:srgbClr val="000000">
                <a:alpha val="7840"/>
              </a:srgbClr>
            </a:outerShdw>
          </a:effectLst>
        </p:spPr>
        <p:txBody>
          <a:bodyPr anchorCtr="0" anchor="ctr" bIns="151525" lIns="151525" spcFirstLastPara="1" rIns="151525" wrap="square" tIns="151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g39387f2ae6b_0_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27348" y="8825049"/>
            <a:ext cx="454647" cy="45464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9387f2ae6b_0_54"/>
          <p:cNvSpPr/>
          <p:nvPr/>
        </p:nvSpPr>
        <p:spPr>
          <a:xfrm>
            <a:off x="3233545" y="8749275"/>
            <a:ext cx="12427500" cy="7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23"/>
              <a:buFont typeface="Arial"/>
              <a:buNone/>
            </a:pPr>
            <a:r>
              <a:rPr b="1" i="0" lang="en-US" sz="1823" u="none" cap="none" strike="noStrike">
                <a:solidFill>
                  <a:srgbClr val="475569"/>
                </a:solidFill>
              </a:rPr>
              <a:t>Estilos são objetos JS — não existe arquivo CSS separado no React Native. Duplas chaves {{ }}: a primeira abre expressão JS, a segunda é o objeto de estilo.</a:t>
            </a:r>
            <a:endParaRPr b="1" i="0" sz="182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7" name="Google Shape;197;g39387f2ae6b_0_54"/>
          <p:cNvGraphicFramePr/>
          <p:nvPr/>
        </p:nvGraphicFramePr>
        <p:xfrm>
          <a:off x="4049800" y="4748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{97AF271B-A094-4C28-8E78-5F16E2FA3604}</a:tableStyleId>
              </a:tblPr>
              <a:tblGrid>
                <a:gridCol w="3396125"/>
                <a:gridCol w="3396125"/>
                <a:gridCol w="3396125"/>
              </a:tblGrid>
              <a:tr h="702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Conceito</a:t>
                      </a:r>
                      <a:endParaRPr sz="2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CSS / HTML</a:t>
                      </a:r>
                      <a:endParaRPr sz="2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React Native</a:t>
                      </a:r>
                      <a:endParaRPr sz="2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</a:tr>
              <a:tr h="62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 de fundo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2100" u="none" cap="none" strike="noStrike">
                          <a:solidFill>
                            <a:srgbClr val="EF444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background-color</a:t>
                      </a:r>
                      <a:endParaRPr sz="2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21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backgroundColor</a:t>
                      </a:r>
                      <a:endParaRPr sz="2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Tamanho de fonte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2100" u="none" cap="none" strike="noStrike">
                          <a:solidFill>
                            <a:srgbClr val="EF444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font-size</a:t>
                      </a:r>
                      <a:endParaRPr sz="2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21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fontSize</a:t>
                      </a:r>
                      <a:endParaRPr sz="2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2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Borda arredondada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2100" u="none" cap="none" strike="noStrike">
                          <a:solidFill>
                            <a:srgbClr val="EF444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border-radius</a:t>
                      </a:r>
                      <a:endParaRPr sz="2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21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borderRadius</a:t>
                      </a:r>
                      <a:endParaRPr sz="2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Classe CSS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2100" u="none" cap="none" strike="noStrike">
                          <a:solidFill>
                            <a:srgbClr val="EF444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class="btn"</a:t>
                      </a:r>
                      <a:endParaRPr sz="2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21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style={styles.btn}</a:t>
                      </a:r>
                      <a:endParaRPr sz="2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71d9cac23_0_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c71d9cac23_0_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g3c71d9cac23_0_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g3c71d9cac23_0_8"/>
          <p:cNvSpPr txBox="1"/>
          <p:nvPr/>
        </p:nvSpPr>
        <p:spPr>
          <a:xfrm>
            <a:off x="2043300" y="1253350"/>
            <a:ext cx="1265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Case Types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c71d9cac23_0_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c71d9cac23_0_8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Off Topic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g3c71d9cac23_0_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37025" y="2607275"/>
            <a:ext cx="11813949" cy="70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3cfb6268b_0_1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93cfb6268b_0_11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g393cfb6268b_0_11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6" name="Google Shape;216;g393cfb6268b_0_111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217" name="Google Shape;217;g393cfb6268b_0_11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g393cfb6268b_0_11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9" name="Google Shape;219;g393cfb6268b_0_111"/>
          <p:cNvSpPr txBox="1"/>
          <p:nvPr/>
        </p:nvSpPr>
        <p:spPr>
          <a:xfrm>
            <a:off x="2043300" y="1253350"/>
            <a:ext cx="1265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StyleSheet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93cfb6268b_0_111"/>
          <p:cNvSpPr txBox="1"/>
          <p:nvPr/>
        </p:nvSpPr>
        <p:spPr>
          <a:xfrm>
            <a:off x="1685100" y="3226500"/>
            <a:ext cx="149991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 stylesheet é o responsável pela 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estilização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de nossos componentes no React Native. Ele funciona de forma muito parecida com o CSS tradicional, porém é estruturado como objetos JavaScript.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Essa forma permite uma maior organização, separando a estilização da lógica de negócio, já que podemos nomear os objetos estilizados e aplicar nos componentes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" name="Google Shape;221;g393cfb6268b_0_11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93cfb6268b_0_111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Primeiro Componente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g393cfb6268b_0_1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53125" y="6343366"/>
            <a:ext cx="6381900" cy="3905400"/>
          </a:xfrm>
          <a:prstGeom prst="roundRect">
            <a:avLst>
              <a:gd fmla="val 1170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3cfb6268b_0_12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93cfb6268b_0_12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g393cfb6268b_0_12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1" name="Google Shape;231;g393cfb6268b_0_126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232" name="Google Shape;232;g393cfb6268b_0_12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g393cfb6268b_0_12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g393cfb6268b_0_126"/>
          <p:cNvSpPr txBox="1"/>
          <p:nvPr/>
        </p:nvSpPr>
        <p:spPr>
          <a:xfrm>
            <a:off x="2043300" y="1253350"/>
            <a:ext cx="1265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Múltiplos Estilos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93cfb6268b_0_126"/>
          <p:cNvSpPr txBox="1"/>
          <p:nvPr/>
        </p:nvSpPr>
        <p:spPr>
          <a:xfrm>
            <a:off x="1685100" y="3226500"/>
            <a:ext cx="149991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Podem existir casos onde você precise aplicar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mais de um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estilo em seu componente, para isso podemos utilizar o array de estilos.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 React Native permite que a prop style receba um array. O motor nativo processa esse array de forma linear (da esquerda para a direita).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6" name="Google Shape;236;g393cfb6268b_0_12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93cfb6268b_0_126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Primeiro Componente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g393cfb6268b_0_1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76677" y="6055925"/>
            <a:ext cx="7415936" cy="76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93cfb6268b_0_126"/>
          <p:cNvSpPr txBox="1"/>
          <p:nvPr/>
        </p:nvSpPr>
        <p:spPr>
          <a:xfrm>
            <a:off x="1779925" y="7313275"/>
            <a:ext cx="14999100" cy="26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Como o React Native lê isso: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Ele olha para o primeiro item;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Ele olha para o segundo e, se houver conflito de propriedades (ex: ambos têm color), o último item do array sobrescreve o anterior.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71d9cac23_0_2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c71d9cac23_0_2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g3c71d9cac23_0_2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7" name="Google Shape;247;g3c71d9cac23_0_26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248" name="Google Shape;248;g3c71d9cac23_0_2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g3c71d9cac23_0_2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g3c71d9cac23_0_26"/>
          <p:cNvSpPr txBox="1"/>
          <p:nvPr/>
        </p:nvSpPr>
        <p:spPr>
          <a:xfrm>
            <a:off x="2043300" y="1253350"/>
            <a:ext cx="1265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Expressões JS em JSX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c71d9cac23_0_26"/>
          <p:cNvSpPr txBox="1"/>
          <p:nvPr/>
        </p:nvSpPr>
        <p:spPr>
          <a:xfrm>
            <a:off x="1685100" y="3533575"/>
            <a:ext cx="1499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 JSX só aceita expressões que retornam valor, e não statements (if, for, while)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g3c71d9cac23_0_2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c71d9cac23_0_26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JSX e Estrutura Básica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c71d9cac23_0_26"/>
          <p:cNvSpPr/>
          <p:nvPr/>
        </p:nvSpPr>
        <p:spPr>
          <a:xfrm>
            <a:off x="1702064" y="4253700"/>
            <a:ext cx="3478200" cy="177960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>
            <a:noFill/>
          </a:ln>
          <a:effectLst>
            <a:outerShdw blurRad="89879" rotWithShape="0" algn="bl" dir="8100000" dist="44939">
              <a:srgbClr val="000000">
                <a:alpha val="7840"/>
              </a:srgbClr>
            </a:outerShdw>
          </a:effectLst>
        </p:spPr>
        <p:txBody>
          <a:bodyPr anchorCtr="0" anchor="ctr" bIns="161750" lIns="161750" spcFirstLastPara="1" rIns="161750" wrap="square" tIns="161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c71d9cac23_0_26"/>
          <p:cNvSpPr/>
          <p:nvPr/>
        </p:nvSpPr>
        <p:spPr>
          <a:xfrm>
            <a:off x="1702064" y="4253700"/>
            <a:ext cx="3478200" cy="80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161750" lIns="161750" spcFirstLastPara="1" rIns="161750" wrap="square" tIns="161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c71d9cac23_0_26"/>
          <p:cNvSpPr/>
          <p:nvPr/>
        </p:nvSpPr>
        <p:spPr>
          <a:xfrm>
            <a:off x="1944738" y="4496372"/>
            <a:ext cx="29934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Variáveis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c71d9cac23_0_26"/>
          <p:cNvSpPr/>
          <p:nvPr/>
        </p:nvSpPr>
        <p:spPr>
          <a:xfrm>
            <a:off x="1944738" y="5143497"/>
            <a:ext cx="29934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123"/>
              <a:buFont typeface="Consolas"/>
              <a:buNone/>
            </a:pPr>
            <a:r>
              <a:rPr b="0" i="0" lang="en-US" sz="2123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{nome}</a:t>
            </a:r>
            <a:endParaRPr b="0" i="0" sz="212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c71d9cac23_0_26"/>
          <p:cNvSpPr/>
          <p:nvPr/>
        </p:nvSpPr>
        <p:spPr>
          <a:xfrm>
            <a:off x="5503951" y="4253700"/>
            <a:ext cx="3478200" cy="177960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>
            <a:noFill/>
          </a:ln>
          <a:effectLst>
            <a:outerShdw blurRad="89879" rotWithShape="0" algn="bl" dir="8100000" dist="44939">
              <a:srgbClr val="000000">
                <a:alpha val="7840"/>
              </a:srgbClr>
            </a:outerShdw>
          </a:effectLst>
        </p:spPr>
        <p:txBody>
          <a:bodyPr anchorCtr="0" anchor="ctr" bIns="161750" lIns="161750" spcFirstLastPara="1" rIns="161750" wrap="square" tIns="161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c71d9cac23_0_26"/>
          <p:cNvSpPr/>
          <p:nvPr/>
        </p:nvSpPr>
        <p:spPr>
          <a:xfrm>
            <a:off x="5503951" y="4253700"/>
            <a:ext cx="3478200" cy="80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161750" lIns="161750" spcFirstLastPara="1" rIns="161750" wrap="square" tIns="161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c71d9cac23_0_26"/>
          <p:cNvSpPr/>
          <p:nvPr/>
        </p:nvSpPr>
        <p:spPr>
          <a:xfrm>
            <a:off x="5746625" y="4496372"/>
            <a:ext cx="29934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Operações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c71d9cac23_0_26"/>
          <p:cNvSpPr/>
          <p:nvPr/>
        </p:nvSpPr>
        <p:spPr>
          <a:xfrm>
            <a:off x="5746625" y="5143497"/>
            <a:ext cx="29934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123"/>
              <a:buFont typeface="Consolas"/>
              <a:buNone/>
            </a:pPr>
            <a:r>
              <a:rPr b="0" i="0" lang="en-US" sz="2123" u="none" cap="none" strike="noStrik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{2026 - 22}</a:t>
            </a:r>
            <a:endParaRPr b="0" i="0" sz="212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c71d9cac23_0_26"/>
          <p:cNvSpPr/>
          <p:nvPr/>
        </p:nvSpPr>
        <p:spPr>
          <a:xfrm>
            <a:off x="9305838" y="4253700"/>
            <a:ext cx="3478200" cy="177960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>
            <a:noFill/>
          </a:ln>
          <a:effectLst>
            <a:outerShdw blurRad="89879" rotWithShape="0" algn="bl" dir="8100000" dist="44939">
              <a:srgbClr val="000000">
                <a:alpha val="7840"/>
              </a:srgbClr>
            </a:outerShdw>
          </a:effectLst>
        </p:spPr>
        <p:txBody>
          <a:bodyPr anchorCtr="0" anchor="ctr" bIns="161750" lIns="161750" spcFirstLastPara="1" rIns="161750" wrap="square" tIns="161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c71d9cac23_0_26"/>
          <p:cNvSpPr/>
          <p:nvPr/>
        </p:nvSpPr>
        <p:spPr>
          <a:xfrm>
            <a:off x="9305838" y="4253700"/>
            <a:ext cx="3478200" cy="807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161750" lIns="161750" spcFirstLastPara="1" rIns="161750" wrap="square" tIns="161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c71d9cac23_0_26"/>
          <p:cNvSpPr/>
          <p:nvPr/>
        </p:nvSpPr>
        <p:spPr>
          <a:xfrm>
            <a:off x="9548512" y="4496372"/>
            <a:ext cx="29934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Ternário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c71d9cac23_0_26"/>
          <p:cNvSpPr/>
          <p:nvPr/>
        </p:nvSpPr>
        <p:spPr>
          <a:xfrm>
            <a:off x="9548512" y="5143497"/>
            <a:ext cx="29934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123"/>
              <a:buFont typeface="Consolas"/>
              <a:buNone/>
            </a:pPr>
            <a:r>
              <a:rPr b="0" i="0" lang="en-US" sz="2123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{x ? 'A' : 'B'}</a:t>
            </a:r>
            <a:endParaRPr b="0" i="0" sz="212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c71d9cac23_0_26"/>
          <p:cNvSpPr/>
          <p:nvPr/>
        </p:nvSpPr>
        <p:spPr>
          <a:xfrm>
            <a:off x="13107725" y="4253700"/>
            <a:ext cx="3478200" cy="177960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>
            <a:noFill/>
          </a:ln>
          <a:effectLst>
            <a:outerShdw blurRad="89879" rotWithShape="0" algn="bl" dir="8100000" dist="44939">
              <a:srgbClr val="000000">
                <a:alpha val="7840"/>
              </a:srgbClr>
            </a:outerShdw>
          </a:effectLst>
        </p:spPr>
        <p:txBody>
          <a:bodyPr anchorCtr="0" anchor="ctr" bIns="161750" lIns="161750" spcFirstLastPara="1" rIns="161750" wrap="square" tIns="161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c71d9cac23_0_26"/>
          <p:cNvSpPr/>
          <p:nvPr/>
        </p:nvSpPr>
        <p:spPr>
          <a:xfrm>
            <a:off x="13107725" y="4253700"/>
            <a:ext cx="3478200" cy="80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161750" lIns="161750" spcFirstLastPara="1" rIns="161750" wrap="square" tIns="161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c71d9cac23_0_26"/>
          <p:cNvSpPr/>
          <p:nvPr/>
        </p:nvSpPr>
        <p:spPr>
          <a:xfrm>
            <a:off x="13350399" y="4496372"/>
            <a:ext cx="29934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Template String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c71d9cac23_0_26"/>
          <p:cNvSpPr/>
          <p:nvPr/>
        </p:nvSpPr>
        <p:spPr>
          <a:xfrm>
            <a:off x="13350399" y="5143497"/>
            <a:ext cx="29934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123"/>
              <a:buFont typeface="Consolas"/>
              <a:buNone/>
            </a:pPr>
            <a:r>
              <a:rPr b="0" i="0" lang="en-US" sz="2123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{`Olá, ${nome}`}</a:t>
            </a:r>
            <a:endParaRPr b="0" i="0" sz="212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c71d9cac23_0_26"/>
          <p:cNvSpPr/>
          <p:nvPr/>
        </p:nvSpPr>
        <p:spPr>
          <a:xfrm>
            <a:off x="2230200" y="6480257"/>
            <a:ext cx="13827600" cy="18438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60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85356" rotWithShape="0" algn="bl" dir="8100000" dist="42678">
              <a:srgbClr val="000000">
                <a:alpha val="7840"/>
              </a:srgbClr>
            </a:outerShdw>
          </a:effectLst>
        </p:spPr>
        <p:txBody>
          <a:bodyPr anchorCtr="0" anchor="ctr" bIns="153625" lIns="153625" spcFirstLastPara="1" rIns="153625" wrap="square" tIns="15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1" name="Google Shape;271;g3c71d9cac23_0_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37483" y="6633899"/>
            <a:ext cx="460925" cy="46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3c71d9cac23_0_26"/>
          <p:cNvSpPr/>
          <p:nvPr/>
        </p:nvSpPr>
        <p:spPr>
          <a:xfrm>
            <a:off x="3152050" y="6633899"/>
            <a:ext cx="76821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352"/>
              <a:buFont typeface="Arial"/>
              <a:buNone/>
            </a:pPr>
            <a:r>
              <a:rPr b="1" i="0" lang="en-US" sz="2352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O que NÃO pode dentro de { }</a:t>
            </a:r>
            <a:endParaRPr b="0" i="0" sz="235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c71d9cac23_0_26"/>
          <p:cNvSpPr/>
          <p:nvPr/>
        </p:nvSpPr>
        <p:spPr>
          <a:xfrm>
            <a:off x="2537483" y="7248465"/>
            <a:ext cx="130596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016"/>
              <a:buFont typeface="Arial"/>
              <a:buNone/>
            </a:pPr>
            <a:r>
              <a:rPr b="0" i="0" lang="en-US" sz="2016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Estruturas de controle como if/else, for e while NÃO são expressões — não funcionam dentro das chaves. Use ternário ou lógica antes do return.</a:t>
            </a:r>
            <a:endParaRPr b="0" i="0" sz="201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c71d9cac23_0_26"/>
          <p:cNvSpPr txBox="1"/>
          <p:nvPr/>
        </p:nvSpPr>
        <p:spPr>
          <a:xfrm>
            <a:off x="1685100" y="8817071"/>
            <a:ext cx="1499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71d9cac23_0_25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c71d9cac23_0_25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g3c71d9cac23_0_257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2" name="Google Shape;282;g3c71d9cac23_0_257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283" name="Google Shape;283;g3c71d9cac23_0_25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g3c71d9cac23_0_25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" name="Google Shape;285;g3c71d9cac23_0_257"/>
          <p:cNvSpPr txBox="1"/>
          <p:nvPr/>
        </p:nvSpPr>
        <p:spPr>
          <a:xfrm>
            <a:off x="2043300" y="1253350"/>
            <a:ext cx="1265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Renderização Condicional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c71d9cac23_0_257"/>
          <p:cNvSpPr txBox="1"/>
          <p:nvPr/>
        </p:nvSpPr>
        <p:spPr>
          <a:xfrm>
            <a:off x="1685100" y="3533575"/>
            <a:ext cx="149991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 operador &amp;&amp; permite renderizar algo SOMENTE se a condição for verdadeira. Se for falsa, nada aparece. Além disso é possível usar o ternário.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7" name="Google Shape;287;g3c71d9cac23_0_25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c71d9cac23_0_257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JSX e Estrutura Básica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c71d9cac23_0_257"/>
          <p:cNvSpPr/>
          <p:nvPr/>
        </p:nvSpPr>
        <p:spPr>
          <a:xfrm>
            <a:off x="1576250" y="5238437"/>
            <a:ext cx="6909900" cy="279720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>
            <a:noFill/>
          </a:ln>
          <a:effectLst>
            <a:outerShdw blurRad="91398" rotWithShape="0" algn="bl" dir="8100000" dist="45699">
              <a:srgbClr val="000000">
                <a:alpha val="7840"/>
              </a:srgbClr>
            </a:outerShdw>
          </a:effectLst>
        </p:spPr>
        <p:txBody>
          <a:bodyPr anchorCtr="0" anchor="ctr" bIns="164500" lIns="164500" spcFirstLastPara="1" rIns="164500" wrap="square" tIns="164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c71d9cac23_0_257"/>
          <p:cNvSpPr/>
          <p:nvPr/>
        </p:nvSpPr>
        <p:spPr>
          <a:xfrm>
            <a:off x="2069800" y="5402954"/>
            <a:ext cx="57579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519"/>
              <a:buFont typeface="Arial"/>
              <a:buNone/>
            </a:pPr>
            <a:r>
              <a:rPr b="1" i="0" lang="en-US" sz="2518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&amp;&amp;  (mostrar ou não)</a:t>
            </a:r>
            <a:endParaRPr b="0" i="0" sz="251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c71d9cac23_0_257"/>
          <p:cNvSpPr/>
          <p:nvPr/>
        </p:nvSpPr>
        <p:spPr>
          <a:xfrm>
            <a:off x="2069800" y="5978764"/>
            <a:ext cx="57579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Usa quando precisa mostrar algo OU nada</a:t>
            </a:r>
            <a:endParaRPr b="0" i="0" sz="197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c71d9cac23_0_257"/>
          <p:cNvSpPr/>
          <p:nvPr/>
        </p:nvSpPr>
        <p:spPr>
          <a:xfrm>
            <a:off x="1905283" y="6554574"/>
            <a:ext cx="6251400" cy="1151700"/>
          </a:xfrm>
          <a:prstGeom prst="roundRect">
            <a:avLst>
              <a:gd fmla="val 1142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164500" lIns="164500" spcFirstLastPara="1" rIns="164500" wrap="square" tIns="164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c71d9cac23_0_257"/>
          <p:cNvSpPr/>
          <p:nvPr/>
        </p:nvSpPr>
        <p:spPr>
          <a:xfrm>
            <a:off x="2234316" y="6751995"/>
            <a:ext cx="55935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82225" lIns="164500" spcFirstLastPara="1" rIns="164500" wrap="square" tIns="82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979"/>
              <a:buFont typeface="Consolas"/>
              <a:buNone/>
            </a:pPr>
            <a:r>
              <a:rPr b="0" i="0" lang="en-US" sz="1979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{logado &amp;&amp; </a:t>
            </a:r>
            <a:endParaRPr b="0" i="0" sz="197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979"/>
              <a:buFont typeface="Consolas"/>
              <a:buNone/>
            </a:pPr>
            <a:r>
              <a:rPr b="0" i="0" lang="en-US" sz="1979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&lt;Text&gt;Bem-vindo!&lt;/Text&gt;}</a:t>
            </a:r>
            <a:endParaRPr b="0" i="0" sz="197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c71d9cac23_0_257"/>
          <p:cNvSpPr/>
          <p:nvPr/>
        </p:nvSpPr>
        <p:spPr>
          <a:xfrm>
            <a:off x="9473043" y="5238437"/>
            <a:ext cx="7238700" cy="279720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>
            <a:noFill/>
          </a:ln>
          <a:effectLst>
            <a:outerShdw blurRad="91398" rotWithShape="0" algn="bl" dir="8100000" dist="45699">
              <a:srgbClr val="000000">
                <a:alpha val="7840"/>
              </a:srgbClr>
            </a:outerShdw>
          </a:effectLst>
        </p:spPr>
        <p:txBody>
          <a:bodyPr anchorCtr="0" anchor="ctr" bIns="164500" lIns="164500" spcFirstLastPara="1" rIns="164500" wrap="square" tIns="164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c71d9cac23_0_257"/>
          <p:cNvSpPr/>
          <p:nvPr/>
        </p:nvSpPr>
        <p:spPr>
          <a:xfrm>
            <a:off x="9966593" y="5402954"/>
            <a:ext cx="62514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519"/>
              <a:buFont typeface="Arial"/>
              <a:buNone/>
            </a:pPr>
            <a:r>
              <a:rPr b="1" i="0" lang="en-US" sz="2518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? :  (escolher entre dois)</a:t>
            </a:r>
            <a:endParaRPr b="0" i="0" sz="251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c71d9cac23_0_257"/>
          <p:cNvSpPr/>
          <p:nvPr/>
        </p:nvSpPr>
        <p:spPr>
          <a:xfrm>
            <a:off x="9966593" y="5978764"/>
            <a:ext cx="62514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Usa quando precisa exibir A ou B</a:t>
            </a:r>
            <a:endParaRPr b="0" i="0" sz="197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c71d9cac23_0_257"/>
          <p:cNvSpPr/>
          <p:nvPr/>
        </p:nvSpPr>
        <p:spPr>
          <a:xfrm>
            <a:off x="9802076" y="6554574"/>
            <a:ext cx="6580500" cy="1151700"/>
          </a:xfrm>
          <a:prstGeom prst="roundRect">
            <a:avLst>
              <a:gd fmla="val 1142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164500" lIns="164500" spcFirstLastPara="1" rIns="164500" wrap="square" tIns="164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c71d9cac23_0_257"/>
          <p:cNvSpPr/>
          <p:nvPr/>
        </p:nvSpPr>
        <p:spPr>
          <a:xfrm>
            <a:off x="10131109" y="6751995"/>
            <a:ext cx="59229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82225" lIns="164500" spcFirstLastPara="1" rIns="164500" wrap="square" tIns="82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979"/>
              <a:buFont typeface="Consolas"/>
              <a:buNone/>
            </a:pPr>
            <a:r>
              <a:rPr b="0" i="0" lang="en-US" sz="1979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{logado</a:t>
            </a:r>
            <a:endParaRPr b="0" i="0" sz="197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979"/>
              <a:buFont typeface="Consolas"/>
              <a:buNone/>
            </a:pPr>
            <a:r>
              <a:rPr b="0" i="0" lang="en-US" sz="1979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? 'Sair' : 'Entrar'}</a:t>
            </a:r>
            <a:endParaRPr b="0" i="0" sz="197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93ca896728_0_3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979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4" name="Google Shape;304;g393ca896728_0_3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g393ca896728_0_3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g393ca896728_0_34"/>
          <p:cNvSpPr txBox="1"/>
          <p:nvPr/>
        </p:nvSpPr>
        <p:spPr>
          <a:xfrm>
            <a:off x="2043300" y="1253350"/>
            <a:ext cx="1265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Listas (.map)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93ca896728_0_34"/>
          <p:cNvSpPr txBox="1"/>
          <p:nvPr/>
        </p:nvSpPr>
        <p:spPr>
          <a:xfrm>
            <a:off x="1685100" y="3533575"/>
            <a:ext cx="149991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 operador &amp;&amp; permite renderizar algo SOMENTE se a condição for verdadeira. Se for falsa, nada aparece. Além disso é possível usar o ternário.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8" name="Google Shape;308;g393ca896728_0_34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309" name="Google Shape;309;g393ca896728_0_3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g393ca896728_0_3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1" name="Google Shape;311;g393ca896728_0_3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93ca896728_0_34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JSX e Estrutura Básica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93ca896728_0_34"/>
          <p:cNvSpPr/>
          <p:nvPr/>
        </p:nvSpPr>
        <p:spPr>
          <a:xfrm>
            <a:off x="2043300" y="6399475"/>
            <a:ext cx="12998400" cy="343890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>
            <a:noFill/>
          </a:ln>
          <a:effectLst>
            <a:outerShdw blurRad="91398" rotWithShape="0" algn="bl" dir="8100000" dist="45699">
              <a:srgbClr val="000000">
                <a:alpha val="7840"/>
              </a:srgbClr>
            </a:outerShdw>
          </a:effectLst>
        </p:spPr>
        <p:txBody>
          <a:bodyPr anchorCtr="0" anchor="ctr" bIns="164500" lIns="164500" spcFirstLastPara="1" rIns="164500" wrap="square" tIns="164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79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" name="Google Shape;314;g393ca896728_0_34"/>
          <p:cNvSpPr/>
          <p:nvPr/>
        </p:nvSpPr>
        <p:spPr>
          <a:xfrm>
            <a:off x="2372325" y="7217950"/>
            <a:ext cx="12329700" cy="2485800"/>
          </a:xfrm>
          <a:prstGeom prst="roundRect">
            <a:avLst>
              <a:gd fmla="val 1142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164500" lIns="164500" spcFirstLastPara="1" rIns="164500" wrap="square" tIns="164500">
            <a:noAutofit/>
          </a:bodyPr>
          <a:lstStyle/>
          <a:p>
            <a:pPr indent="0" lvl="0" marL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9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const frutas = ["Maçã", "Banana", "Laranja"];</a:t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5" name="Google Shape;315;g393ca896728_0_34"/>
          <p:cNvSpPr/>
          <p:nvPr/>
        </p:nvSpPr>
        <p:spPr>
          <a:xfrm>
            <a:off x="2372325" y="6511979"/>
            <a:ext cx="57579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519"/>
              <a:buFont typeface="Arial"/>
              <a:buNone/>
            </a:pPr>
            <a:r>
              <a:rPr b="1" lang="en-US" sz="2518">
                <a:solidFill>
                  <a:srgbClr val="3B82F6"/>
                </a:solidFill>
              </a:rPr>
              <a:t>Dentro da função de callback:</a:t>
            </a:r>
            <a:endParaRPr b="0" i="0" sz="251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93ca896728_0_34"/>
          <p:cNvSpPr/>
          <p:nvPr/>
        </p:nvSpPr>
        <p:spPr>
          <a:xfrm>
            <a:off x="7037425" y="6594164"/>
            <a:ext cx="57579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979"/>
              <a:buFont typeface="Arial"/>
              <a:buNone/>
            </a:pPr>
            <a:r>
              <a:rPr b="1" lang="en-US" sz="1979">
                <a:solidFill>
                  <a:srgbClr val="475569"/>
                </a:solidFill>
              </a:rPr>
              <a:t>Vamos receber o item e o index</a:t>
            </a:r>
            <a:endParaRPr b="1" i="0" sz="197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93ca896728_0_34"/>
          <p:cNvSpPr/>
          <p:nvPr/>
        </p:nvSpPr>
        <p:spPr>
          <a:xfrm>
            <a:off x="9477550" y="7280050"/>
            <a:ext cx="4951200" cy="23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82225" lIns="164500" spcFirstLastPara="1" rIns="164500" wrap="square" tIns="82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979"/>
              <a:buFont typeface="Consolas"/>
              <a:buNone/>
            </a:pPr>
            <a:r>
              <a:rPr lang="en-US" sz="1979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{frutas.map((fruta, indice) =&gt; (</a:t>
            </a:r>
            <a:endParaRPr sz="1979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9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  &lt;Text key={indice}&gt;</a:t>
            </a:r>
            <a:endParaRPr sz="1979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9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    {indice + 1}. {fruta}</a:t>
            </a:r>
            <a:endParaRPr sz="1979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9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  &lt;</a:t>
            </a:r>
            <a:r>
              <a:rPr lang="en-US" sz="1979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 sz="1979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Text&gt;</a:t>
            </a:r>
            <a:endParaRPr sz="1979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9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))}</a:t>
            </a:r>
            <a:endParaRPr sz="1979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979"/>
              <a:buFont typeface="Consolas"/>
              <a:buNone/>
            </a:pPr>
            <a:r>
              <a:t/>
            </a:r>
            <a:endParaRPr sz="1979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8" name="Google Shape;318;g393ca896728_0_34"/>
          <p:cNvSpPr txBox="1"/>
          <p:nvPr/>
        </p:nvSpPr>
        <p:spPr>
          <a:xfrm>
            <a:off x="1685100" y="3481500"/>
            <a:ext cx="149991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No JSX não é possível utilizar laços de repetição como for e while dentro do return( ).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Para iterar em listas na interface devemos usar o comando .map( ).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Nesse comando precisamos passar como parâmetro uma função de callback. Essa função será executada para cada item da lista, retornando um elemento JSX que o React converterá em interface.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19" name="Google Shape;319;g393ca896728_0_34"/>
          <p:cNvCxnSpPr/>
          <p:nvPr/>
        </p:nvCxnSpPr>
        <p:spPr>
          <a:xfrm>
            <a:off x="9330075" y="7463925"/>
            <a:ext cx="0" cy="17466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c71d9cac23_0_10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c71d9cac23_0_10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6" name="Google Shape;326;g3c71d9cac23_0_10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7" name="Google Shape;327;g3c71d9cac23_0_100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328" name="Google Shape;328;g3c71d9cac23_0_10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g3c71d9cac23_0_10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0" name="Google Shape;330;g3c71d9cac23_0_100"/>
          <p:cNvSpPr txBox="1"/>
          <p:nvPr/>
        </p:nvSpPr>
        <p:spPr>
          <a:xfrm>
            <a:off x="1644450" y="3312600"/>
            <a:ext cx="149991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Os componentes funcionais são essenciais para toda interface React Native, eles são   funções JavaScript que retornam JSX.</a:t>
            </a:r>
            <a:endParaRPr b="1"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1" name="Google Shape;331;g3c71d9cac23_0_100"/>
          <p:cNvSpPr txBox="1"/>
          <p:nvPr/>
        </p:nvSpPr>
        <p:spPr>
          <a:xfrm>
            <a:off x="2043300" y="1253350"/>
            <a:ext cx="12658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Estrutura de Componentes Funcionais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c71d9cac23_0_10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c71d9cac23_0_100"/>
          <p:cNvSpPr txBox="1"/>
          <p:nvPr/>
        </p:nvSpPr>
        <p:spPr>
          <a:xfrm>
            <a:off x="2043306" y="962025"/>
            <a:ext cx="568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JSX e Estrutura Básica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4" name="Google Shape;334;g3c71d9cac23_0_100"/>
          <p:cNvSpPr/>
          <p:nvPr/>
        </p:nvSpPr>
        <p:spPr>
          <a:xfrm>
            <a:off x="1775225" y="4536226"/>
            <a:ext cx="657300" cy="6573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164375" lIns="164375" spcFirstLastPara="1" rIns="164375" wrap="square" tIns="16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c71d9cac23_0_100"/>
          <p:cNvSpPr/>
          <p:nvPr/>
        </p:nvSpPr>
        <p:spPr>
          <a:xfrm>
            <a:off x="1775225" y="4536226"/>
            <a:ext cx="657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175" lIns="164375" spcFirstLastPara="1" rIns="164375" wrap="square" tIns="82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17"/>
              <a:buFont typeface="Arial"/>
              <a:buNone/>
            </a:pPr>
            <a:r>
              <a:rPr b="1" i="0" lang="en-US" sz="251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51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c71d9cac23_0_100"/>
          <p:cNvSpPr/>
          <p:nvPr/>
        </p:nvSpPr>
        <p:spPr>
          <a:xfrm>
            <a:off x="2761634" y="4454025"/>
            <a:ext cx="5754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517"/>
              <a:buFont typeface="Consolas"/>
              <a:buNone/>
            </a:pPr>
            <a:r>
              <a:rPr b="1" i="0" lang="en-US" sz="2517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endParaRPr b="0" i="0" sz="251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c71d9cac23_0_100"/>
          <p:cNvSpPr/>
          <p:nvPr/>
        </p:nvSpPr>
        <p:spPr>
          <a:xfrm>
            <a:off x="2761634" y="4947229"/>
            <a:ext cx="131520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978"/>
              <a:buFont typeface="Arial"/>
              <a:buNone/>
            </a:pPr>
            <a:r>
              <a:rPr b="0" i="0" lang="en-US" sz="1977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Importa os componentes nativos (View, Text...)</a:t>
            </a:r>
            <a:endParaRPr b="0" i="0" sz="197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c71d9cac23_0_100"/>
          <p:cNvSpPr/>
          <p:nvPr/>
        </p:nvSpPr>
        <p:spPr>
          <a:xfrm>
            <a:off x="1775225" y="5687036"/>
            <a:ext cx="657300" cy="6573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164375" lIns="164375" spcFirstLastPara="1" rIns="164375" wrap="square" tIns="16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c71d9cac23_0_100"/>
          <p:cNvSpPr/>
          <p:nvPr/>
        </p:nvSpPr>
        <p:spPr>
          <a:xfrm>
            <a:off x="1775225" y="5687036"/>
            <a:ext cx="657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175" lIns="164375" spcFirstLastPara="1" rIns="164375" wrap="square" tIns="82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17"/>
              <a:buFont typeface="Arial"/>
              <a:buNone/>
            </a:pPr>
            <a:r>
              <a:rPr b="1" i="0" lang="en-US" sz="251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51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c71d9cac23_0_100"/>
          <p:cNvSpPr/>
          <p:nvPr/>
        </p:nvSpPr>
        <p:spPr>
          <a:xfrm>
            <a:off x="2761634" y="5604835"/>
            <a:ext cx="5754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517"/>
              <a:buFont typeface="Consolas"/>
              <a:buNone/>
            </a:pPr>
            <a:r>
              <a:rPr b="1" i="0" lang="en-US" sz="2517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export </a:t>
            </a:r>
            <a:r>
              <a:rPr b="1" lang="en-US" sz="2517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const </a:t>
            </a:r>
            <a:r>
              <a:rPr b="1" i="0" lang="en-US" sz="2517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endParaRPr b="0" i="0" sz="251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c71d9cac23_0_100"/>
          <p:cNvSpPr/>
          <p:nvPr/>
        </p:nvSpPr>
        <p:spPr>
          <a:xfrm>
            <a:off x="2761634" y="6098039"/>
            <a:ext cx="131520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978"/>
              <a:buFont typeface="Arial"/>
              <a:buNone/>
            </a:pPr>
            <a:r>
              <a:rPr b="0" i="0" lang="en-US" sz="1977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Exporta a função para outros arquivos</a:t>
            </a:r>
            <a:endParaRPr b="0" i="0" sz="197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c71d9cac23_0_100"/>
          <p:cNvSpPr/>
          <p:nvPr/>
        </p:nvSpPr>
        <p:spPr>
          <a:xfrm>
            <a:off x="1775225" y="6837846"/>
            <a:ext cx="657300" cy="6573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164375" lIns="164375" spcFirstLastPara="1" rIns="164375" wrap="square" tIns="16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c71d9cac23_0_100"/>
          <p:cNvSpPr/>
          <p:nvPr/>
        </p:nvSpPr>
        <p:spPr>
          <a:xfrm>
            <a:off x="1775225" y="6837846"/>
            <a:ext cx="657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175" lIns="164375" spcFirstLastPara="1" rIns="164375" wrap="square" tIns="82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17"/>
              <a:buFont typeface="Arial"/>
              <a:buNone/>
            </a:pPr>
            <a:r>
              <a:rPr b="1" i="0" lang="en-US" sz="251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51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c71d9cac23_0_100"/>
          <p:cNvSpPr/>
          <p:nvPr/>
        </p:nvSpPr>
        <p:spPr>
          <a:xfrm>
            <a:off x="2761634" y="6755645"/>
            <a:ext cx="5754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517"/>
              <a:buFont typeface="Consolas"/>
              <a:buNone/>
            </a:pPr>
            <a:r>
              <a:rPr b="1" i="0" lang="en-US" sz="2517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Nome com MAIÚSCULA</a:t>
            </a:r>
            <a:endParaRPr b="0" i="0" sz="251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c71d9cac23_0_100"/>
          <p:cNvSpPr/>
          <p:nvPr/>
        </p:nvSpPr>
        <p:spPr>
          <a:xfrm>
            <a:off x="2761634" y="7248849"/>
            <a:ext cx="131520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978"/>
              <a:buFont typeface="Arial"/>
              <a:buNone/>
            </a:pPr>
            <a:r>
              <a:rPr b="0" i="0" lang="en-US" sz="1977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Obrigatório! MeuComponente, não meuComponente</a:t>
            </a:r>
            <a:endParaRPr b="0" i="0" sz="197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c71d9cac23_0_100"/>
          <p:cNvSpPr/>
          <p:nvPr/>
        </p:nvSpPr>
        <p:spPr>
          <a:xfrm>
            <a:off x="1775225" y="7988655"/>
            <a:ext cx="657300" cy="6573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164375" lIns="164375" spcFirstLastPara="1" rIns="164375" wrap="square" tIns="16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c71d9cac23_0_100"/>
          <p:cNvSpPr/>
          <p:nvPr/>
        </p:nvSpPr>
        <p:spPr>
          <a:xfrm>
            <a:off x="1775225" y="7988655"/>
            <a:ext cx="657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175" lIns="164375" spcFirstLastPara="1" rIns="164375" wrap="square" tIns="82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17"/>
              <a:buFont typeface="Arial"/>
              <a:buNone/>
            </a:pPr>
            <a:r>
              <a:rPr b="1" i="0" lang="en-US" sz="251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51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c71d9cac23_0_100"/>
          <p:cNvSpPr/>
          <p:nvPr/>
        </p:nvSpPr>
        <p:spPr>
          <a:xfrm>
            <a:off x="2761634" y="7906455"/>
            <a:ext cx="5754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517"/>
              <a:buFont typeface="Consolas"/>
              <a:buNone/>
            </a:pPr>
            <a:r>
              <a:rPr b="1" i="0" lang="en-US" sz="2517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return (...)</a:t>
            </a:r>
            <a:endParaRPr b="0" i="0" sz="251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c71d9cac23_0_100"/>
          <p:cNvSpPr/>
          <p:nvPr/>
        </p:nvSpPr>
        <p:spPr>
          <a:xfrm>
            <a:off x="2761634" y="8399659"/>
            <a:ext cx="131520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978"/>
              <a:buFont typeface="Arial"/>
              <a:buNone/>
            </a:pPr>
            <a:r>
              <a:rPr b="0" i="0" lang="en-US" sz="1977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Retorna o JSX que será renderizado</a:t>
            </a:r>
            <a:endParaRPr b="0" i="0" sz="197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c71d9cac23_0_100"/>
          <p:cNvSpPr/>
          <p:nvPr/>
        </p:nvSpPr>
        <p:spPr>
          <a:xfrm>
            <a:off x="1775225" y="9139465"/>
            <a:ext cx="657300" cy="6573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164375" lIns="164375" spcFirstLastPara="1" rIns="164375" wrap="square" tIns="16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c71d9cac23_0_100"/>
          <p:cNvSpPr/>
          <p:nvPr/>
        </p:nvSpPr>
        <p:spPr>
          <a:xfrm>
            <a:off x="1775225" y="9139465"/>
            <a:ext cx="657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175" lIns="164375" spcFirstLastPara="1" rIns="164375" wrap="square" tIns="82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17"/>
              <a:buFont typeface="Arial"/>
              <a:buNone/>
            </a:pPr>
            <a:r>
              <a:rPr b="1" i="0" lang="en-US" sz="251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51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c71d9cac23_0_100"/>
          <p:cNvSpPr/>
          <p:nvPr/>
        </p:nvSpPr>
        <p:spPr>
          <a:xfrm>
            <a:off x="2761634" y="9057265"/>
            <a:ext cx="5754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517"/>
              <a:buFont typeface="Consolas"/>
              <a:buNone/>
            </a:pPr>
            <a:r>
              <a:rPr b="1" i="0" lang="en-US" sz="2517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Lógica antes do return</a:t>
            </a:r>
            <a:endParaRPr b="0" i="0" sz="251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c71d9cac23_0_100"/>
          <p:cNvSpPr/>
          <p:nvPr/>
        </p:nvSpPr>
        <p:spPr>
          <a:xfrm>
            <a:off x="2761634" y="9550469"/>
            <a:ext cx="131520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978"/>
              <a:buFont typeface="Arial"/>
              <a:buNone/>
            </a:pPr>
            <a:r>
              <a:rPr b="0" i="0" lang="en-US" sz="1977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if/else, variáveis, cálculos — tudo ANTES do return</a:t>
            </a:r>
            <a:endParaRPr b="0" i="0" sz="197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c71d9cac23_0_15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c71d9cac23_0_15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" name="Google Shape;360;g3c71d9cac23_0_15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61" name="Google Shape;361;g3c71d9cac23_0_154"/>
          <p:cNvGrpSpPr/>
          <p:nvPr/>
        </p:nvGrpSpPr>
        <p:grpSpPr>
          <a:xfrm>
            <a:off x="978650" y="2987111"/>
            <a:ext cx="16330694" cy="7299900"/>
            <a:chOff x="0" y="-38093"/>
            <a:chExt cx="4301060" cy="2000411"/>
          </a:xfrm>
        </p:grpSpPr>
        <p:sp>
          <p:nvSpPr>
            <p:cNvPr id="362" name="Google Shape;362;g3c71d9cac23_0_15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g3c71d9cac23_0_154"/>
            <p:cNvSpPr txBox="1"/>
            <p:nvPr/>
          </p:nvSpPr>
          <p:spPr>
            <a:xfrm>
              <a:off x="31460" y="-38093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g3c71d9cac23_0_154"/>
          <p:cNvSpPr txBox="1"/>
          <p:nvPr/>
        </p:nvSpPr>
        <p:spPr>
          <a:xfrm>
            <a:off x="1644450" y="3312600"/>
            <a:ext cx="149991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Temos aqui uma regra importante: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Quando criamos um componente, é necessário realizar um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export 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dele, para que outros arquivos no código tenham acesso a ele;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Para utilizar ele em outro arquivo, é necessário então realizar um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import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5" name="Google Shape;365;g3c71d9cac23_0_154"/>
          <p:cNvSpPr txBox="1"/>
          <p:nvPr/>
        </p:nvSpPr>
        <p:spPr>
          <a:xfrm>
            <a:off x="2043300" y="1253350"/>
            <a:ext cx="12658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Exports e Imports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c71d9cac23_0_15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c71d9cac23_0_154"/>
          <p:cNvSpPr txBox="1"/>
          <p:nvPr/>
        </p:nvSpPr>
        <p:spPr>
          <a:xfrm>
            <a:off x="2043306" y="962025"/>
            <a:ext cx="568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JSX e Estrutura Básica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8" name="Google Shape;368;g3c71d9cac23_0_1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95775" y="6382150"/>
            <a:ext cx="9696600" cy="3733800"/>
          </a:xfrm>
          <a:prstGeom prst="roundRect">
            <a:avLst>
              <a:gd fmla="val 1290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c71d9cac23_0_19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c71d9cac23_0_19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5" name="Google Shape;375;g3c71d9cac23_0_19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76" name="Google Shape;376;g3c71d9cac23_0_193"/>
          <p:cNvGrpSpPr/>
          <p:nvPr/>
        </p:nvGrpSpPr>
        <p:grpSpPr>
          <a:xfrm>
            <a:off x="978650" y="2987111"/>
            <a:ext cx="16330694" cy="7299900"/>
            <a:chOff x="0" y="-38093"/>
            <a:chExt cx="4301060" cy="2000411"/>
          </a:xfrm>
        </p:grpSpPr>
        <p:sp>
          <p:nvSpPr>
            <p:cNvPr id="377" name="Google Shape;377;g3c71d9cac23_0_19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g3c71d9cac23_0_193"/>
            <p:cNvSpPr txBox="1"/>
            <p:nvPr/>
          </p:nvSpPr>
          <p:spPr>
            <a:xfrm>
              <a:off x="31460" y="-38093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9" name="Google Shape;379;g3c71d9cac23_0_193"/>
          <p:cNvSpPr txBox="1"/>
          <p:nvPr/>
        </p:nvSpPr>
        <p:spPr>
          <a:xfrm>
            <a:off x="1644450" y="3312600"/>
            <a:ext cx="1499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Como sabemos existem diversos atalhos que nos ajudam no 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desenvolvimento.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0" name="Google Shape;380;g3c71d9cac23_0_193"/>
          <p:cNvSpPr txBox="1"/>
          <p:nvPr/>
        </p:nvSpPr>
        <p:spPr>
          <a:xfrm>
            <a:off x="2043300" y="1253350"/>
            <a:ext cx="12658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Atalhos VSCode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c71d9cac23_0_19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3c71d9cac23_0_193"/>
          <p:cNvSpPr txBox="1"/>
          <p:nvPr/>
        </p:nvSpPr>
        <p:spPr>
          <a:xfrm>
            <a:off x="2043306" y="962025"/>
            <a:ext cx="568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JSX e Estrutura Básica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3" name="Google Shape;383;g3c71d9cac23_0_193"/>
          <p:cNvSpPr/>
          <p:nvPr/>
        </p:nvSpPr>
        <p:spPr>
          <a:xfrm>
            <a:off x="1626600" y="4625277"/>
            <a:ext cx="15034800" cy="8352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>
            <a:noFill/>
          </a:ln>
          <a:effectLst>
            <a:outerShdw blurRad="92808" rotWithShape="0" algn="bl" dir="8100000" dist="46404">
              <a:srgbClr val="000000">
                <a:alpha val="7840"/>
              </a:srgbClr>
            </a:outerShdw>
          </a:effectLst>
        </p:spPr>
        <p:txBody>
          <a:bodyPr anchorCtr="0" anchor="ctr" bIns="167000" lIns="167000" spcFirstLastPara="1" rIns="167000" wrap="square" tIns="16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c71d9cac23_0_193"/>
          <p:cNvSpPr/>
          <p:nvPr/>
        </p:nvSpPr>
        <p:spPr>
          <a:xfrm>
            <a:off x="1960707" y="4758920"/>
            <a:ext cx="33411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375"/>
              <a:buFont typeface="Consolas"/>
              <a:buNone/>
            </a:pPr>
            <a:r>
              <a:rPr b="1" i="0" lang="en-US" sz="2375" u="none" cap="none" strike="noStrike">
                <a:solidFill>
                  <a:srgbClr val="D93831"/>
                </a:solidFill>
                <a:latin typeface="Consolas"/>
                <a:ea typeface="Consolas"/>
                <a:cs typeface="Consolas"/>
                <a:sym typeface="Consolas"/>
              </a:rPr>
              <a:t>Ctrl + Space</a:t>
            </a:r>
            <a:endParaRPr b="0" i="0" sz="2375" u="none" cap="none" strike="noStrike">
              <a:solidFill>
                <a:srgbClr val="D938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c71d9cac23_0_193"/>
          <p:cNvSpPr/>
          <p:nvPr/>
        </p:nvSpPr>
        <p:spPr>
          <a:xfrm>
            <a:off x="5468833" y="4758920"/>
            <a:ext cx="108585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192"/>
              <a:buFont typeface="Arial"/>
              <a:buNone/>
            </a:pPr>
            <a:r>
              <a:rPr b="0" i="0" lang="en-US" sz="2192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Abre o autocomplete — mostra sugestões e já faz o import automático</a:t>
            </a:r>
            <a:endParaRPr b="0" i="0" sz="219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c71d9cac23_0_193"/>
          <p:cNvSpPr/>
          <p:nvPr/>
        </p:nvSpPr>
        <p:spPr>
          <a:xfrm>
            <a:off x="1626600" y="5627599"/>
            <a:ext cx="15034800" cy="8352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>
            <a:noFill/>
          </a:ln>
          <a:effectLst>
            <a:outerShdw blurRad="92808" rotWithShape="0" algn="bl" dir="8100000" dist="46404">
              <a:srgbClr val="000000">
                <a:alpha val="7840"/>
              </a:srgbClr>
            </a:outerShdw>
          </a:effectLst>
        </p:spPr>
        <p:txBody>
          <a:bodyPr anchorCtr="0" anchor="ctr" bIns="167000" lIns="167000" spcFirstLastPara="1" rIns="167000" wrap="square" tIns="16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c71d9cac23_0_193"/>
          <p:cNvSpPr/>
          <p:nvPr/>
        </p:nvSpPr>
        <p:spPr>
          <a:xfrm>
            <a:off x="1960707" y="5761242"/>
            <a:ext cx="33411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375"/>
              <a:buFont typeface="Consolas"/>
              <a:buNone/>
            </a:pPr>
            <a:r>
              <a:rPr b="1" i="0" lang="en-US" sz="2375" u="none" cap="none" strike="noStrike">
                <a:solidFill>
                  <a:srgbClr val="D93831"/>
                </a:solidFill>
                <a:latin typeface="Consolas"/>
                <a:ea typeface="Consolas"/>
                <a:cs typeface="Consolas"/>
                <a:sym typeface="Consolas"/>
              </a:rPr>
              <a:t>Ctrl + .</a:t>
            </a:r>
            <a:endParaRPr b="0" i="0" sz="2375" u="none" cap="none" strike="noStrike">
              <a:solidFill>
                <a:srgbClr val="D938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c71d9cac23_0_193"/>
          <p:cNvSpPr/>
          <p:nvPr/>
        </p:nvSpPr>
        <p:spPr>
          <a:xfrm>
            <a:off x="5468833" y="5761242"/>
            <a:ext cx="108585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192"/>
              <a:buFont typeface="Arial"/>
              <a:buNone/>
            </a:pPr>
            <a:r>
              <a:rPr b="0" i="0" lang="en-US" sz="2192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Quick Fix — corrige erros de import automaticamente</a:t>
            </a:r>
            <a:endParaRPr b="0" i="0" sz="219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c71d9cac23_0_193"/>
          <p:cNvSpPr/>
          <p:nvPr/>
        </p:nvSpPr>
        <p:spPr>
          <a:xfrm>
            <a:off x="1626600" y="6629920"/>
            <a:ext cx="15034800" cy="8352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>
            <a:noFill/>
          </a:ln>
          <a:effectLst>
            <a:outerShdw blurRad="92808" rotWithShape="0" algn="bl" dir="8100000" dist="46404">
              <a:srgbClr val="000000">
                <a:alpha val="7840"/>
              </a:srgbClr>
            </a:outerShdw>
          </a:effectLst>
        </p:spPr>
        <p:txBody>
          <a:bodyPr anchorCtr="0" anchor="ctr" bIns="167000" lIns="167000" spcFirstLastPara="1" rIns="167000" wrap="square" tIns="16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c71d9cac23_0_193"/>
          <p:cNvSpPr/>
          <p:nvPr/>
        </p:nvSpPr>
        <p:spPr>
          <a:xfrm>
            <a:off x="1960707" y="6763563"/>
            <a:ext cx="33411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375"/>
              <a:buFont typeface="Consolas"/>
              <a:buNone/>
            </a:pPr>
            <a:r>
              <a:rPr b="1" lang="en-US" sz="2375">
                <a:solidFill>
                  <a:srgbClr val="D93831"/>
                </a:solidFill>
                <a:latin typeface="Consolas"/>
                <a:ea typeface="Consolas"/>
                <a:cs typeface="Consolas"/>
                <a:sym typeface="Consolas"/>
              </a:rPr>
              <a:t>Alt </a:t>
            </a:r>
            <a:r>
              <a:rPr b="1" i="0" lang="en-US" sz="2375" u="none" cap="none" strike="noStrike">
                <a:solidFill>
                  <a:srgbClr val="D93831"/>
                </a:solidFill>
                <a:latin typeface="Consolas"/>
                <a:ea typeface="Consolas"/>
                <a:cs typeface="Consolas"/>
                <a:sym typeface="Consolas"/>
              </a:rPr>
              <a:t>+ Shift + O</a:t>
            </a:r>
            <a:endParaRPr b="0" i="0" sz="2375" u="none" cap="none" strike="noStrike">
              <a:solidFill>
                <a:srgbClr val="D938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c71d9cac23_0_193"/>
          <p:cNvSpPr/>
          <p:nvPr/>
        </p:nvSpPr>
        <p:spPr>
          <a:xfrm>
            <a:off x="5468833" y="6763563"/>
            <a:ext cx="108585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192"/>
              <a:buFont typeface="Arial"/>
              <a:buNone/>
            </a:pPr>
            <a:r>
              <a:rPr b="0" i="0" lang="en-US" sz="2192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Organiza imports (remove não usados, ordena)</a:t>
            </a:r>
            <a:endParaRPr b="0" i="0" sz="219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c1ef68f60b_0_17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c1ef68f60b_0_17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8" name="Google Shape;398;g3c1ef68f60b_0_17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9" name="Google Shape;399;g3c1ef68f60b_0_17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400" name="Google Shape;400;g3c1ef68f60b_0_17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g3c1ef68f60b_0_17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2" name="Google Shape;402;g3c1ef68f60b_0_174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3" name="Google Shape;403;g3c1ef68f60b_0_174"/>
          <p:cNvSpPr txBox="1"/>
          <p:nvPr/>
        </p:nvSpPr>
        <p:spPr>
          <a:xfrm>
            <a:off x="1685075" y="3542151"/>
            <a:ext cx="14443800" cy="9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React Docs</a:t>
            </a: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React Fundamentals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Disponível em: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https://reactnative.dev/docs/intro-react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8288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4" name="Google Shape;404;g3c1ef68f60b_0_17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c1ef68f60b_0_174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REQUISITOS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1" name="Google Shape;411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2" name="Google Shape;412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3" name="Google Shape;413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414" name="Google Shape;414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15" name="Google Shape;415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6" name="Google Shape;416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417" name="Google Shape;417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9" name="Google Shape;419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420" name="Google Shape;420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2" name="Google Shape;422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423" name="Google Shape;423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25" name="Google Shape;425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6" name="Google Shape;426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427" name="Google Shape;427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" name="Google Shape;428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