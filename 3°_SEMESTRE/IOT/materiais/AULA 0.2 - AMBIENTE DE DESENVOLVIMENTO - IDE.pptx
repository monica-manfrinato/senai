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txQQYfVZBREgPmpyKmVCVxt1B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344ba57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7344ba57d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344ba57d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Compare a IDE com uma oficina: você tem o local para montar (editor), o manual (documentação) e o rádio para testar se a máquina responde (shell). Sem uma IDE, teríamos que usar o terminal puro, o que seria muito mais difícil para iniciantes.</a:t>
            </a:r>
            <a:endParaRPr/>
          </a:p>
        </p:txBody>
      </p:sp>
      <p:sp>
        <p:nvSpPr>
          <p:cNvPr id="91" name="Google Shape;91;g37344ba57d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2f383d0d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Reforce que, como eles são da turma de Desenvolvimento, aprenderão a usar ferramentas mais complexas depois, mas o Thonny é a melhor forma de garantir que ninguém "trave" na configuração inicial.</a:t>
            </a:r>
            <a:endParaRPr/>
          </a:p>
        </p:txBody>
      </p:sp>
      <p:sp>
        <p:nvSpPr>
          <p:cNvPr id="113" name="Google Shape;113;g392f383d0d5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2f383d0d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92f383d0d5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2f383d0d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que o firmware é como o Windows do computador, mas em uma escala minúscula. Sem ele, a placa é apenas um pedaço de silício sem utilidade para nós.</a:t>
            </a:r>
            <a:endParaRPr/>
          </a:p>
        </p:txBody>
      </p:sp>
      <p:sp>
        <p:nvSpPr>
          <p:cNvPr id="143" name="Google Shape;143;g392f383d0d5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2f383d0d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Problema comum: Cabo USB que só carrega bateria e não passa dados. Se 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RPI-RP2</a:t>
            </a:r>
            <a:r>
              <a:rPr lang="en-US">
                <a:solidFill>
                  <a:schemeClr val="dk1"/>
                </a:solidFill>
              </a:rPr>
              <a:t> não aparecer, peça para o aluno trocar o cabo.</a:t>
            </a:r>
            <a:endParaRPr/>
          </a:p>
        </p:txBody>
      </p:sp>
      <p:sp>
        <p:nvSpPr>
          <p:cNvPr id="158" name="Google Shape;158;g392f383d0d5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2f383d0d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O Thonny 4.x faz isso quase automaticamente. Se a janela de instalação não abrir, certifique-se de que a placa está conectada e reconhecida pelo Windows.</a:t>
            </a:r>
            <a:endParaRPr/>
          </a:p>
        </p:txBody>
      </p:sp>
      <p:sp>
        <p:nvSpPr>
          <p:cNvPr id="173" name="Google Shape;173;g392f383d0d5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2f383d0d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o significado de REPL (</a:t>
            </a:r>
            <a:r>
              <a:rPr i="1" lang="en-US">
                <a:solidFill>
                  <a:schemeClr val="dk1"/>
                </a:solidFill>
              </a:rPr>
              <a:t>Read-Eval-Print Loop</a:t>
            </a:r>
            <a:r>
              <a:rPr lang="en-US">
                <a:solidFill>
                  <a:schemeClr val="dk1"/>
                </a:solidFill>
              </a:rPr>
              <a:t>). É a "conversa em tempo real" com o hardware.</a:t>
            </a:r>
            <a:endParaRPr/>
          </a:p>
        </p:txBody>
      </p:sp>
      <p:sp>
        <p:nvSpPr>
          <p:cNvPr id="188" name="Google Shape;188;g392f383d0d5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2f383d0d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Notas do Professor:</a:t>
            </a:r>
            <a:r>
              <a:rPr lang="en-US">
                <a:solidFill>
                  <a:schemeClr val="dk1"/>
                </a:solidFill>
              </a:rPr>
              <a:t> Explique o significado de REPL (</a:t>
            </a:r>
            <a:r>
              <a:rPr i="1" lang="en-US">
                <a:solidFill>
                  <a:schemeClr val="dk1"/>
                </a:solidFill>
              </a:rPr>
              <a:t>Read-Eval-Print Loop</a:t>
            </a:r>
            <a:r>
              <a:rPr lang="en-US">
                <a:solidFill>
                  <a:schemeClr val="dk1"/>
                </a:solidFill>
              </a:rPr>
              <a:t>). É a "conversa em tempo real" com o hardware.</a:t>
            </a:r>
            <a:endParaRPr/>
          </a:p>
        </p:txBody>
      </p:sp>
      <p:sp>
        <p:nvSpPr>
          <p:cNvPr id="203" name="Google Shape;203;g392f383d0d5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94324d29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494324d29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94324d29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494324d29f_0_3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thonny.org" TargetMode="External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youtube.com/watch?v=qYqUJC9z2_E" TargetMode="External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5" Type="http://schemas.openxmlformats.org/officeDocument/2006/relationships/hyperlink" Target="https://thonny.org" TargetMode="External"/><Relationship Id="rId6" Type="http://schemas.openxmlformats.org/officeDocument/2006/relationships/hyperlink" Target="https://thonny.org" TargetMode="External"/><Relationship Id="rId7" Type="http://schemas.openxmlformats.org/officeDocument/2006/relationships/hyperlink" Target="https://docs.micropython.org" TargetMode="External"/><Relationship Id="rId8" Type="http://schemas.openxmlformats.org/officeDocument/2006/relationships/hyperlink" Target="https://docs.micropython.or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344ba57de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7344ba57de_0_0"/>
          <p:cNvSpPr/>
          <p:nvPr/>
        </p:nvSpPr>
        <p:spPr>
          <a:xfrm>
            <a:off x="7561289" y="8666140"/>
            <a:ext cx="3165421" cy="809423"/>
          </a:xfrm>
          <a:custGeom>
            <a:rect b="b" l="l" r="r" t="t"/>
            <a:pathLst>
              <a:path extrusionOk="0" h="809423" w="3165421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7344ba57de_0_0"/>
          <p:cNvSpPr txBox="1"/>
          <p:nvPr/>
        </p:nvSpPr>
        <p:spPr>
          <a:xfrm>
            <a:off x="2018675" y="3807984"/>
            <a:ext cx="14457300" cy="3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76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AMBIENTE DE DESENVOLVIMENTO (IDE) E CONFIGURAÇÃO</a:t>
            </a:r>
            <a:endParaRPr b="1" i="0" sz="76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g37344ba57de_0_0"/>
          <p:cNvSpPr txBox="1"/>
          <p:nvPr/>
        </p:nvSpPr>
        <p:spPr>
          <a:xfrm>
            <a:off x="7422396" y="962025"/>
            <a:ext cx="333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Professores:</a:t>
            </a:r>
            <a:endParaRPr b="1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g37344ba57de_0_0"/>
          <p:cNvSpPr txBox="1"/>
          <p:nvPr/>
        </p:nvSpPr>
        <p:spPr>
          <a:xfrm>
            <a:off x="5977797" y="1499350"/>
            <a:ext cx="63324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Manoel Filho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Palata Fanger Rodrigues</a:t>
            </a:r>
            <a:endParaRPr b="0" i="0" sz="2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344ba57de_0_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7344ba57de_0_9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g37344ba57de_0_9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" name="Google Shape;96;g37344ba57de_0_9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97" name="Google Shape;97;g37344ba57de_0_9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g37344ba57de_0_9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g37344ba57de_0_9"/>
          <p:cNvSpPr txBox="1"/>
          <p:nvPr/>
        </p:nvSpPr>
        <p:spPr>
          <a:xfrm>
            <a:off x="1685075" y="3542153"/>
            <a:ext cx="144438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significa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Integrated Development Environment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(Ambiente de Desenvolvimento Integrado). É o "ateliê" do programador, onde todas as ferramentas necessárias estão em um só lugar.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IDE de IoT geralmente contém: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Editor de Texto: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Onde escrevemos o código.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Shell/REPL: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Onde conversamos diretamente com a placa.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Gerenciador de Arquivos: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salvar códigos dentro da memória da placa.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g37344ba57de_0_9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7344ba57de_0_9"/>
          <p:cNvSpPr txBox="1"/>
          <p:nvPr/>
        </p:nvSpPr>
        <p:spPr>
          <a:xfrm>
            <a:off x="2043299" y="962025"/>
            <a:ext cx="73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Ambiente de desenvolvimento (IDE)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g37344ba57de_0_9"/>
          <p:cNvSpPr txBox="1"/>
          <p:nvPr/>
        </p:nvSpPr>
        <p:spPr>
          <a:xfrm>
            <a:off x="2043300" y="1189050"/>
            <a:ext cx="1596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O que é uma IDE?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g37344ba57de_0_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8925" y="7297450"/>
            <a:ext cx="1816404" cy="1816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7344ba57de_0_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49176" y="7297450"/>
            <a:ext cx="1838572" cy="1838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7344ba57de_0_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51594" y="7297450"/>
            <a:ext cx="1816403" cy="1816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7344ba57de_0_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831845" y="7508597"/>
            <a:ext cx="4092714" cy="13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7344ba57de_0_9"/>
          <p:cNvSpPr txBox="1"/>
          <p:nvPr/>
        </p:nvSpPr>
        <p:spPr>
          <a:xfrm>
            <a:off x="7760900" y="9360650"/>
            <a:ext cx="159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VS CODE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g37344ba57de_0_9"/>
          <p:cNvSpPr txBox="1"/>
          <p:nvPr/>
        </p:nvSpPr>
        <p:spPr>
          <a:xfrm>
            <a:off x="5689950" y="9382825"/>
            <a:ext cx="159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THONNY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g37344ba57de_0_9"/>
          <p:cNvSpPr txBox="1"/>
          <p:nvPr/>
        </p:nvSpPr>
        <p:spPr>
          <a:xfrm>
            <a:off x="3378225" y="9382825"/>
            <a:ext cx="181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ARDUINO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g37344ba57de_0_9"/>
          <p:cNvSpPr txBox="1"/>
          <p:nvPr/>
        </p:nvSpPr>
        <p:spPr>
          <a:xfrm>
            <a:off x="11079300" y="9360650"/>
            <a:ext cx="159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Keil MDK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2f383d0d5_0_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92f383d0d5_0_5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g392f383d0d5_0_5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8" name="Google Shape;118;g392f383d0d5_0_5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19" name="Google Shape;119;g392f383d0d5_0_5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g392f383d0d5_0_5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g392f383d0d5_0_5"/>
          <p:cNvSpPr txBox="1"/>
          <p:nvPr/>
        </p:nvSpPr>
        <p:spPr>
          <a:xfrm>
            <a:off x="1685075" y="3542153"/>
            <a:ext cx="144438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Embora existam IDEs potentes como o VS Code,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Thonny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foi criado especificamente para iniciantes em Python e possui suporte nativo excelente para microcontroladores.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Vantagens: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Leve e simples.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Instalador "tudo-em-um" (já vem com Python).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Facilidade para instalar o firmware MicroPython na placa com um clique.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g392f383d0d5_0_5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92f383d0d5_0_5"/>
          <p:cNvSpPr txBox="1"/>
          <p:nvPr/>
        </p:nvSpPr>
        <p:spPr>
          <a:xfrm>
            <a:off x="2043299" y="962025"/>
            <a:ext cx="73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Ambiente de desenvolvimento (IDE)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g392f383d0d5_0_5"/>
          <p:cNvSpPr txBox="1"/>
          <p:nvPr/>
        </p:nvSpPr>
        <p:spPr>
          <a:xfrm>
            <a:off x="2043300" y="1189050"/>
            <a:ext cx="1596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Por que o Thonny IDE?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2f383d0d5_0_3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92f383d0d5_0_36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g392f383d0d5_0_36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2" name="Google Shape;132;g392f383d0d5_0_36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33" name="Google Shape;133;g392f383d0d5_0_36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g392f383d0d5_0_36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g392f383d0d5_0_36"/>
          <p:cNvSpPr txBox="1"/>
          <p:nvPr/>
        </p:nvSpPr>
        <p:spPr>
          <a:xfrm>
            <a:off x="1685075" y="3542150"/>
            <a:ext cx="8013300" cy="41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Vamos preparar o seu computador: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Acesse: </a:t>
            </a:r>
            <a:r>
              <a:rPr b="1"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thonny.org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Escolha a versão para o seu sistema (Windows, Mac ou Linux).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Execute o instalador e siga o padrão "Next, Next, Install".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g392f383d0d5_0_36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92f383d0d5_0_36"/>
          <p:cNvSpPr txBox="1"/>
          <p:nvPr/>
        </p:nvSpPr>
        <p:spPr>
          <a:xfrm>
            <a:off x="2043299" y="962025"/>
            <a:ext cx="73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Ambiente de desenvolvimento (IDE)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g392f383d0d5_0_36"/>
          <p:cNvSpPr txBox="1"/>
          <p:nvPr/>
        </p:nvSpPr>
        <p:spPr>
          <a:xfrm>
            <a:off x="2043300" y="1189050"/>
            <a:ext cx="1596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Tutorial de Instalação (Passo 1)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g392f383d0d5_0_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72088" y="3224263"/>
            <a:ext cx="6372225" cy="635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92f383d0d5_0_36"/>
          <p:cNvSpPr txBox="1"/>
          <p:nvPr/>
        </p:nvSpPr>
        <p:spPr>
          <a:xfrm>
            <a:off x="1258875" y="9267650"/>
            <a:ext cx="162444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Dica: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Durante a instalação, você pode marcar a opção de criar um ícone na área de trabalho para facilitar o acesso.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2f383d0d5_0_5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92f383d0d5_0_5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g392f383d0d5_0_5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g392f383d0d5_0_5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49" name="Google Shape;149;g392f383d0d5_0_5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g392f383d0d5_0_5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g392f383d0d5_0_54"/>
          <p:cNvSpPr txBox="1"/>
          <p:nvPr/>
        </p:nvSpPr>
        <p:spPr>
          <a:xfrm>
            <a:off x="1685075" y="3542150"/>
            <a:ext cx="15037200" cy="23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Raspberry Pi Pico 2W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vem "vazia". Para que ela entenda nossos comandos em Python, precisamos instalar nela um "sistema operacional" simplificado chamado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Firmware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Firmware traduz nosso código Python para a linguagem que o processador entende.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●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vez instalado, a placa se torna um dispositivo Python independente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g392f383d0d5_0_5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92f383d0d5_0_54"/>
          <p:cNvSpPr txBox="1"/>
          <p:nvPr/>
        </p:nvSpPr>
        <p:spPr>
          <a:xfrm>
            <a:off x="2043299" y="962025"/>
            <a:ext cx="73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Ambiente de desenvolvimento (IDE)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392f383d0d5_0_54"/>
          <p:cNvSpPr txBox="1"/>
          <p:nvPr/>
        </p:nvSpPr>
        <p:spPr>
          <a:xfrm>
            <a:off x="2043300" y="1189050"/>
            <a:ext cx="1596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Entendendo o MicroPython (Firmware)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5" name="Google Shape;155;g392f383d0d5_0_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4963" y="6217925"/>
            <a:ext cx="6757425" cy="38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2f383d0d5_0_7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92f383d0d5_0_74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g392f383d0d5_0_74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3" name="Google Shape;163;g392f383d0d5_0_74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64" name="Google Shape;164;g392f383d0d5_0_74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g392f383d0d5_0_74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g392f383d0d5_0_74"/>
          <p:cNvSpPr txBox="1"/>
          <p:nvPr/>
        </p:nvSpPr>
        <p:spPr>
          <a:xfrm>
            <a:off x="1685075" y="3542150"/>
            <a:ext cx="150372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Este é o momento mais importante. Siga rigorosamente: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NÃO ligue a placa ainda.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Segure o botão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BOOTSEL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(botão branco na placa).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Enquanto segura o botão, conecte o cabo USB ao computador.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Solte o botão. O computador reconhecerá a placa como um "Pendrive" chamado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RPI-RP2.</a:t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g392f383d0d5_0_74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92f383d0d5_0_74"/>
          <p:cNvSpPr txBox="1"/>
          <p:nvPr/>
        </p:nvSpPr>
        <p:spPr>
          <a:xfrm>
            <a:off x="2043299" y="962025"/>
            <a:ext cx="73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Ambiente de desenvolvimento (IDE)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g392f383d0d5_0_74"/>
          <p:cNvSpPr txBox="1"/>
          <p:nvPr/>
        </p:nvSpPr>
        <p:spPr>
          <a:xfrm>
            <a:off x="2043300" y="1189050"/>
            <a:ext cx="159687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Configurando a Pico 2W no Thonny (Passo 2)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0" name="Google Shape;170;g392f383d0d5_0_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7200" y="6132238"/>
            <a:ext cx="9753600" cy="38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2f383d0d5_0_9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92f383d0d5_0_9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g392f383d0d5_0_9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8" name="Google Shape;178;g392f383d0d5_0_9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79" name="Google Shape;179;g392f383d0d5_0_9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g392f383d0d5_0_9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g392f383d0d5_0_92"/>
          <p:cNvSpPr txBox="1"/>
          <p:nvPr/>
        </p:nvSpPr>
        <p:spPr>
          <a:xfrm>
            <a:off x="1685075" y="3542150"/>
            <a:ext cx="6294900" cy="51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 a placa em modo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BOOTSEL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Abra 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Thonny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canto inferior direito, clique em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"Python 3.x"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escolha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"Configure interpreter..."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"Which interpreter...", selecione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MicroPython (Raspberry Pi Pico)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Poppins"/>
              <a:buAutoNum type="arabicPeriod"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Thonny detectará que a placa precisa do firmware e oferecerá o botão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"Install"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Clique e aguarde a barra de progresso.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g392f383d0d5_0_9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92f383d0d5_0_92"/>
          <p:cNvSpPr txBox="1"/>
          <p:nvPr/>
        </p:nvSpPr>
        <p:spPr>
          <a:xfrm>
            <a:off x="2043299" y="962025"/>
            <a:ext cx="73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Ambiente de desenvolvimento (IDE)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g392f383d0d5_0_92"/>
          <p:cNvSpPr txBox="1"/>
          <p:nvPr/>
        </p:nvSpPr>
        <p:spPr>
          <a:xfrm>
            <a:off x="2043300" y="1189050"/>
            <a:ext cx="1596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Instalando o MicroPython (Passo 3)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5" name="Google Shape;185;g392f383d0d5_0_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79900" y="3542150"/>
            <a:ext cx="9025126" cy="603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2f383d0d5_0_1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92f383d0d5_0_1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g392f383d0d5_0_111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3" name="Google Shape;193;g392f383d0d5_0_111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194" name="Google Shape;194;g392f383d0d5_0_111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g392f383d0d5_0_111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g392f383d0d5_0_111"/>
          <p:cNvSpPr txBox="1"/>
          <p:nvPr/>
        </p:nvSpPr>
        <p:spPr>
          <a:xfrm>
            <a:off x="8893925" y="3542150"/>
            <a:ext cx="7959000" cy="46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Após a instalação, o Thonny mostrará duas áreas principais: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Editor (Cima):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Onde você escreve o script completo.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810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Shell/REPL (Baixo):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Onde você digita comandos e a placa responde na hora.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Teste rápido: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Digite no Shell: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print("Olá, Pico!")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aperte Enter. A placa deve responder o texto logo abaixo.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g392f383d0d5_0_111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92f383d0d5_0_111"/>
          <p:cNvSpPr txBox="1"/>
          <p:nvPr/>
        </p:nvSpPr>
        <p:spPr>
          <a:xfrm>
            <a:off x="2043299" y="962025"/>
            <a:ext cx="73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Ambiente de desenvolvimento (IDE)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g392f383d0d5_0_111"/>
          <p:cNvSpPr txBox="1"/>
          <p:nvPr/>
        </p:nvSpPr>
        <p:spPr>
          <a:xfrm>
            <a:off x="2043300" y="1189050"/>
            <a:ext cx="1596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Conhecendo a Interface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0" name="Google Shape;200;g392f383d0d5_0_111"/>
          <p:cNvPicPr preferRelativeResize="0"/>
          <p:nvPr/>
        </p:nvPicPr>
        <p:blipFill rotWithShape="1">
          <a:blip r:embed="rId6">
            <a:alphaModFix/>
          </a:blip>
          <a:srcRect b="0" l="0" r="0" t="9231"/>
          <a:stretch/>
        </p:blipFill>
        <p:spPr>
          <a:xfrm>
            <a:off x="1171882" y="3783736"/>
            <a:ext cx="7561101" cy="422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2f383d0d5_0_1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92f383d0d5_0_130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g392f383d0d5_0_130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8" name="Google Shape;208;g392f383d0d5_0_130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09" name="Google Shape;209;g392f383d0d5_0_130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g392f383d0d5_0_130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g392f383d0d5_0_130"/>
          <p:cNvSpPr txBox="1"/>
          <p:nvPr/>
        </p:nvSpPr>
        <p:spPr>
          <a:xfrm>
            <a:off x="1500450" y="3542150"/>
            <a:ext cx="15352500" cy="25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Ficou com alguma dúvida? pode acessar esse vídeo para ver o passo a passo que foi explicado até esse slide: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https://www.youtube.com/watch?v=qYqUJC9z2_E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g392f383d0d5_0_130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92f383d0d5_0_130"/>
          <p:cNvSpPr txBox="1"/>
          <p:nvPr/>
        </p:nvSpPr>
        <p:spPr>
          <a:xfrm>
            <a:off x="2043299" y="962025"/>
            <a:ext cx="73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Ambiente de desenvolvimento (IDE)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g392f383d0d5_0_130"/>
          <p:cNvSpPr txBox="1"/>
          <p:nvPr/>
        </p:nvSpPr>
        <p:spPr>
          <a:xfrm>
            <a:off x="2043300" y="1189050"/>
            <a:ext cx="1596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Tutorial completo (vídeo)</a:t>
            </a:r>
            <a:endParaRPr b="1" i="0" sz="60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94324d29f_0_1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494324d29f_0_182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g3494324d29f_0_182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2" name="Google Shape;222;g3494324d29f_0_182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23" name="Google Shape;223;g3494324d29f_0_182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g3494324d29f_0_182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g3494324d29f_0_182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Resumo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g3494324d29f_0_182"/>
          <p:cNvSpPr txBox="1"/>
          <p:nvPr/>
        </p:nvSpPr>
        <p:spPr>
          <a:xfrm>
            <a:off x="1685075" y="3542150"/>
            <a:ext cx="150633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 (Thonny)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Ambiente completo para editar, testar e salvar códigos.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Firmware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O "tradutor" MicroPython instalado na memória da placa.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Modo BOOTSEL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Método para colocar a placa em modo de gravação via USB.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Shell/REPL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Console de comandos imediatos para teste rápido. 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✅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Interpreter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Configuração no Thonny que diz a ele que estamos usando a Pico.</a:t>
            </a:r>
            <a:endParaRPr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g3494324d29f_0_182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494324d29f_0_182"/>
          <p:cNvSpPr txBox="1"/>
          <p:nvPr/>
        </p:nvSpPr>
        <p:spPr>
          <a:xfrm>
            <a:off x="2043299" y="962025"/>
            <a:ext cx="5937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Ambiente de desenvolvimento (IDE)</a:t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94324d29f_0_3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494324d29f_0_343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g3494324d29f_0_343"/>
          <p:cNvCxnSpPr/>
          <p:nvPr/>
        </p:nvCxnSpPr>
        <p:spPr>
          <a:xfrm flipH="1" rot="10800000">
            <a:off x="1068398" y="16195"/>
            <a:ext cx="16500" cy="21357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6" name="Google Shape;236;g3494324d29f_0_343"/>
          <p:cNvGrpSpPr/>
          <p:nvPr/>
        </p:nvGrpSpPr>
        <p:grpSpPr>
          <a:xfrm>
            <a:off x="1038175" y="2946624"/>
            <a:ext cx="16211658" cy="7299925"/>
            <a:chOff x="0" y="-38100"/>
            <a:chExt cx="4269709" cy="2000418"/>
          </a:xfrm>
        </p:grpSpPr>
        <p:sp>
          <p:nvSpPr>
            <p:cNvPr id="237" name="Google Shape;237;g3494324d29f_0_343"/>
            <p:cNvSpPr/>
            <p:nvPr/>
          </p:nvSpPr>
          <p:spPr>
            <a:xfrm>
              <a:off x="0" y="0"/>
              <a:ext cx="4269709" cy="1962318"/>
            </a:xfrm>
            <a:custGeom>
              <a:rect b="b" l="l" r="r" t="t"/>
              <a:pathLst>
                <a:path extrusionOk="0" h="1962318" w="4269709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g3494324d29f_0_343"/>
            <p:cNvSpPr txBox="1"/>
            <p:nvPr/>
          </p:nvSpPr>
          <p:spPr>
            <a:xfrm>
              <a:off x="0" y="-38100"/>
              <a:ext cx="4269600" cy="20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g3494324d29f_0_343"/>
          <p:cNvSpPr txBox="1"/>
          <p:nvPr/>
        </p:nvSpPr>
        <p:spPr>
          <a:xfrm>
            <a:off x="2043300" y="1189050"/>
            <a:ext cx="1236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E1113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i="0" sz="4100" u="none" cap="none" strike="noStrike">
              <a:solidFill>
                <a:srgbClr val="0E11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g3494324d29f_0_343"/>
          <p:cNvSpPr txBox="1"/>
          <p:nvPr/>
        </p:nvSpPr>
        <p:spPr>
          <a:xfrm>
            <a:off x="1375475" y="3389750"/>
            <a:ext cx="15445200" cy="3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SENAI.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Departamento Nacional. </a:t>
            </a: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Linguagens de Programação para Sistemas Embarcados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Rio de Janeiro, 2023.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THONNY IDE.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Documentation and Tutorials. Disponível em: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https://thonny.org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MICROPYTHON.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MicroPython documentation for RP2040. Disponível em:</a:t>
            </a:r>
            <a:r>
              <a:rPr lang="en-US" sz="24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24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https://docs.micropython.org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RASPBERRY PI FOUNDATION.</a:t>
            </a:r>
            <a:r>
              <a:rPr lang="en-US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Getting started with MicroPython on Raspberry Pi Pico. Cambridge, UK, 2022.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g3494324d29f_0_343"/>
          <p:cNvSpPr/>
          <p:nvPr/>
        </p:nvSpPr>
        <p:spPr>
          <a:xfrm>
            <a:off x="14702148" y="624310"/>
            <a:ext cx="3018346" cy="768717"/>
          </a:xfrm>
          <a:custGeom>
            <a:rect b="b" l="l" r="r" t="t"/>
            <a:pathLst>
              <a:path extrusionOk="0" h="768717" w="3018346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494324d29f_0_343"/>
          <p:cNvSpPr txBox="1"/>
          <p:nvPr/>
        </p:nvSpPr>
        <p:spPr>
          <a:xfrm>
            <a:off x="2043301" y="962025"/>
            <a:ext cx="324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D93831"/>
                </a:solidFill>
                <a:latin typeface="Poppins"/>
                <a:ea typeface="Poppins"/>
                <a:cs typeface="Poppins"/>
                <a:sym typeface="Poppins"/>
              </a:rPr>
              <a:t>AUTOMAÇÃO EM IOT</a:t>
            </a:r>
            <a:endParaRPr b="1" i="0" sz="2000" u="none" cap="none" strike="noStrike">
              <a:solidFill>
                <a:srgbClr val="D9383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6"/>
          <p:cNvCxnSpPr/>
          <p:nvPr/>
        </p:nvCxnSpPr>
        <p:spPr>
          <a:xfrm rot="10800000">
            <a:off x="9645833" y="4419143"/>
            <a:ext cx="18900" cy="2058300"/>
          </a:xfrm>
          <a:prstGeom prst="straightConnector1">
            <a:avLst/>
          </a:prstGeom>
          <a:noFill/>
          <a:ln cap="flat" cmpd="sng" w="38100">
            <a:solidFill>
              <a:srgbClr val="D938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6"/>
          <p:cNvSpPr txBox="1"/>
          <p:nvPr/>
        </p:nvSpPr>
        <p:spPr>
          <a:xfrm>
            <a:off x="10341007" y="4336637"/>
            <a:ext cx="2440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Telefone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" name="Google Shape;250;p16"/>
          <p:cNvGrpSpPr/>
          <p:nvPr/>
        </p:nvGrpSpPr>
        <p:grpSpPr>
          <a:xfrm>
            <a:off x="10340993" y="2885700"/>
            <a:ext cx="5951925" cy="1458644"/>
            <a:chOff x="-19" y="-85717"/>
            <a:chExt cx="7935900" cy="1944859"/>
          </a:xfrm>
        </p:grpSpPr>
        <p:sp>
          <p:nvSpPr>
            <p:cNvPr id="251" name="Google Shape;251;p16"/>
            <p:cNvSpPr txBox="1"/>
            <p:nvPr/>
          </p:nvSpPr>
          <p:spPr>
            <a:xfrm>
              <a:off x="0" y="677142"/>
              <a:ext cx="3902700" cy="11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16"/>
            <p:cNvSpPr txBox="1"/>
            <p:nvPr/>
          </p:nvSpPr>
          <p:spPr>
            <a:xfrm>
              <a:off x="-19" y="-85717"/>
              <a:ext cx="79359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D93831"/>
                  </a:solidFill>
                  <a:latin typeface="Poppins"/>
                  <a:ea typeface="Poppins"/>
                  <a:cs typeface="Poppins"/>
                  <a:sym typeface="Poppins"/>
                </a:rPr>
                <a:t>ESCOLA SENAI ÍTALO BOLOGNA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" name="Google Shape;253;p16"/>
          <p:cNvGrpSpPr/>
          <p:nvPr/>
        </p:nvGrpSpPr>
        <p:grpSpPr>
          <a:xfrm>
            <a:off x="10340999" y="5663950"/>
            <a:ext cx="2283308" cy="846825"/>
            <a:chOff x="-11" y="-66670"/>
            <a:chExt cx="3044411" cy="1129101"/>
          </a:xfrm>
        </p:grpSpPr>
        <p:sp>
          <p:nvSpPr>
            <p:cNvPr id="254" name="Google Shape;254;p16"/>
            <p:cNvSpPr txBox="1"/>
            <p:nvPr/>
          </p:nvSpPr>
          <p:spPr>
            <a:xfrm>
              <a:off x="-11" y="-66670"/>
              <a:ext cx="2667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Instagram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6"/>
            <p:cNvSpPr txBox="1"/>
            <p:nvPr/>
          </p:nvSpPr>
          <p:spPr>
            <a:xfrm>
              <a:off x="0" y="569831"/>
              <a:ext cx="3044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" name="Google Shape;256;p16"/>
          <p:cNvGrpSpPr/>
          <p:nvPr/>
        </p:nvGrpSpPr>
        <p:grpSpPr>
          <a:xfrm>
            <a:off x="10340997" y="7046976"/>
            <a:ext cx="5697225" cy="804499"/>
            <a:chOff x="-13" y="-66675"/>
            <a:chExt cx="7596300" cy="1072665"/>
          </a:xfrm>
        </p:grpSpPr>
        <p:sp>
          <p:nvSpPr>
            <p:cNvPr id="257" name="Google Shape;257;p16"/>
            <p:cNvSpPr txBox="1"/>
            <p:nvPr/>
          </p:nvSpPr>
          <p:spPr>
            <a:xfrm>
              <a:off x="0" y="-66675"/>
              <a:ext cx="1655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6"/>
            <p:cNvSpPr txBox="1"/>
            <p:nvPr/>
          </p:nvSpPr>
          <p:spPr>
            <a:xfrm>
              <a:off x="-13" y="513390"/>
              <a:ext cx="7596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p16"/>
          <p:cNvGrpSpPr/>
          <p:nvPr/>
        </p:nvGrpSpPr>
        <p:grpSpPr>
          <a:xfrm>
            <a:off x="13422228" y="5663946"/>
            <a:ext cx="2133000" cy="845495"/>
            <a:chOff x="0" y="-66675"/>
            <a:chExt cx="2844000" cy="1127326"/>
          </a:xfrm>
        </p:grpSpPr>
        <p:sp>
          <p:nvSpPr>
            <p:cNvPr id="260" name="Google Shape;260;p16"/>
            <p:cNvSpPr txBox="1"/>
            <p:nvPr/>
          </p:nvSpPr>
          <p:spPr>
            <a:xfrm>
              <a:off x="0" y="-66675"/>
              <a:ext cx="2039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Facebok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6"/>
            <p:cNvSpPr txBox="1"/>
            <p:nvPr/>
          </p:nvSpPr>
          <p:spPr>
            <a:xfrm>
              <a:off x="0" y="568051"/>
              <a:ext cx="2844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/senaisp.itu</a:t>
              </a:r>
              <a:endParaRPr b="0" i="0" sz="2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62" name="Google Shape;262;p16"/>
          <p:cNvSpPr/>
          <p:nvPr/>
        </p:nvSpPr>
        <p:spPr>
          <a:xfrm>
            <a:off x="14706022" y="599788"/>
            <a:ext cx="3200983" cy="833009"/>
          </a:xfrm>
          <a:custGeom>
            <a:rect b="b" l="l" r="r" t="t"/>
            <a:pathLst>
              <a:path extrusionOk="0" h="1015865" w="3988764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" name="Google Shape;263;p16"/>
          <p:cNvGrpSpPr/>
          <p:nvPr/>
        </p:nvGrpSpPr>
        <p:grpSpPr>
          <a:xfrm>
            <a:off x="1534959" y="2851188"/>
            <a:ext cx="7762810" cy="5194221"/>
            <a:chOff x="1648350" y="1982600"/>
            <a:chExt cx="6664501" cy="4459324"/>
          </a:xfrm>
        </p:grpSpPr>
        <p:pic>
          <p:nvPicPr>
            <p:cNvPr id="264" name="Google Shape;264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8350" y="1982600"/>
              <a:ext cx="6664501" cy="4459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16"/>
            <p:cNvSpPr/>
            <p:nvPr/>
          </p:nvSpPr>
          <p:spPr>
            <a:xfrm>
              <a:off x="1648350" y="1982603"/>
              <a:ext cx="6664500" cy="445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5400">
              <a:solidFill>
                <a:srgbClr val="2136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FOTO DA ESCOLA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